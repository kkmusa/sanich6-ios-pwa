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Вступление: я представляю работающий инструмент, созданный вокруг реальных задач оператора нефтедобычи. Предлагается пилот, а не уже утверждённое корпоративное внедрение. Имя, должность и номер цеха автора уточняются. Ориентир выступления: 10–12 минут, приложения — для вопросов.</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Основной акцент — поддержка правильных действий. Приложение не управляет станцией, не измеряет реальные параметры автоматически и не ставит программные блокировки на СУ. Снижение риска — гипотеза пилота, а не измеренный результат.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 — ориентировочная аудитория, а не число уже внедрённых пользователей и не число одновременно активных операторов. Начинать предлагается с небольшой согласованной группы; размер пилота определяется руководством.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Пример автора: слишком быстрый разгон может сопровождаться ростом количества взвешенных частиц и износом рабочих органов УЭЦН. Применимость причинной цепочки к конкретным скважинам и оборудованию подтверждает технологическая служба. Приложение рассчитывает темп и длительность по введённым параметрам, помогает пройти инструкцию. Уставки не назначает и отказ гарантированно не предотвращает.</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Пример автора: неверная последовательность действий при настройке РИЧ может привести к переходу в УПР, остановке, сливу столба жидкости НКТ и времени на повторный вывод в нужный режим. Не каждый УПР означает один и тот же слив: последствия зависят от оборудования и режима. Сценарий требует технической проверки. Заявлять измеренную экономию добычи пока нельзя.</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 рабочему сценарию автора контроль притока нужен ежедневно при выводе на режим; обязательную периодичность и критерии сверить с конкретными пунктами действующих документов. Охлаждение ПЭД зависит не только от одной расчётной величины. Формула Qфакт = Qном × (Iраб/Iном)^2 перенесена из Android. Не обещать, что один калькулятор гарантирует отсутствие отказа. На скриншоте — пример интерфейса, не техническое назначение для реальной скважины.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 распространять 7–9 замеров на каждого из 250 пользователей ежедневно. Это рабочий сценарий активного дня. Для демонстрации: 100 литров за 60 секунд = 144 м³/сут, математический пример. Измерение объёма выполняет оператор; приложение не получает показания расходомера автоматически.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Показать переключение между разделами и возврат к секундомеру. Состояние таймера сохраняется, при повторном открытии учитывается прошедшее время. На iPhone нет произвольного окна поверх других приложений; мини-панель находится внутри PWA. История локальная, не является общим корпоративным журналом.</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Показать быстрый поиск и открытие закладки. Для офлайна предварительно загрузить документ при наличии интернета. Браузер может очистить данные при нехватке памяти или ручной очистке. Поиск помогает найти материал, но не заменяет проверку его актуальности. Не смешивать 207 страниц ВНР с отдельными пятью томами инструкций ПБиОТ.</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Отпайка ТМПН связана с выбором выходного напряжения трансформатора. Расчёт учитывает напряжение и ток двигателя, длину и сечение кабеля, материал и температуру; для соответствующего варианта — частоты и фильтр. Цель — уменьшить риск арифметических пропусков и показать зависимость результата от исходных параметров. Результат проверяют по документации, допустимым режимам и полномочиям персонала. Приложение не является разрешением на переключение.</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Объяснить пользу для наставничества: можно показать конкретный сценарий и вместе разобрать исходные данные. Содержание помощника ещё требует производственной проверки, в исходных материалах встречаются авторские пометки о черновых разделах. Приложение не заменяет обучение, проверку знаний и утверждённые инструкции.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дать обзор, не читать каждую формулу. Дополнительно имеются потенциал скважины и коэффициент двигателя 2А. Электронный уровень исключён из PWA по согласованному решению и не выдаётся за готовую функцию.</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новых PDF изучены как дополнительные учебные материалы. «Подбор УЭЦН к скважине», PDF стр. 3 и 5: сбор и анализ истории, проверка исходных данных и сопоставление фактических параметров с расчётными. «Качество данных», PDF стр. 15–17: ошибки исходных данных и сопоставления оборудования; стр. 39 — проверка частоты и рабочего тока. Это обоснование важности исходных данных, а не доказательство снижения отказов приложением. Саныч-6 не выполняет все проверки ИС Мехфонд и не исправляет данные корпоративных систем автоматически. Учебные материалы 2021/2022 годов не объявляются действующей нормативной базой без сверки.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Пользователь назвал: ИНСТРУКЦИИ ПО ПРОМЫШЛЕННОЙ БЕЗОПАСНОСТИ И ОХРАНЕ ТРУДА ДЛЯ РАБОТНИКОВ СТРУКТУРНЫХ ПОДРАЗДЕЛЕНИЙ ООО «РН-ЮГАНСКНЕФТЕГАЗ». Это инструкции ПБиОТ; не переименовывать их в единую технологическую инструкцию. Наличие в приложении полного текста всех пяти томов сейчас не подтверждено. Составить реестр: том, редакция, раздел, функция приложения, ответственное лицо.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Материальная база: смартфоны Android/iPhone, браузер, сеть для первой загрузки и обновлений, согласованное размещение. Сейчас PWA собирается GitHub Actions и публикуется через Pages; это не означает одобренную корпоративную инфраструктуру. 479 наборов относятся к исходным Kotlin-калькуляторам; остальные формулы проверяются отдельными примерами. Это не сертификация. Реальный iPhone/Safari и APK требуют дополнительных проверок. Автор сообщил: на производство программы потрачено три месяца, прямых денежных затрат кроме времени почти нет. Это длительность разработки, а не подтверждённая трудоёмкость в человеко-месяцах. Нет суммы расходов, поэтому не называть стоимость нулевой. Исторический труд, денежные расходы прошлого и будущие затраты официального внедрения учитываются отдельно.</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Высвобождённое время не равно снижению фонда оплаты труда. Ошибки не обязательно приводят к отказам; снижение их частоты ещё не даёт готовой оценки предотвращённых ремонтов. При оценке события нужно учитывать только ту часть эффекта, которую можно обоснованно связать с приложением, и исключать двойной счёт.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пороговый расчёт, не прогноз предотвращённых отказов. Событие включает согласованные прямые расходы и согласованную оценку недополученной добычи за время простоя, если она не компенсируется позже. Недополученная добыча = дебит × часы простоя / 24. Стоимость единицы определяет экономическая служба; не брать произвольную цену нефти. Частота событий, снижение риска и стоимость ремонта пока не заданы.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Предложение: ориентировочно четыре недели, срок и группа согласуются. Для редких тяжёлых отказов четырёх недель может быть недостаточно, поэтому нельзя по короткому пилоту доказать снижение аварийности. Основные ранние метрики: выполнение контрольных сценариев без отклонений, время на сопоставимых задачах, успешность офлайна и обращения за помощью. Редкие события оценивать отдельно на более длинной истории.</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Завершение: прошу согласовать ограниченный пилот, назначить ответственных и предоставить исходные данные для проверки экономики. Финансирование и масштабирование обсуждаются по результатам. Оставить время для вопросов. После этого — резервные слайды, их не нужно читать подряд.</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Формулы приводятся как сведения о реализации, не как универсальная технология. Пример дебита: 100 л / 60 с → 144 м³/сут. Проверить единицы, допустимость исходных данных и область применения. В исходном коде уровня плотность интерфейса г/см³ преобразуется для математической функции.</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 суммировать две оценки одного и того же ущерба. В модели есть доля некомпенсируемой добычи и доля вклада приложения. Проценты снижения риска не заданы; их нельзя назначить только из впечатления от презентации. Частота 7–9 замеров относится к отдельному активному дню. Подробные формулы, единицы и ограничения — в Excel и паспорте проекта.</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Название инструкций получено от автора. Не утверждать, что все пять томов полностью загружены или целиком перенесены. Для каждого используемого раздела нужна действующая редакция и согласование применимости. При изменении документов назначить владельца актуализации.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Подбор УЭЦН к скважине: разработчик указан как ОМД УД ООО РН-ЦЭПиТР, Тюмень. На PDF стр. 3 изложено применение специализированного ПО RosPump в ИС Мехфонд. Алгоритм RosPump: титул 1.2.2021, пример замены ГНО без ГТМ на неосложнённом фонде; его уставки и параметры не переносятся как универсальные. Качество данных: ООО РН-ЦЭПиТР, май 2022. Видеофайлы не были доступны для чтения; не приписывать им выводы.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Android APK не собран из-за отсутствующего Gradle wrapper и проблем структуры исходных файлов сборки. Электронный уровень не входит в PWA. Офлайн требует предварительной загрузки; данные могут удаляться браузером. Не выдавать приложение за сертифицированную систему промышленной безопасности.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01 / 24</a:t>
            </a:r>
          </a:p>
        </p:txBody>
      </p:sp>
      <p:sp>
        <p:nvSpPr>
          <p:cNvPr id="5" name="Rectangle 4"/>
          <p:cNvSpPr/>
          <p:nvPr/>
        </p:nvSpPr>
        <p:spPr>
          <a:xfrm>
            <a:off x="0" y="6821424"/>
            <a:ext cx="507987"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1234440"/>
            <a:ext cx="7589520" cy="2468880"/>
          </a:xfrm>
          <a:prstGeom prst="rect">
            <a:avLst/>
          </a:prstGeom>
          <a:noFill/>
        </p:spPr>
        <p:txBody>
          <a:bodyPr wrap="square" lIns="0" rIns="0" tIns="0" bIns="0">
            <a:spAutoFit/>
          </a:bodyPr>
          <a:lstStyle/>
          <a:p>
            <a:pPr>
              <a:spcAft>
                <a:spcPts val="400"/>
              </a:spcAft>
              <a:defRPr sz="4700" b="1">
                <a:solidFill>
                  <a:srgbClr val="F4F6FA"/>
                </a:solidFill>
                <a:latin typeface="Arial"/>
              </a:defRPr>
            </a:pPr>
            <a:r>
              <a:t>Саныч-6.</a:t>
            </a:r>
          </a:p>
          <a:p>
            <a:pPr>
              <a:spcAft>
                <a:spcPts val="400"/>
              </a:spcAft>
              <a:defRPr sz="4700" b="1">
                <a:solidFill>
                  <a:srgbClr val="F4F6FA"/>
                </a:solidFill>
                <a:latin typeface="Arial"/>
              </a:defRPr>
            </a:pPr>
            <a:r>
              <a:t>Опора оператора</a:t>
            </a:r>
          </a:p>
          <a:p>
            <a:pPr>
              <a:spcAft>
                <a:spcPts val="400"/>
              </a:spcAft>
              <a:defRPr sz="4700" b="1">
                <a:solidFill>
                  <a:srgbClr val="F4F6FA"/>
                </a:solidFill>
                <a:latin typeface="Arial"/>
              </a:defRPr>
            </a:pPr>
            <a:r>
              <a:t>в каждом действии.</a:t>
            </a:r>
          </a:p>
        </p:txBody>
      </p:sp>
      <p:sp>
        <p:nvSpPr>
          <p:cNvPr id="7" name="TextBox 6"/>
          <p:cNvSpPr txBox="1"/>
          <p:nvPr/>
        </p:nvSpPr>
        <p:spPr>
          <a:xfrm>
            <a:off x="640080" y="4206240"/>
            <a:ext cx="7406640" cy="1005840"/>
          </a:xfrm>
          <a:prstGeom prst="rect">
            <a:avLst/>
          </a:prstGeom>
          <a:noFill/>
        </p:spPr>
        <p:txBody>
          <a:bodyPr wrap="square" lIns="0" rIns="0" tIns="0" bIns="0">
            <a:spAutoFit/>
          </a:bodyPr>
          <a:lstStyle/>
          <a:p>
            <a:pPr>
              <a:spcAft>
                <a:spcPts val="400"/>
              </a:spcAft>
              <a:defRPr sz="2200" b="0">
                <a:solidFill>
                  <a:srgbClr val="A9B3C5"/>
                </a:solidFill>
                <a:latin typeface="Arial"/>
              </a:defRPr>
            </a:pPr>
            <a:r>
              <a:t>Проект внедрения цифрового помощника</a:t>
            </a:r>
          </a:p>
          <a:p>
            <a:pPr>
              <a:spcAft>
                <a:spcPts val="400"/>
              </a:spcAft>
              <a:defRPr sz="2200" b="0">
                <a:solidFill>
                  <a:srgbClr val="A9B3C5"/>
                </a:solidFill>
                <a:latin typeface="Arial"/>
              </a:defRPr>
            </a:pPr>
            <a:r>
              <a:t>ООО «РН-Юганскнефтегаз»</a:t>
            </a:r>
          </a:p>
        </p:txBody>
      </p:sp>
      <p:sp>
        <p:nvSpPr>
          <p:cNvPr id="8" name="TextBox 7"/>
          <p:cNvSpPr txBox="1"/>
          <p:nvPr/>
        </p:nvSpPr>
        <p:spPr>
          <a:xfrm>
            <a:off x="640080" y="5669280"/>
            <a:ext cx="7315200" cy="365760"/>
          </a:xfrm>
          <a:prstGeom prst="rect">
            <a:avLst/>
          </a:prstGeom>
          <a:noFill/>
        </p:spPr>
        <p:txBody>
          <a:bodyPr wrap="square" lIns="0" rIns="0" tIns="0" bIns="0">
            <a:spAutoFit/>
          </a:bodyPr>
          <a:lstStyle/>
          <a:p>
            <a:pPr>
              <a:spcAft>
                <a:spcPts val="400"/>
              </a:spcAft>
              <a:defRPr sz="1300" b="1">
                <a:solidFill>
                  <a:srgbClr val="FFD052"/>
                </a:solidFill>
                <a:latin typeface="Arial"/>
              </a:defRPr>
            </a:pPr>
            <a:r>
              <a:t>РАБОЧАЯ ВЕРСИЯ 3.0.0  /  ANDROID + IPHONE</a:t>
            </a:r>
          </a:p>
        </p:txBody>
      </p:sp>
      <p:sp>
        <p:nvSpPr>
          <p:cNvPr id="9"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eroPhone" descr="home.png"/>
          <p:cNvPicPr>
            <a:picLocks noChangeAspect="1"/>
          </p:cNvPicPr>
          <p:nvPr/>
        </p:nvPicPr>
        <p:blipFill>
          <a:blip r:embed="rId2"/>
          <a:srcRect b="1702"/>
          <a:stretch>
            <a:fillRect/>
          </a:stretch>
        </p:blipFill>
        <p:spPr>
          <a:xfrm>
            <a:off x="8869680" y="822960"/>
            <a:ext cx="2514600" cy="5349240"/>
          </a:xfrm>
          <a:prstGeom prst="rect">
            <a:avLst/>
          </a:prstGeom>
        </p:spPr>
      </p:pic>
      <p:sp>
        <p:nvSpPr>
          <p:cNvPr id="11" name="Rounded Rectangle 10"/>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02 / 24</a:t>
            </a:r>
          </a:p>
        </p:txBody>
      </p:sp>
      <p:sp>
        <p:nvSpPr>
          <p:cNvPr id="5" name="Rectangle 4"/>
          <p:cNvSpPr/>
          <p:nvPr/>
        </p:nvSpPr>
        <p:spPr>
          <a:xfrm>
            <a:off x="0" y="6821424"/>
            <a:ext cx="1015974"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Правильный расчёт.</a:t>
            </a:r>
          </a:p>
          <a:p>
            <a:pPr>
              <a:spcAft>
                <a:spcPts val="400"/>
              </a:spcAft>
              <a:defRPr sz="4400" b="1">
                <a:solidFill>
                  <a:srgbClr val="F4F6FA"/>
                </a:solidFill>
                <a:latin typeface="Arial"/>
              </a:defRPr>
            </a:pPr>
            <a:r>
              <a:t>Правильная последовательность.</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Расчёты, настройка станции и доступ к инструкции связаны с производственными рисками.</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Разгон: выдержать заданный технологом темп</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РИЧ: пройти нужные пункты меню выбранной станции</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Охлаждение ПЭД: сопоставить исходные данные</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Замер: сохранить время и результат</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Рабочие сценарии автора проекта; подтверждение технологической службой — этап пилота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03 / 24</a:t>
            </a:r>
          </a:p>
        </p:txBody>
      </p:sp>
      <p:sp>
        <p:nvSpPr>
          <p:cNvPr id="5" name="Rectangle 4"/>
          <p:cNvSpPr/>
          <p:nvPr/>
        </p:nvSpPr>
        <p:spPr>
          <a:xfrm>
            <a:off x="0" y="6821424"/>
            <a:ext cx="1523961"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7498079" cy="1920240"/>
          </a:xfrm>
          <a:prstGeom prst="rect">
            <a:avLst/>
          </a:prstGeom>
          <a:noFill/>
        </p:spPr>
        <p:txBody>
          <a:bodyPr wrap="square" lIns="0" rIns="0" tIns="0" bIns="0">
            <a:spAutoFit/>
          </a:bodyPr>
          <a:lstStyle/>
          <a:p>
            <a:pPr>
              <a:spcAft>
                <a:spcPts val="400"/>
              </a:spcAft>
              <a:defRPr sz="12800" b="1">
                <a:solidFill>
                  <a:srgbClr val="FFD052"/>
                </a:solidFill>
                <a:latin typeface="Arial"/>
              </a:defRPr>
            </a:pPr>
            <a:r>
              <a:t>≈250</a:t>
            </a:r>
          </a:p>
        </p:txBody>
      </p:sp>
      <p:sp>
        <p:nvSpPr>
          <p:cNvPr id="7" name="TextBox 6"/>
          <p:cNvSpPr txBox="1"/>
          <p:nvPr/>
        </p:nvSpPr>
        <p:spPr>
          <a:xfrm>
            <a:off x="640080" y="2971800"/>
            <a:ext cx="10698480" cy="822960"/>
          </a:xfrm>
          <a:prstGeom prst="rect">
            <a:avLst/>
          </a:prstGeom>
          <a:noFill/>
        </p:spPr>
        <p:txBody>
          <a:bodyPr wrap="square" lIns="0" rIns="0" tIns="0" bIns="0">
            <a:spAutoFit/>
          </a:bodyPr>
          <a:lstStyle/>
          <a:p>
            <a:pPr>
              <a:spcAft>
                <a:spcPts val="400"/>
              </a:spcAft>
              <a:defRPr sz="2700" b="0">
                <a:solidFill>
                  <a:srgbClr val="F4F6FA"/>
                </a:solidFill>
                <a:latin typeface="Arial"/>
              </a:defRPr>
            </a:pPr>
            <a:r>
              <a:t>Потенциальных пользователей — по оценке автора проекта.</a:t>
            </a:r>
          </a:p>
        </p:txBody>
      </p:sp>
      <p:sp>
        <p:nvSpPr>
          <p:cNvPr id="8" name="Rounded Rectangle 7"/>
          <p:cNvSpPr/>
          <p:nvPr/>
        </p:nvSpPr>
        <p:spPr>
          <a:xfrm>
            <a:off x="640080" y="4251960"/>
            <a:ext cx="3474720" cy="15087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4416552"/>
            <a:ext cx="3072384"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01</a:t>
            </a:r>
          </a:p>
        </p:txBody>
      </p:sp>
      <p:sp>
        <p:nvSpPr>
          <p:cNvPr id="10" name="TextBox 9"/>
          <p:cNvSpPr txBox="1"/>
          <p:nvPr/>
        </p:nvSpPr>
        <p:spPr>
          <a:xfrm>
            <a:off x="841247" y="4800600"/>
            <a:ext cx="3072384" cy="886967"/>
          </a:xfrm>
          <a:prstGeom prst="rect">
            <a:avLst/>
          </a:prstGeom>
          <a:noFill/>
        </p:spPr>
        <p:txBody>
          <a:bodyPr wrap="square" lIns="0" rIns="0" tIns="0" bIns="0">
            <a:spAutoFit/>
          </a:bodyPr>
          <a:lstStyle/>
          <a:p>
            <a:pPr>
              <a:spcAft>
                <a:spcPts val="400"/>
              </a:spcAft>
              <a:defRPr sz="2300" b="0">
                <a:solidFill>
                  <a:srgbClr val="F4F6FA"/>
                </a:solidFill>
                <a:latin typeface="Arial"/>
              </a:defRPr>
            </a:pPr>
            <a:r>
              <a:t>Общий рабочий инструмент</a:t>
            </a:r>
          </a:p>
        </p:txBody>
      </p:sp>
      <p:sp>
        <p:nvSpPr>
          <p:cNvPr id="11" name="Rounded Rectangle 10"/>
          <p:cNvSpPr/>
          <p:nvPr/>
        </p:nvSpPr>
        <p:spPr>
          <a:xfrm>
            <a:off x="4297680" y="4251960"/>
            <a:ext cx="3474720" cy="15087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4416552"/>
            <a:ext cx="3072384"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02</a:t>
            </a:r>
          </a:p>
        </p:txBody>
      </p:sp>
      <p:sp>
        <p:nvSpPr>
          <p:cNvPr id="13" name="TextBox 12"/>
          <p:cNvSpPr txBox="1"/>
          <p:nvPr/>
        </p:nvSpPr>
        <p:spPr>
          <a:xfrm>
            <a:off x="4498848" y="4800600"/>
            <a:ext cx="3072384" cy="886967"/>
          </a:xfrm>
          <a:prstGeom prst="rect">
            <a:avLst/>
          </a:prstGeom>
          <a:noFill/>
        </p:spPr>
        <p:txBody>
          <a:bodyPr wrap="square" lIns="0" rIns="0" tIns="0" bIns="0">
            <a:spAutoFit/>
          </a:bodyPr>
          <a:lstStyle/>
          <a:p>
            <a:pPr>
              <a:spcAft>
                <a:spcPts val="400"/>
              </a:spcAft>
              <a:defRPr sz="2300" b="0">
                <a:solidFill>
                  <a:srgbClr val="F4F6FA"/>
                </a:solidFill>
                <a:latin typeface="Arial"/>
              </a:defRPr>
            </a:pPr>
            <a:r>
              <a:t>Поддержка разных уровней опыта</a:t>
            </a:r>
          </a:p>
        </p:txBody>
      </p:sp>
      <p:sp>
        <p:nvSpPr>
          <p:cNvPr id="14" name="Rounded Rectangle 13"/>
          <p:cNvSpPr/>
          <p:nvPr/>
        </p:nvSpPr>
        <p:spPr>
          <a:xfrm>
            <a:off x="7955279" y="4251960"/>
            <a:ext cx="3474720" cy="15087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4416552"/>
            <a:ext cx="3072384"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03</a:t>
            </a:r>
          </a:p>
        </p:txBody>
      </p:sp>
      <p:sp>
        <p:nvSpPr>
          <p:cNvPr id="16" name="TextBox 15"/>
          <p:cNvSpPr txBox="1"/>
          <p:nvPr/>
        </p:nvSpPr>
        <p:spPr>
          <a:xfrm>
            <a:off x="8156448" y="4800600"/>
            <a:ext cx="3072384" cy="886967"/>
          </a:xfrm>
          <a:prstGeom prst="rect">
            <a:avLst/>
          </a:prstGeom>
          <a:noFill/>
        </p:spPr>
        <p:txBody>
          <a:bodyPr wrap="square" lIns="0" rIns="0" tIns="0" bIns="0">
            <a:spAutoFit/>
          </a:bodyPr>
          <a:lstStyle/>
          <a:p>
            <a:pPr>
              <a:spcAft>
                <a:spcPts val="400"/>
              </a:spcAft>
              <a:defRPr sz="2300" b="0">
                <a:solidFill>
                  <a:srgbClr val="F4F6FA"/>
                </a:solidFill>
                <a:latin typeface="Arial"/>
              </a:defRPr>
            </a:pPr>
            <a:r>
              <a:t>Пилот перед масштабированием</a:t>
            </a:r>
          </a:p>
        </p:txBody>
      </p:sp>
      <p:sp>
        <p:nvSpPr>
          <p:cNvPr id="17" name="TextBox 16"/>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Оценка автора; охват уточнить по фактическому составу персонала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04 / 24</a:t>
            </a:r>
          </a:p>
        </p:txBody>
      </p:sp>
      <p:sp>
        <p:nvSpPr>
          <p:cNvPr id="5" name="Rectangle 4"/>
          <p:cNvSpPr/>
          <p:nvPr/>
        </p:nvSpPr>
        <p:spPr>
          <a:xfrm>
            <a:off x="0" y="6821424"/>
            <a:ext cx="2031949"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7680960" cy="1508760"/>
          </a:xfrm>
          <a:prstGeom prst="rect">
            <a:avLst/>
          </a:prstGeom>
          <a:noFill/>
        </p:spPr>
        <p:txBody>
          <a:bodyPr wrap="square" lIns="0" rIns="0" tIns="0" bIns="0">
            <a:spAutoFit/>
          </a:bodyPr>
          <a:lstStyle/>
          <a:p>
            <a:pPr>
              <a:spcAft>
                <a:spcPts val="400"/>
              </a:spcAft>
              <a:defRPr sz="4200" b="1">
                <a:solidFill>
                  <a:srgbClr val="F4F6FA"/>
                </a:solidFill>
                <a:latin typeface="Arial"/>
              </a:defRPr>
            </a:pPr>
            <a:r>
              <a:t>Разгон:</a:t>
            </a:r>
          </a:p>
          <a:p>
            <a:pPr>
              <a:spcAft>
                <a:spcPts val="400"/>
              </a:spcAft>
              <a:defRPr sz="4200" b="1">
                <a:solidFill>
                  <a:srgbClr val="F4F6FA"/>
                </a:solidFill>
                <a:latin typeface="Arial"/>
              </a:defRPr>
            </a:pPr>
            <a:r>
              <a:t>важен заданный темп.</a:t>
            </a:r>
          </a:p>
        </p:txBody>
      </p:sp>
      <p:sp>
        <p:nvSpPr>
          <p:cNvPr id="7" name="TextBox 6"/>
          <p:cNvSpPr txBox="1"/>
          <p:nvPr/>
        </p:nvSpPr>
        <p:spPr>
          <a:xfrm>
            <a:off x="621792" y="2697480"/>
            <a:ext cx="7406640" cy="914400"/>
          </a:xfrm>
          <a:prstGeom prst="rect">
            <a:avLst/>
          </a:prstGeom>
          <a:noFill/>
        </p:spPr>
        <p:txBody>
          <a:bodyPr wrap="square" lIns="0" rIns="0" tIns="0" bIns="0">
            <a:spAutoFit/>
          </a:bodyPr>
          <a:lstStyle/>
          <a:p>
            <a:pPr>
              <a:spcAft>
                <a:spcPts val="400"/>
              </a:spcAft>
              <a:defRPr sz="2200" b="0">
                <a:solidFill>
                  <a:srgbClr val="A9B3C5"/>
                </a:solidFill>
                <a:latin typeface="Arial"/>
              </a:defRPr>
            </a:pPr>
            <a:r>
              <a:t>Параметры и пошаговая инструкция привязаны к выбранной станции.</a:t>
            </a:r>
          </a:p>
        </p:txBody>
      </p:sp>
      <p:sp>
        <p:nvSpPr>
          <p:cNvPr id="8"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Phone" descr="ramp.png"/>
          <p:cNvPicPr>
            <a:picLocks noChangeAspect="1"/>
          </p:cNvPicPr>
          <p:nvPr/>
        </p:nvPicPr>
        <p:blipFill>
          <a:blip r:embed="rId2"/>
          <a:srcRect b="1702"/>
          <a:stretch>
            <a:fillRect/>
          </a:stretch>
        </p:blipFill>
        <p:spPr>
          <a:xfrm>
            <a:off x="8869680" y="822960"/>
            <a:ext cx="2514600" cy="5349240"/>
          </a:xfrm>
          <a:prstGeom prst="rect">
            <a:avLst/>
          </a:prstGeom>
        </p:spPr>
      </p:pic>
      <p:sp>
        <p:nvSpPr>
          <p:cNvPr id="10" name="Rounded Rectangle 9"/>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3776472"/>
            <a:ext cx="7223760" cy="521207"/>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867912"/>
            <a:ext cx="6766560" cy="365760"/>
          </a:xfrm>
          <a:prstGeom prst="rect">
            <a:avLst/>
          </a:prstGeom>
          <a:noFill/>
        </p:spPr>
        <p:txBody>
          <a:bodyPr wrap="square" lIns="0" rIns="0" tIns="0" bIns="0">
            <a:spAutoFit/>
          </a:bodyPr>
          <a:lstStyle/>
          <a:p>
            <a:pPr>
              <a:spcAft>
                <a:spcPts val="400"/>
              </a:spcAft>
              <a:defRPr sz="1900" b="0">
                <a:solidFill>
                  <a:srgbClr val="F4F6FA"/>
                </a:solidFill>
                <a:latin typeface="Arial"/>
              </a:defRPr>
            </a:pPr>
            <a:r>
              <a:t>1.  Ошибка в темпе разгона</a:t>
            </a:r>
          </a:p>
        </p:txBody>
      </p:sp>
      <p:sp>
        <p:nvSpPr>
          <p:cNvPr id="13" name="Rounded Rectangle 12"/>
          <p:cNvSpPr/>
          <p:nvPr/>
        </p:nvSpPr>
        <p:spPr>
          <a:xfrm>
            <a:off x="658368" y="4407408"/>
            <a:ext cx="7223760" cy="521207"/>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98848"/>
            <a:ext cx="6766560" cy="365760"/>
          </a:xfrm>
          <a:prstGeom prst="rect">
            <a:avLst/>
          </a:prstGeom>
          <a:noFill/>
        </p:spPr>
        <p:txBody>
          <a:bodyPr wrap="square" lIns="0" rIns="0" tIns="0" bIns="0">
            <a:spAutoFit/>
          </a:bodyPr>
          <a:lstStyle/>
          <a:p>
            <a:pPr>
              <a:spcAft>
                <a:spcPts val="400"/>
              </a:spcAft>
              <a:defRPr sz="1900" b="0">
                <a:solidFill>
                  <a:srgbClr val="F4F6FA"/>
                </a:solidFill>
                <a:latin typeface="Arial"/>
              </a:defRPr>
            </a:pPr>
            <a:r>
              <a:t>2.  Риск роста КВЧ и износа рабочих органов УЭЦН</a:t>
            </a:r>
          </a:p>
        </p:txBody>
      </p:sp>
      <p:sp>
        <p:nvSpPr>
          <p:cNvPr id="15" name="Rounded Rectangle 14"/>
          <p:cNvSpPr/>
          <p:nvPr/>
        </p:nvSpPr>
        <p:spPr>
          <a:xfrm>
            <a:off x="658368" y="5038344"/>
            <a:ext cx="7223760" cy="521207"/>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129784"/>
            <a:ext cx="6766560" cy="365760"/>
          </a:xfrm>
          <a:prstGeom prst="rect">
            <a:avLst/>
          </a:prstGeom>
          <a:noFill/>
        </p:spPr>
        <p:txBody>
          <a:bodyPr wrap="square" lIns="0" rIns="0" tIns="0" bIns="0">
            <a:spAutoFit/>
          </a:bodyPr>
          <a:lstStyle/>
          <a:p>
            <a:pPr>
              <a:spcAft>
                <a:spcPts val="400"/>
              </a:spcAft>
              <a:defRPr sz="1900" b="0">
                <a:solidFill>
                  <a:srgbClr val="FFD052"/>
                </a:solidFill>
                <a:latin typeface="Arial"/>
              </a:defRPr>
            </a:pPr>
            <a:r>
              <a:t>3.  Сверка с заданием и инструкцией станции</a:t>
            </a:r>
          </a:p>
        </p:txBody>
      </p:sp>
      <p:sp>
        <p:nvSpPr>
          <p:cNvPr id="17" name="TextBox 16"/>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Сценарий автора; КВЧ — количество взвешенных частиц</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05 / 24</a:t>
            </a:r>
          </a:p>
        </p:txBody>
      </p:sp>
      <p:sp>
        <p:nvSpPr>
          <p:cNvPr id="5" name="Rectangle 4"/>
          <p:cNvSpPr/>
          <p:nvPr/>
        </p:nvSpPr>
        <p:spPr>
          <a:xfrm>
            <a:off x="0" y="6821424"/>
            <a:ext cx="2539936"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7680960" cy="1508760"/>
          </a:xfrm>
          <a:prstGeom prst="rect">
            <a:avLst/>
          </a:prstGeom>
          <a:noFill/>
        </p:spPr>
        <p:txBody>
          <a:bodyPr wrap="square" lIns="0" rIns="0" tIns="0" bIns="0">
            <a:spAutoFit/>
          </a:bodyPr>
          <a:lstStyle/>
          <a:p>
            <a:pPr>
              <a:spcAft>
                <a:spcPts val="400"/>
              </a:spcAft>
              <a:defRPr sz="4200" b="1">
                <a:solidFill>
                  <a:srgbClr val="F4F6FA"/>
                </a:solidFill>
                <a:latin typeface="Arial"/>
              </a:defRPr>
            </a:pPr>
            <a:r>
              <a:t>РИЧ:</a:t>
            </a:r>
          </a:p>
          <a:p>
            <a:pPr>
              <a:spcAft>
                <a:spcPts val="400"/>
              </a:spcAft>
              <a:defRPr sz="4200" b="1">
                <a:solidFill>
                  <a:srgbClr val="F4F6FA"/>
                </a:solidFill>
                <a:latin typeface="Arial"/>
              </a:defRPr>
            </a:pPr>
            <a:r>
              <a:t>важна последовательность.</a:t>
            </a:r>
          </a:p>
        </p:txBody>
      </p:sp>
      <p:sp>
        <p:nvSpPr>
          <p:cNvPr id="7" name="TextBox 6"/>
          <p:cNvSpPr txBox="1"/>
          <p:nvPr/>
        </p:nvSpPr>
        <p:spPr>
          <a:xfrm>
            <a:off x="621792" y="2697480"/>
            <a:ext cx="7406640" cy="914400"/>
          </a:xfrm>
          <a:prstGeom prst="rect">
            <a:avLst/>
          </a:prstGeom>
          <a:noFill/>
        </p:spPr>
        <p:txBody>
          <a:bodyPr wrap="square" lIns="0" rIns="0" tIns="0" bIns="0">
            <a:spAutoFit/>
          </a:bodyPr>
          <a:lstStyle/>
          <a:p>
            <a:pPr>
              <a:spcAft>
                <a:spcPts val="400"/>
              </a:spcAft>
              <a:defRPr sz="2200" b="0">
                <a:solidFill>
                  <a:srgbClr val="A9B3C5"/>
                </a:solidFill>
                <a:latin typeface="Arial"/>
              </a:defRPr>
            </a:pPr>
            <a:r>
              <a:t>Меню и фотографии своей станции помогают сверить порядок действий.</a:t>
            </a:r>
          </a:p>
        </p:txBody>
      </p:sp>
      <p:sp>
        <p:nvSpPr>
          <p:cNvPr id="8"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Phone" descr="rich.png"/>
          <p:cNvPicPr>
            <a:picLocks noChangeAspect="1"/>
          </p:cNvPicPr>
          <p:nvPr/>
        </p:nvPicPr>
        <p:blipFill>
          <a:blip r:embed="rId2"/>
          <a:srcRect b="1702"/>
          <a:stretch>
            <a:fillRect/>
          </a:stretch>
        </p:blipFill>
        <p:spPr>
          <a:xfrm>
            <a:off x="8869680" y="822960"/>
            <a:ext cx="2514600" cy="5349240"/>
          </a:xfrm>
          <a:prstGeom prst="rect">
            <a:avLst/>
          </a:prstGeom>
        </p:spPr>
      </p:pic>
      <p:sp>
        <p:nvSpPr>
          <p:cNvPr id="10" name="Rounded Rectangle 9"/>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3776472"/>
            <a:ext cx="7223760" cy="521207"/>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867912"/>
            <a:ext cx="6766560" cy="365760"/>
          </a:xfrm>
          <a:prstGeom prst="rect">
            <a:avLst/>
          </a:prstGeom>
          <a:noFill/>
        </p:spPr>
        <p:txBody>
          <a:bodyPr wrap="square" lIns="0" rIns="0" tIns="0" bIns="0">
            <a:spAutoFit/>
          </a:bodyPr>
          <a:lstStyle/>
          <a:p>
            <a:pPr>
              <a:spcAft>
                <a:spcPts val="400"/>
              </a:spcAft>
              <a:defRPr sz="1900" b="0">
                <a:solidFill>
                  <a:srgbClr val="F4F6FA"/>
                </a:solidFill>
                <a:latin typeface="Arial"/>
              </a:defRPr>
            </a:pPr>
            <a:r>
              <a:t>1.  Ошибка при настройке режима</a:t>
            </a:r>
          </a:p>
        </p:txBody>
      </p:sp>
      <p:sp>
        <p:nvSpPr>
          <p:cNvPr id="13" name="Rounded Rectangle 12"/>
          <p:cNvSpPr/>
          <p:nvPr/>
        </p:nvSpPr>
        <p:spPr>
          <a:xfrm>
            <a:off x="658368" y="4407408"/>
            <a:ext cx="7223760" cy="521207"/>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98848"/>
            <a:ext cx="6766560" cy="365760"/>
          </a:xfrm>
          <a:prstGeom prst="rect">
            <a:avLst/>
          </a:prstGeom>
          <a:noFill/>
        </p:spPr>
        <p:txBody>
          <a:bodyPr wrap="square" lIns="0" rIns="0" tIns="0" bIns="0">
            <a:spAutoFit/>
          </a:bodyPr>
          <a:lstStyle/>
          <a:p>
            <a:pPr>
              <a:spcAft>
                <a:spcPts val="400"/>
              </a:spcAft>
              <a:defRPr sz="1900" b="0">
                <a:solidFill>
                  <a:srgbClr val="F4F6FA"/>
                </a:solidFill>
                <a:latin typeface="Arial"/>
              </a:defRPr>
            </a:pPr>
            <a:r>
              <a:t>2.  Непреднамеренный переход в УПР</a:t>
            </a:r>
          </a:p>
        </p:txBody>
      </p:sp>
      <p:sp>
        <p:nvSpPr>
          <p:cNvPr id="15" name="Rounded Rectangle 14"/>
          <p:cNvSpPr/>
          <p:nvPr/>
        </p:nvSpPr>
        <p:spPr>
          <a:xfrm>
            <a:off x="658368" y="5038344"/>
            <a:ext cx="7223760" cy="521207"/>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129784"/>
            <a:ext cx="6766560" cy="365760"/>
          </a:xfrm>
          <a:prstGeom prst="rect">
            <a:avLst/>
          </a:prstGeom>
          <a:noFill/>
        </p:spPr>
        <p:txBody>
          <a:bodyPr wrap="square" lIns="0" rIns="0" tIns="0" bIns="0">
            <a:spAutoFit/>
          </a:bodyPr>
          <a:lstStyle/>
          <a:p>
            <a:pPr>
              <a:spcAft>
                <a:spcPts val="400"/>
              </a:spcAft>
              <a:defRPr sz="1900" b="0">
                <a:solidFill>
                  <a:srgbClr val="FFD052"/>
                </a:solidFill>
                <a:latin typeface="Arial"/>
              </a:defRPr>
            </a:pPr>
            <a:r>
              <a:t>3.  Время на восстановление нужного режима</a:t>
            </a:r>
          </a:p>
        </p:txBody>
      </p:sp>
      <p:sp>
        <p:nvSpPr>
          <p:cNvPr id="17" name="TextBox 16"/>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Сценарий автора проекта; не универсальное правило для всех станций</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06 / 24</a:t>
            </a:r>
          </a:p>
        </p:txBody>
      </p:sp>
      <p:sp>
        <p:nvSpPr>
          <p:cNvPr id="5" name="Rectangle 4"/>
          <p:cNvSpPr/>
          <p:nvPr/>
        </p:nvSpPr>
        <p:spPr>
          <a:xfrm>
            <a:off x="0" y="6821424"/>
            <a:ext cx="3047923"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7680960" cy="1508760"/>
          </a:xfrm>
          <a:prstGeom prst="rect">
            <a:avLst/>
          </a:prstGeom>
          <a:noFill/>
        </p:spPr>
        <p:txBody>
          <a:bodyPr wrap="square" lIns="0" rIns="0" tIns="0" bIns="0">
            <a:spAutoFit/>
          </a:bodyPr>
          <a:lstStyle/>
          <a:p>
            <a:pPr>
              <a:spcAft>
                <a:spcPts val="400"/>
              </a:spcAft>
              <a:defRPr sz="4200" b="1">
                <a:solidFill>
                  <a:srgbClr val="F4F6FA"/>
                </a:solidFill>
                <a:latin typeface="Arial"/>
              </a:defRPr>
            </a:pPr>
            <a:r>
              <a:t>Приток — часть</a:t>
            </a:r>
          </a:p>
          <a:p>
            <a:pPr>
              <a:spcAft>
                <a:spcPts val="400"/>
              </a:spcAft>
              <a:defRPr sz="4200" b="1">
                <a:solidFill>
                  <a:srgbClr val="F4F6FA"/>
                </a:solidFill>
                <a:latin typeface="Arial"/>
              </a:defRPr>
            </a:pPr>
            <a:r>
              <a:t>контроля охлаждения.</a:t>
            </a:r>
          </a:p>
        </p:txBody>
      </p:sp>
      <p:sp>
        <p:nvSpPr>
          <p:cNvPr id="7" name="TextBox 6"/>
          <p:cNvSpPr txBox="1"/>
          <p:nvPr/>
        </p:nvSpPr>
        <p:spPr>
          <a:xfrm>
            <a:off x="621792" y="2697480"/>
            <a:ext cx="7406640" cy="914400"/>
          </a:xfrm>
          <a:prstGeom prst="rect">
            <a:avLst/>
          </a:prstGeom>
          <a:noFill/>
        </p:spPr>
        <p:txBody>
          <a:bodyPr wrap="square" lIns="0" rIns="0" tIns="0" bIns="0">
            <a:spAutoFit/>
          </a:bodyPr>
          <a:lstStyle/>
          <a:p>
            <a:pPr>
              <a:spcAft>
                <a:spcPts val="400"/>
              </a:spcAft>
              <a:defRPr sz="2200" b="0">
                <a:solidFill>
                  <a:srgbClr val="A9B3C5"/>
                </a:solidFill>
                <a:latin typeface="Arial"/>
              </a:defRPr>
            </a:pPr>
            <a:r>
              <a:t>Расчёт помогает сопоставить параметры ПЭД и необходимый приток.</a:t>
            </a:r>
          </a:p>
        </p:txBody>
      </p:sp>
      <p:sp>
        <p:nvSpPr>
          <p:cNvPr id="8"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Phone" descr="ped.png"/>
          <p:cNvPicPr>
            <a:picLocks noChangeAspect="1"/>
          </p:cNvPicPr>
          <p:nvPr/>
        </p:nvPicPr>
        <p:blipFill>
          <a:blip r:embed="rId2"/>
          <a:srcRect b="1702"/>
          <a:stretch>
            <a:fillRect/>
          </a:stretch>
        </p:blipFill>
        <p:spPr>
          <a:xfrm>
            <a:off x="8869680" y="822960"/>
            <a:ext cx="2514600" cy="5349240"/>
          </a:xfrm>
          <a:prstGeom prst="rect">
            <a:avLst/>
          </a:prstGeom>
        </p:spPr>
      </p:pic>
      <p:sp>
        <p:nvSpPr>
          <p:cNvPr id="10" name="Rounded Rectangle 9"/>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794760"/>
            <a:ext cx="7315200" cy="457200"/>
          </a:xfrm>
          <a:prstGeom prst="rect">
            <a:avLst/>
          </a:prstGeom>
          <a:noFill/>
        </p:spPr>
        <p:txBody>
          <a:bodyPr wrap="square" lIns="0" rIns="0" tIns="0" bIns="0">
            <a:spAutoFit/>
          </a:bodyPr>
          <a:lstStyle/>
          <a:p>
            <a:pPr>
              <a:spcAft>
                <a:spcPts val="400"/>
              </a:spcAft>
              <a:defRPr sz="2200" b="0">
                <a:solidFill>
                  <a:srgbClr val="FFD052"/>
                </a:solidFill>
                <a:latin typeface="Arial"/>
              </a:defRPr>
            </a:pPr>
            <a:r>
              <a:t>— Определение притока по рабочему сценарию</a:t>
            </a:r>
          </a:p>
        </p:txBody>
      </p:sp>
      <p:sp>
        <p:nvSpPr>
          <p:cNvPr id="12" name="TextBox 11"/>
          <p:cNvSpPr txBox="1"/>
          <p:nvPr/>
        </p:nvSpPr>
        <p:spPr>
          <a:xfrm>
            <a:off x="658368" y="4315968"/>
            <a:ext cx="7315200" cy="457200"/>
          </a:xfrm>
          <a:prstGeom prst="rect">
            <a:avLst/>
          </a:prstGeom>
          <a:noFill/>
        </p:spPr>
        <p:txBody>
          <a:bodyPr wrap="square" lIns="0" rIns="0" tIns="0" bIns="0">
            <a:spAutoFit/>
          </a:bodyPr>
          <a:lstStyle/>
          <a:p>
            <a:pPr>
              <a:spcAft>
                <a:spcPts val="400"/>
              </a:spcAft>
              <a:defRPr sz="2200" b="0">
                <a:solidFill>
                  <a:srgbClr val="F4F6FA"/>
                </a:solidFill>
                <a:latin typeface="Arial"/>
              </a:defRPr>
            </a:pPr>
            <a:r>
              <a:t>— Подбор ПЭД из исходной базы</a:t>
            </a:r>
          </a:p>
        </p:txBody>
      </p:sp>
      <p:sp>
        <p:nvSpPr>
          <p:cNvPr id="13" name="TextBox 12"/>
          <p:cNvSpPr txBox="1"/>
          <p:nvPr/>
        </p:nvSpPr>
        <p:spPr>
          <a:xfrm>
            <a:off x="658368" y="4837176"/>
            <a:ext cx="7315200" cy="457200"/>
          </a:xfrm>
          <a:prstGeom prst="rect">
            <a:avLst/>
          </a:prstGeom>
          <a:noFill/>
        </p:spPr>
        <p:txBody>
          <a:bodyPr wrap="square" lIns="0" rIns="0" tIns="0" bIns="0">
            <a:spAutoFit/>
          </a:bodyPr>
          <a:lstStyle/>
          <a:p>
            <a:pPr>
              <a:spcAft>
                <a:spcPts val="400"/>
              </a:spcAft>
              <a:defRPr sz="2200" b="0">
                <a:solidFill>
                  <a:srgbClr val="F4F6FA"/>
                </a:solidFill>
                <a:latin typeface="Arial"/>
              </a:defRPr>
            </a:pPr>
            <a:r>
              <a:t>— Расчёт по номинальному и рабочему току</a:t>
            </a:r>
          </a:p>
        </p:txBody>
      </p:sp>
      <p:sp>
        <p:nvSpPr>
          <p:cNvPr id="14" name="TextBox 13"/>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Исходные формулы Android и база ПЭД: 16 160 записей</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07 / 24</a:t>
            </a:r>
          </a:p>
        </p:txBody>
      </p:sp>
      <p:sp>
        <p:nvSpPr>
          <p:cNvPr id="5" name="Rectangle 4"/>
          <p:cNvSpPr/>
          <p:nvPr/>
        </p:nvSpPr>
        <p:spPr>
          <a:xfrm>
            <a:off x="0" y="6821424"/>
            <a:ext cx="3555911"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7680960" cy="1508760"/>
          </a:xfrm>
          <a:prstGeom prst="rect">
            <a:avLst/>
          </a:prstGeom>
          <a:noFill/>
        </p:spPr>
        <p:txBody>
          <a:bodyPr wrap="square" lIns="0" rIns="0" tIns="0" bIns="0">
            <a:spAutoFit/>
          </a:bodyPr>
          <a:lstStyle/>
          <a:p>
            <a:pPr>
              <a:spcAft>
                <a:spcPts val="400"/>
              </a:spcAft>
              <a:defRPr sz="4200" b="1">
                <a:solidFill>
                  <a:srgbClr val="F4F6FA"/>
                </a:solidFill>
                <a:latin typeface="Arial"/>
              </a:defRPr>
            </a:pPr>
            <a:r>
              <a:t>7–9 замеров</a:t>
            </a:r>
          </a:p>
        </p:txBody>
      </p:sp>
      <p:sp>
        <p:nvSpPr>
          <p:cNvPr id="7" name="TextBox 6"/>
          <p:cNvSpPr txBox="1"/>
          <p:nvPr/>
        </p:nvSpPr>
        <p:spPr>
          <a:xfrm>
            <a:off x="621792" y="2697480"/>
            <a:ext cx="7406640" cy="914400"/>
          </a:xfrm>
          <a:prstGeom prst="rect">
            <a:avLst/>
          </a:prstGeom>
          <a:noFill/>
        </p:spPr>
        <p:txBody>
          <a:bodyPr wrap="square" lIns="0" rIns="0" tIns="0" bIns="0">
            <a:spAutoFit/>
          </a:bodyPr>
          <a:lstStyle/>
          <a:p>
            <a:pPr>
              <a:spcAft>
                <a:spcPts val="400"/>
              </a:spcAft>
              <a:defRPr sz="2200" b="0">
                <a:solidFill>
                  <a:srgbClr val="A9B3C5"/>
                </a:solidFill>
                <a:latin typeface="Arial"/>
              </a:defRPr>
            </a:pPr>
            <a:r>
              <a:t>Такой объём бывает за активный день — по рабочему опыту автора.</a:t>
            </a:r>
          </a:p>
        </p:txBody>
      </p:sp>
      <p:sp>
        <p:nvSpPr>
          <p:cNvPr id="8"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Phone" descr="manual.png"/>
          <p:cNvPicPr>
            <a:picLocks noChangeAspect="1"/>
          </p:cNvPicPr>
          <p:nvPr/>
        </p:nvPicPr>
        <p:blipFill>
          <a:blip r:embed="rId2"/>
          <a:srcRect b="1702"/>
          <a:stretch>
            <a:fillRect/>
          </a:stretch>
        </p:blipFill>
        <p:spPr>
          <a:xfrm>
            <a:off x="8869680" y="822960"/>
            <a:ext cx="2514600" cy="5349240"/>
          </a:xfrm>
          <a:prstGeom prst="rect">
            <a:avLst/>
          </a:prstGeom>
        </p:spPr>
      </p:pic>
      <p:sp>
        <p:nvSpPr>
          <p:cNvPr id="10" name="Rounded Rectangle 9"/>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931920"/>
            <a:ext cx="6949440" cy="548640"/>
          </a:xfrm>
          <a:prstGeom prst="rect">
            <a:avLst/>
          </a:prstGeom>
          <a:noFill/>
        </p:spPr>
        <p:txBody>
          <a:bodyPr wrap="square" lIns="0" rIns="0" tIns="0" bIns="0">
            <a:spAutoFit/>
          </a:bodyPr>
          <a:lstStyle/>
          <a:p>
            <a:pPr>
              <a:spcAft>
                <a:spcPts val="400"/>
              </a:spcAft>
              <a:defRPr sz="3100" b="1">
                <a:solidFill>
                  <a:srgbClr val="FFD052"/>
                </a:solidFill>
                <a:latin typeface="Arial"/>
              </a:defRPr>
            </a:pPr>
            <a:r>
              <a:t>100 л  /  60 с  →  144 м³/сут</a:t>
            </a:r>
          </a:p>
        </p:txBody>
      </p:sp>
      <p:sp>
        <p:nvSpPr>
          <p:cNvPr id="12" name="TextBox 11"/>
          <p:cNvSpPr txBox="1"/>
          <p:nvPr/>
        </p:nvSpPr>
        <p:spPr>
          <a:xfrm>
            <a:off x="658368" y="4709160"/>
            <a:ext cx="6858000" cy="731520"/>
          </a:xfrm>
          <a:prstGeom prst="rect">
            <a:avLst/>
          </a:prstGeom>
          <a:noFill/>
        </p:spPr>
        <p:txBody>
          <a:bodyPr wrap="square" lIns="0" rIns="0" tIns="0" bIns="0">
            <a:spAutoFit/>
          </a:bodyPr>
          <a:lstStyle/>
          <a:p>
            <a:pPr>
              <a:spcAft>
                <a:spcPts val="400"/>
              </a:spcAft>
              <a:defRPr sz="1700" b="0">
                <a:solidFill>
                  <a:srgbClr val="A9B3C5"/>
                </a:solidFill>
                <a:latin typeface="Arial"/>
              </a:defRPr>
            </a:pPr>
            <a:r>
              <a:t>Математический пример. Объём вводит оператор.</a:t>
            </a:r>
          </a:p>
        </p:txBody>
      </p:sp>
      <p:sp>
        <p:nvSpPr>
          <p:cNvPr id="13" name="TextBox 12"/>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Частота замеров — со слов автора; цифры скриншота — пример расчёта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08 / 24</a:t>
            </a:r>
          </a:p>
        </p:txBody>
      </p:sp>
      <p:sp>
        <p:nvSpPr>
          <p:cNvPr id="5" name="Rectangle 4"/>
          <p:cNvSpPr/>
          <p:nvPr/>
        </p:nvSpPr>
        <p:spPr>
          <a:xfrm>
            <a:off x="0" y="6821424"/>
            <a:ext cx="4063898"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Нажал «Старт».</a:t>
            </a:r>
          </a:p>
          <a:p>
            <a:pPr>
              <a:spcAft>
                <a:spcPts val="400"/>
              </a:spcAft>
              <a:defRPr sz="4400" b="1">
                <a:solidFill>
                  <a:srgbClr val="F4F6FA"/>
                </a:solidFill>
                <a:latin typeface="Arial"/>
              </a:defRPr>
            </a:pPr>
            <a:r>
              <a:t>Вернулся к замеру.</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Время начала не нужно записывать отдельно: приложение ведёт таймер.</a:t>
            </a:r>
          </a:p>
        </p:txBody>
      </p:sp>
      <p:sp>
        <p:nvSpPr>
          <p:cNvPr id="8" name="Rounded Rectangle 7"/>
          <p:cNvSpPr/>
          <p:nvPr/>
        </p:nvSpPr>
        <p:spPr>
          <a:xfrm>
            <a:off x="640080" y="3657600"/>
            <a:ext cx="3474720" cy="182880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3822191"/>
            <a:ext cx="3072384"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01</a:t>
            </a:r>
          </a:p>
        </p:txBody>
      </p:sp>
      <p:sp>
        <p:nvSpPr>
          <p:cNvPr id="10" name="TextBox 9"/>
          <p:cNvSpPr txBox="1"/>
          <p:nvPr/>
        </p:nvSpPr>
        <p:spPr>
          <a:xfrm>
            <a:off x="841247" y="4206240"/>
            <a:ext cx="3072384" cy="1207007"/>
          </a:xfrm>
          <a:prstGeom prst="rect">
            <a:avLst/>
          </a:prstGeom>
          <a:noFill/>
        </p:spPr>
        <p:txBody>
          <a:bodyPr wrap="square" lIns="0" rIns="0" tIns="0" bIns="0">
            <a:spAutoFit/>
          </a:bodyPr>
          <a:lstStyle/>
          <a:p>
            <a:pPr>
              <a:spcAft>
                <a:spcPts val="400"/>
              </a:spcAft>
              <a:defRPr sz="2300" b="0">
                <a:solidFill>
                  <a:srgbClr val="F4F6FA"/>
                </a:solidFill>
                <a:latin typeface="Arial"/>
              </a:defRPr>
            </a:pPr>
            <a:r>
              <a:t>Старт → рабочие действия</a:t>
            </a:r>
          </a:p>
        </p:txBody>
      </p:sp>
      <p:sp>
        <p:nvSpPr>
          <p:cNvPr id="11" name="Rounded Rectangle 10"/>
          <p:cNvSpPr/>
          <p:nvPr/>
        </p:nvSpPr>
        <p:spPr>
          <a:xfrm>
            <a:off x="4325112" y="3657600"/>
            <a:ext cx="3474720" cy="182880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822191"/>
            <a:ext cx="3072384"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02</a:t>
            </a:r>
          </a:p>
        </p:txBody>
      </p:sp>
      <p:sp>
        <p:nvSpPr>
          <p:cNvPr id="13" name="TextBox 12"/>
          <p:cNvSpPr txBox="1"/>
          <p:nvPr/>
        </p:nvSpPr>
        <p:spPr>
          <a:xfrm>
            <a:off x="4526280" y="4206240"/>
            <a:ext cx="3072384" cy="1207007"/>
          </a:xfrm>
          <a:prstGeom prst="rect">
            <a:avLst/>
          </a:prstGeom>
          <a:noFill/>
        </p:spPr>
        <p:txBody>
          <a:bodyPr wrap="square" lIns="0" rIns="0" tIns="0" bIns="0">
            <a:spAutoFit/>
          </a:bodyPr>
          <a:lstStyle/>
          <a:p>
            <a:pPr>
              <a:spcAft>
                <a:spcPts val="400"/>
              </a:spcAft>
              <a:defRPr sz="2300" b="0">
                <a:solidFill>
                  <a:srgbClr val="F4F6FA"/>
                </a:solidFill>
                <a:latin typeface="Arial"/>
              </a:defRPr>
            </a:pPr>
            <a:r>
              <a:t>Возврат → ввод объёма</a:t>
            </a:r>
          </a:p>
        </p:txBody>
      </p:sp>
      <p:sp>
        <p:nvSpPr>
          <p:cNvPr id="14" name="Rounded Rectangle 13"/>
          <p:cNvSpPr/>
          <p:nvPr/>
        </p:nvSpPr>
        <p:spPr>
          <a:xfrm>
            <a:off x="8010144" y="3657600"/>
            <a:ext cx="3474720" cy="182880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3822191"/>
            <a:ext cx="3072384"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03</a:t>
            </a:r>
          </a:p>
        </p:txBody>
      </p:sp>
      <p:sp>
        <p:nvSpPr>
          <p:cNvPr id="16" name="TextBox 15"/>
          <p:cNvSpPr txBox="1"/>
          <p:nvPr/>
        </p:nvSpPr>
        <p:spPr>
          <a:xfrm>
            <a:off x="8211312" y="4206240"/>
            <a:ext cx="3072384" cy="1207007"/>
          </a:xfrm>
          <a:prstGeom prst="rect">
            <a:avLst/>
          </a:prstGeom>
          <a:noFill/>
        </p:spPr>
        <p:txBody>
          <a:bodyPr wrap="square" lIns="0" rIns="0" tIns="0" bIns="0">
            <a:spAutoFit/>
          </a:bodyPr>
          <a:lstStyle/>
          <a:p>
            <a:pPr>
              <a:spcAft>
                <a:spcPts val="400"/>
              </a:spcAft>
              <a:defRPr sz="2300" b="0">
                <a:solidFill>
                  <a:srgbClr val="F4F6FA"/>
                </a:solidFill>
                <a:latin typeface="Arial"/>
              </a:defRPr>
            </a:pPr>
            <a:r>
              <a:t>Результат → автоматическая история</a:t>
            </a:r>
          </a:p>
        </p:txBody>
      </p:sp>
      <p:sp>
        <p:nvSpPr>
          <p:cNvPr id="17" name="TextBox 16"/>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Реализовано в PWA 3.0.0; восстановление и история проверены автотестами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09 / 24</a:t>
            </a:r>
          </a:p>
        </p:txBody>
      </p:sp>
      <p:sp>
        <p:nvSpPr>
          <p:cNvPr id="5" name="Rectangle 4"/>
          <p:cNvSpPr/>
          <p:nvPr/>
        </p:nvSpPr>
        <p:spPr>
          <a:xfrm>
            <a:off x="0" y="6821424"/>
            <a:ext cx="4571885"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7680960" cy="1508760"/>
          </a:xfrm>
          <a:prstGeom prst="rect">
            <a:avLst/>
          </a:prstGeom>
          <a:noFill/>
        </p:spPr>
        <p:txBody>
          <a:bodyPr wrap="square" lIns="0" rIns="0" tIns="0" bIns="0">
            <a:spAutoFit/>
          </a:bodyPr>
          <a:lstStyle/>
          <a:p>
            <a:pPr>
              <a:spcAft>
                <a:spcPts val="400"/>
              </a:spcAft>
              <a:defRPr sz="4200" b="1">
                <a:solidFill>
                  <a:srgbClr val="F4F6FA"/>
                </a:solidFill>
                <a:latin typeface="Arial"/>
              </a:defRPr>
            </a:pPr>
            <a:r>
              <a:t>Регламент,</a:t>
            </a:r>
          </a:p>
          <a:p>
            <a:pPr>
              <a:spcAft>
                <a:spcPts val="400"/>
              </a:spcAft>
              <a:defRPr sz="4200" b="1">
                <a:solidFill>
                  <a:srgbClr val="F4F6FA"/>
                </a:solidFill>
                <a:latin typeface="Arial"/>
              </a:defRPr>
            </a:pPr>
            <a:r>
              <a:t>который рядом.</a:t>
            </a:r>
          </a:p>
        </p:txBody>
      </p:sp>
      <p:sp>
        <p:nvSpPr>
          <p:cNvPr id="7" name="TextBox 6"/>
          <p:cNvSpPr txBox="1"/>
          <p:nvPr/>
        </p:nvSpPr>
        <p:spPr>
          <a:xfrm>
            <a:off x="621792" y="2697480"/>
            <a:ext cx="7406640" cy="914400"/>
          </a:xfrm>
          <a:prstGeom prst="rect">
            <a:avLst/>
          </a:prstGeom>
          <a:noFill/>
        </p:spPr>
        <p:txBody>
          <a:bodyPr wrap="square" lIns="0" rIns="0" tIns="0" bIns="0">
            <a:spAutoFit/>
          </a:bodyPr>
          <a:lstStyle/>
          <a:p>
            <a:pPr>
              <a:spcAft>
                <a:spcPts val="400"/>
              </a:spcAft>
              <a:defRPr sz="2200" b="0">
                <a:solidFill>
                  <a:srgbClr val="A9B3C5"/>
                </a:solidFill>
                <a:latin typeface="Arial"/>
              </a:defRPr>
            </a:pPr>
            <a:r>
              <a:t>Поиск, оглавление, внутренние ссылки и быстрые закладки.</a:t>
            </a:r>
          </a:p>
        </p:txBody>
      </p:sp>
      <p:sp>
        <p:nvSpPr>
          <p:cNvPr id="8"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Phone" descr="vnr.png"/>
          <p:cNvPicPr>
            <a:picLocks noChangeAspect="1"/>
          </p:cNvPicPr>
          <p:nvPr/>
        </p:nvPicPr>
        <p:blipFill>
          <a:blip r:embed="rId2"/>
          <a:srcRect b="1702"/>
          <a:stretch>
            <a:fillRect/>
          </a:stretch>
        </p:blipFill>
        <p:spPr>
          <a:xfrm>
            <a:off x="8869680" y="822960"/>
            <a:ext cx="2514600" cy="5349240"/>
          </a:xfrm>
          <a:prstGeom prst="rect">
            <a:avLst/>
          </a:prstGeom>
        </p:spPr>
      </p:pic>
      <p:sp>
        <p:nvSpPr>
          <p:cNvPr id="10" name="Rounded Rectangle 9"/>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794760"/>
            <a:ext cx="7315200" cy="457200"/>
          </a:xfrm>
          <a:prstGeom prst="rect">
            <a:avLst/>
          </a:prstGeom>
          <a:noFill/>
        </p:spPr>
        <p:txBody>
          <a:bodyPr wrap="square" lIns="0" rIns="0" tIns="0" bIns="0">
            <a:spAutoFit/>
          </a:bodyPr>
          <a:lstStyle/>
          <a:p>
            <a:pPr>
              <a:spcAft>
                <a:spcPts val="400"/>
              </a:spcAft>
              <a:defRPr sz="2200" b="0">
                <a:solidFill>
                  <a:srgbClr val="FFD052"/>
                </a:solidFill>
                <a:latin typeface="Arial"/>
              </a:defRPr>
            </a:pPr>
            <a:r>
              <a:t>— 207 страниц ВНР</a:t>
            </a:r>
          </a:p>
        </p:txBody>
      </p:sp>
      <p:sp>
        <p:nvSpPr>
          <p:cNvPr id="12" name="TextBox 11"/>
          <p:cNvSpPr txBox="1"/>
          <p:nvPr/>
        </p:nvSpPr>
        <p:spPr>
          <a:xfrm>
            <a:off x="658368" y="4315968"/>
            <a:ext cx="7315200" cy="457200"/>
          </a:xfrm>
          <a:prstGeom prst="rect">
            <a:avLst/>
          </a:prstGeom>
          <a:noFill/>
        </p:spPr>
        <p:txBody>
          <a:bodyPr wrap="square" lIns="0" rIns="0" tIns="0" bIns="0">
            <a:spAutoFit/>
          </a:bodyPr>
          <a:lstStyle/>
          <a:p>
            <a:pPr>
              <a:spcAft>
                <a:spcPts val="400"/>
              </a:spcAft>
              <a:defRPr sz="2200" b="0">
                <a:solidFill>
                  <a:srgbClr val="F4F6FA"/>
                </a:solidFill>
                <a:latin typeface="Arial"/>
              </a:defRPr>
            </a:pPr>
            <a:r>
              <a:t>— Ползунок и масштабирование</a:t>
            </a:r>
          </a:p>
        </p:txBody>
      </p:sp>
      <p:sp>
        <p:nvSpPr>
          <p:cNvPr id="13" name="TextBox 12"/>
          <p:cNvSpPr txBox="1"/>
          <p:nvPr/>
        </p:nvSpPr>
        <p:spPr>
          <a:xfrm>
            <a:off x="658368" y="4837176"/>
            <a:ext cx="7315200" cy="457200"/>
          </a:xfrm>
          <a:prstGeom prst="rect">
            <a:avLst/>
          </a:prstGeom>
          <a:noFill/>
        </p:spPr>
        <p:txBody>
          <a:bodyPr wrap="square" lIns="0" rIns="0" tIns="0" bIns="0">
            <a:spAutoFit/>
          </a:bodyPr>
          <a:lstStyle/>
          <a:p>
            <a:pPr>
              <a:spcAft>
                <a:spcPts val="400"/>
              </a:spcAft>
              <a:defRPr sz="2200" b="0">
                <a:solidFill>
                  <a:srgbClr val="F4F6FA"/>
                </a:solidFill>
                <a:latin typeface="Arial"/>
              </a:defRPr>
            </a:pPr>
            <a:r>
              <a:t>— Офлайн после предварительной загрузки</a:t>
            </a:r>
          </a:p>
        </p:txBody>
      </p:sp>
      <p:sp>
        <p:nvSpPr>
          <p:cNvPr id="14" name="TextBox 13"/>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ВНР № П1-01.05 ТИ-0009 ЮЛ-099, версия 7; распоряжение 16.10.2025 № 2345</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10 / 24</a:t>
            </a:r>
          </a:p>
        </p:txBody>
      </p:sp>
      <p:sp>
        <p:nvSpPr>
          <p:cNvPr id="5" name="Rectangle 4"/>
          <p:cNvSpPr/>
          <p:nvPr/>
        </p:nvSpPr>
        <p:spPr>
          <a:xfrm>
            <a:off x="0" y="6821424"/>
            <a:ext cx="5079873"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7680960" cy="1508760"/>
          </a:xfrm>
          <a:prstGeom prst="rect">
            <a:avLst/>
          </a:prstGeom>
          <a:noFill/>
        </p:spPr>
        <p:txBody>
          <a:bodyPr wrap="square" lIns="0" rIns="0" tIns="0" bIns="0">
            <a:spAutoFit/>
          </a:bodyPr>
          <a:lstStyle/>
          <a:p>
            <a:pPr>
              <a:spcAft>
                <a:spcPts val="400"/>
              </a:spcAft>
              <a:defRPr sz="4200" b="1">
                <a:solidFill>
                  <a:srgbClr val="F4F6FA"/>
                </a:solidFill>
                <a:latin typeface="Arial"/>
              </a:defRPr>
            </a:pPr>
            <a:r>
              <a:t>Отпайка:</a:t>
            </a:r>
          </a:p>
          <a:p>
            <a:pPr>
              <a:spcAft>
                <a:spcPts val="400"/>
              </a:spcAft>
              <a:defRPr sz="4200" b="1">
                <a:solidFill>
                  <a:srgbClr val="F4F6FA"/>
                </a:solidFill>
                <a:latin typeface="Arial"/>
              </a:defRPr>
            </a:pPr>
            <a:r>
              <a:t>расчёт напряжения.</a:t>
            </a:r>
          </a:p>
        </p:txBody>
      </p:sp>
      <p:sp>
        <p:nvSpPr>
          <p:cNvPr id="7" name="TextBox 6"/>
          <p:cNvSpPr txBox="1"/>
          <p:nvPr/>
        </p:nvSpPr>
        <p:spPr>
          <a:xfrm>
            <a:off x="621792" y="2697480"/>
            <a:ext cx="7406640" cy="914400"/>
          </a:xfrm>
          <a:prstGeom prst="rect">
            <a:avLst/>
          </a:prstGeom>
          <a:noFill/>
        </p:spPr>
        <p:txBody>
          <a:bodyPr wrap="square" lIns="0" rIns="0" tIns="0" bIns="0">
            <a:spAutoFit/>
          </a:bodyPr>
          <a:lstStyle/>
          <a:p>
            <a:pPr>
              <a:spcAft>
                <a:spcPts val="400"/>
              </a:spcAft>
              <a:defRPr sz="2200" b="0">
                <a:solidFill>
                  <a:srgbClr val="A9B3C5"/>
                </a:solidFill>
                <a:latin typeface="Arial"/>
              </a:defRPr>
            </a:pPr>
            <a:r>
              <a:t>Калькулятор помогает определить требуемое напряжение с учётом условий расчёта.</a:t>
            </a:r>
          </a:p>
        </p:txBody>
      </p:sp>
      <p:sp>
        <p:nvSpPr>
          <p:cNvPr id="8" name="!!DeviceFrame"/>
          <p:cNvSpPr/>
          <p:nvPr/>
        </p:nvSpPr>
        <p:spPr>
          <a:xfrm>
            <a:off x="8796528" y="749808"/>
            <a:ext cx="2660904" cy="5495544"/>
          </a:xfrm>
          <a:prstGeom prst="roundRect">
            <a:avLst>
              <a:gd name="adj" fmla="val 12000"/>
            </a:avLst>
          </a:prstGeom>
          <a:solidFill>
            <a:srgbClr val="2B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Phone" descr="tap.png"/>
          <p:cNvPicPr>
            <a:picLocks noChangeAspect="1"/>
          </p:cNvPicPr>
          <p:nvPr/>
        </p:nvPicPr>
        <p:blipFill>
          <a:blip r:embed="rId2"/>
          <a:srcRect b="1702"/>
          <a:stretch>
            <a:fillRect/>
          </a:stretch>
        </p:blipFill>
        <p:spPr>
          <a:xfrm>
            <a:off x="8869680" y="822960"/>
            <a:ext cx="2514600" cy="5349240"/>
          </a:xfrm>
          <a:prstGeom prst="rect">
            <a:avLst/>
          </a:prstGeom>
        </p:spPr>
      </p:pic>
      <p:sp>
        <p:nvSpPr>
          <p:cNvPr id="10" name="Rounded Rectangle 9"/>
          <p:cNvSpPr/>
          <p:nvPr/>
        </p:nvSpPr>
        <p:spPr>
          <a:xfrm>
            <a:off x="9674352" y="850392"/>
            <a:ext cx="905256" cy="50292"/>
          </a:xfrm>
          <a:prstGeom prst="roundRect">
            <a:avLst>
              <a:gd name="adj" fmla="val 12000"/>
            </a:avLst>
          </a:prstGeom>
          <a:solidFill>
            <a:srgbClr val="09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794760"/>
            <a:ext cx="7315200" cy="457200"/>
          </a:xfrm>
          <a:prstGeom prst="rect">
            <a:avLst/>
          </a:prstGeom>
          <a:noFill/>
        </p:spPr>
        <p:txBody>
          <a:bodyPr wrap="square" lIns="0" rIns="0" tIns="0" bIns="0">
            <a:spAutoFit/>
          </a:bodyPr>
          <a:lstStyle/>
          <a:p>
            <a:pPr>
              <a:spcAft>
                <a:spcPts val="400"/>
              </a:spcAft>
              <a:defRPr sz="2200" b="0">
                <a:solidFill>
                  <a:srgbClr val="FFD052"/>
                </a:solidFill>
                <a:latin typeface="Arial"/>
              </a:defRPr>
            </a:pPr>
            <a:r>
              <a:t>— Параметры питания и двигателя</a:t>
            </a:r>
          </a:p>
        </p:txBody>
      </p:sp>
      <p:sp>
        <p:nvSpPr>
          <p:cNvPr id="12" name="TextBox 11"/>
          <p:cNvSpPr txBox="1"/>
          <p:nvPr/>
        </p:nvSpPr>
        <p:spPr>
          <a:xfrm>
            <a:off x="658368" y="4315968"/>
            <a:ext cx="7315200" cy="457200"/>
          </a:xfrm>
          <a:prstGeom prst="rect">
            <a:avLst/>
          </a:prstGeom>
          <a:noFill/>
        </p:spPr>
        <p:txBody>
          <a:bodyPr wrap="square" lIns="0" rIns="0" tIns="0" bIns="0">
            <a:spAutoFit/>
          </a:bodyPr>
          <a:lstStyle/>
          <a:p>
            <a:pPr>
              <a:spcAft>
                <a:spcPts val="400"/>
              </a:spcAft>
              <a:defRPr sz="2200" b="0">
                <a:solidFill>
                  <a:srgbClr val="F4F6FA"/>
                </a:solidFill>
                <a:latin typeface="Arial"/>
              </a:defRPr>
            </a:pPr>
            <a:r>
              <a:t>— Потери напряжения в кабеле</a:t>
            </a:r>
          </a:p>
        </p:txBody>
      </p:sp>
      <p:sp>
        <p:nvSpPr>
          <p:cNvPr id="13" name="TextBox 12"/>
          <p:cNvSpPr txBox="1"/>
          <p:nvPr/>
        </p:nvSpPr>
        <p:spPr>
          <a:xfrm>
            <a:off x="658368" y="4837176"/>
            <a:ext cx="7315200" cy="457200"/>
          </a:xfrm>
          <a:prstGeom prst="rect">
            <a:avLst/>
          </a:prstGeom>
          <a:noFill/>
        </p:spPr>
        <p:txBody>
          <a:bodyPr wrap="square" lIns="0" rIns="0" tIns="0" bIns="0">
            <a:spAutoFit/>
          </a:bodyPr>
          <a:lstStyle/>
          <a:p>
            <a:pPr>
              <a:spcAft>
                <a:spcPts val="400"/>
              </a:spcAft>
              <a:defRPr sz="2200" b="0">
                <a:solidFill>
                  <a:srgbClr val="F4F6FA"/>
                </a:solidFill>
                <a:latin typeface="Arial"/>
              </a:defRPr>
            </a:pPr>
            <a:r>
              <a:t>— Варианты с ЧРП и без ЧРП</a:t>
            </a:r>
          </a:p>
        </p:txBody>
      </p:sp>
      <p:sp>
        <p:nvSpPr>
          <p:cNvPr id="14" name="TextBox 13"/>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Формулы и варианты перенесены из Android; эталонные проверки расчёта отпайки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11 / 24</a:t>
            </a:r>
          </a:p>
        </p:txBody>
      </p:sp>
      <p:sp>
        <p:nvSpPr>
          <p:cNvPr id="5" name="Rectangle 4"/>
          <p:cNvSpPr/>
          <p:nvPr/>
        </p:nvSpPr>
        <p:spPr>
          <a:xfrm>
            <a:off x="0" y="6821424"/>
            <a:ext cx="5587860"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Подсказка</a:t>
            </a:r>
          </a:p>
          <a:p>
            <a:pPr>
              <a:spcAft>
                <a:spcPts val="400"/>
              </a:spcAft>
              <a:defRPr sz="4400" b="1">
                <a:solidFill>
                  <a:srgbClr val="F4F6FA"/>
                </a:solidFill>
                <a:latin typeface="Arial"/>
              </a:defRPr>
            </a:pPr>
            <a:r>
              <a:t>в нужный момент.</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Особенно полезно оператору, который ещё набирает опыт.</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Пошаговые сценарии пяти станций</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Помощник по рабочим ситуациям</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Справочники и формулы в одном месте</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Повторяемый показ для обучения</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Доступные материалы Android: 12 тем помощника; 75 шагов станций и 71 фотография</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12 / 24</a:t>
            </a:r>
          </a:p>
        </p:txBody>
      </p:sp>
      <p:sp>
        <p:nvSpPr>
          <p:cNvPr id="5" name="Rectangle 4"/>
          <p:cNvSpPr/>
          <p:nvPr/>
        </p:nvSpPr>
        <p:spPr>
          <a:xfrm>
            <a:off x="0" y="6821424"/>
            <a:ext cx="6095847"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Один проект.</a:t>
            </a:r>
          </a:p>
          <a:p>
            <a:pPr>
              <a:spcAft>
                <a:spcPts val="400"/>
              </a:spcAft>
              <a:defRPr sz="4400" b="1">
                <a:solidFill>
                  <a:srgbClr val="F4F6FA"/>
                </a:solidFill>
                <a:latin typeface="Arial"/>
              </a:defRPr>
            </a:pPr>
            <a:r>
              <a:t>Расчёты и знания.</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Доступ к нужному инструменту — из понятных рабочих разделов.</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Расчёты: уровень, частота, дебит, приток, отпайка</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Технолог: РПД, УПР, АПВ, СКО, температура</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Справочник: ВНР, охлаждение, трубы, помощник</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История: результаты и сохранённые данные</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PWA 3.0.0, коммит 2e9d9f2; функции подтверждены исходниками и доступными тестами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13 / 24</a:t>
            </a:r>
          </a:p>
        </p:txBody>
      </p:sp>
      <p:sp>
        <p:nvSpPr>
          <p:cNvPr id="5" name="Rectangle 4"/>
          <p:cNvSpPr/>
          <p:nvPr/>
        </p:nvSpPr>
        <p:spPr>
          <a:xfrm>
            <a:off x="0" y="6821424"/>
            <a:ext cx="6603834"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Качество данных —</a:t>
            </a:r>
          </a:p>
          <a:p>
            <a:pPr>
              <a:spcAft>
                <a:spcPts val="400"/>
              </a:spcAft>
              <a:defRPr sz="4400" b="1">
                <a:solidFill>
                  <a:srgbClr val="F4F6FA"/>
                </a:solidFill>
                <a:latin typeface="Arial"/>
              </a:defRPr>
            </a:pPr>
            <a:r>
              <a:t>часть правильного решения.</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Правильная формула требует корректных исходных параметров.</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Подбор УЭЦН: анализ истории и проверка исходных данных</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После запуска: сопоставление фактического и расчётного режима</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Параметры ПЭД: корректное сопоставление оборудования</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Саныч-6: помощь оператору с вводом, расчётом и сохранением</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Учебные PDF: «Подбор УЭЦН», стр. 3, 5; «Качество данных», стр. 15–17, 39</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14 / 24</a:t>
            </a:r>
          </a:p>
        </p:txBody>
      </p:sp>
      <p:sp>
        <p:nvSpPr>
          <p:cNvPr id="5" name="Rectangle 4"/>
          <p:cNvSpPr/>
          <p:nvPr/>
        </p:nvSpPr>
        <p:spPr>
          <a:xfrm>
            <a:off x="0" y="6821424"/>
            <a:ext cx="7111822"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На чём</a:t>
            </a:r>
          </a:p>
          <a:p>
            <a:pPr>
              <a:spcAft>
                <a:spcPts val="400"/>
              </a:spcAft>
              <a:defRPr sz="4400" b="1">
                <a:solidFill>
                  <a:srgbClr val="F4F6FA"/>
                </a:solidFill>
                <a:latin typeface="Arial"/>
              </a:defRPr>
            </a:pPr>
            <a:r>
              <a:t>основан проект.</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Документы предприятия, исходные расчёты и практические сценарии.</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ВНР: документ и реквизиты подтверждены</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Инструкции ПБиОТ: название указано автором</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Пять томов: сверить редакции и разделы</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Android-эталон: формулы, таблицы, материалы</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Реестр источников и открытые вопросы — в приложении к презентации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15 / 24</a:t>
            </a:r>
          </a:p>
        </p:txBody>
      </p:sp>
      <p:sp>
        <p:nvSpPr>
          <p:cNvPr id="5" name="Rectangle 4"/>
          <p:cNvSpPr/>
          <p:nvPr/>
        </p:nvSpPr>
        <p:spPr>
          <a:xfrm>
            <a:off x="0" y="6821424"/>
            <a:ext cx="7619809"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63040"/>
          </a:xfrm>
          <a:prstGeom prst="rect">
            <a:avLst/>
          </a:prstGeom>
          <a:noFill/>
        </p:spPr>
        <p:txBody>
          <a:bodyPr wrap="square" lIns="0" rIns="0" tIns="0" bIns="0">
            <a:spAutoFit/>
          </a:bodyPr>
          <a:lstStyle/>
          <a:p>
            <a:pPr>
              <a:spcAft>
                <a:spcPts val="400"/>
              </a:spcAft>
              <a:defRPr sz="4400" b="1">
                <a:solidFill>
                  <a:srgbClr val="F4F6FA"/>
                </a:solidFill>
                <a:latin typeface="Arial"/>
              </a:defRPr>
            </a:pPr>
            <a:r>
              <a:t>3 месяца</a:t>
            </a:r>
          </a:p>
          <a:p>
            <a:pPr>
              <a:spcAft>
                <a:spcPts val="400"/>
              </a:spcAft>
              <a:defRPr sz="4400" b="1">
                <a:solidFill>
                  <a:srgbClr val="F4F6FA"/>
                </a:solidFill>
                <a:latin typeface="Arial"/>
              </a:defRPr>
            </a:pPr>
            <a:r>
              <a:t>разработки.</a:t>
            </a:r>
          </a:p>
        </p:txBody>
      </p:sp>
      <p:sp>
        <p:nvSpPr>
          <p:cNvPr id="7" name="TextBox 6"/>
          <p:cNvSpPr txBox="1"/>
          <p:nvPr/>
        </p:nvSpPr>
        <p:spPr>
          <a:xfrm>
            <a:off x="640080" y="2606040"/>
            <a:ext cx="10789920" cy="731520"/>
          </a:xfrm>
          <a:prstGeom prst="rect">
            <a:avLst/>
          </a:prstGeom>
          <a:noFill/>
        </p:spPr>
        <p:txBody>
          <a:bodyPr wrap="square" lIns="0" rIns="0" tIns="0" bIns="0">
            <a:spAutoFit/>
          </a:bodyPr>
          <a:lstStyle/>
          <a:p>
            <a:pPr>
              <a:spcAft>
                <a:spcPts val="400"/>
              </a:spcAft>
              <a:defRPr sz="2300" b="0">
                <a:solidFill>
                  <a:srgbClr val="A9B3C5"/>
                </a:solidFill>
                <a:latin typeface="Arial"/>
              </a:defRPr>
            </a:pPr>
            <a:r>
              <a:t>Прямые денежные расходы, по оценке автора, минимальны. Стоимость труда оценивается отдельно.</a:t>
            </a:r>
          </a:p>
        </p:txBody>
      </p:sp>
      <p:sp>
        <p:nvSpPr>
          <p:cNvPr id="8" name="TextBox 7"/>
          <p:cNvSpPr txBox="1"/>
          <p:nvPr/>
        </p:nvSpPr>
        <p:spPr>
          <a:xfrm>
            <a:off x="685800" y="3657600"/>
            <a:ext cx="3474720" cy="1097280"/>
          </a:xfrm>
          <a:prstGeom prst="rect">
            <a:avLst/>
          </a:prstGeom>
          <a:noFill/>
        </p:spPr>
        <p:txBody>
          <a:bodyPr wrap="square" lIns="0" rIns="0" tIns="0" bIns="0">
            <a:spAutoFit/>
          </a:bodyPr>
          <a:lstStyle/>
          <a:p>
            <a:pPr>
              <a:spcAft>
                <a:spcPts val="400"/>
              </a:spcAft>
              <a:defRPr sz="7600" b="1">
                <a:solidFill>
                  <a:srgbClr val="FFD052"/>
                </a:solidFill>
                <a:latin typeface="Arial"/>
              </a:defRPr>
            </a:pPr>
            <a:r>
              <a:t>58</a:t>
            </a:r>
          </a:p>
        </p:txBody>
      </p:sp>
      <p:sp>
        <p:nvSpPr>
          <p:cNvPr id="9" name="TextBox 8"/>
          <p:cNvSpPr txBox="1"/>
          <p:nvPr/>
        </p:nvSpPr>
        <p:spPr>
          <a:xfrm>
            <a:off x="731520" y="5029200"/>
            <a:ext cx="3291840" cy="731520"/>
          </a:xfrm>
          <a:prstGeom prst="rect">
            <a:avLst/>
          </a:prstGeom>
          <a:noFill/>
        </p:spPr>
        <p:txBody>
          <a:bodyPr wrap="square" lIns="0" rIns="0" tIns="0" bIns="0">
            <a:spAutoFit/>
          </a:bodyPr>
          <a:lstStyle/>
          <a:p>
            <a:pPr>
              <a:spcAft>
                <a:spcPts val="400"/>
              </a:spcAft>
              <a:defRPr sz="2000" b="0">
                <a:solidFill>
                  <a:srgbClr val="F4F6FA"/>
                </a:solidFill>
                <a:latin typeface="Arial"/>
              </a:defRPr>
            </a:pPr>
            <a:r>
              <a:t>локально пройденных тестов</a:t>
            </a:r>
          </a:p>
        </p:txBody>
      </p:sp>
      <p:sp>
        <p:nvSpPr>
          <p:cNvPr id="10" name="TextBox 9"/>
          <p:cNvSpPr txBox="1"/>
          <p:nvPr/>
        </p:nvSpPr>
        <p:spPr>
          <a:xfrm>
            <a:off x="4434840" y="3657600"/>
            <a:ext cx="3474720" cy="1097280"/>
          </a:xfrm>
          <a:prstGeom prst="rect">
            <a:avLst/>
          </a:prstGeom>
          <a:noFill/>
        </p:spPr>
        <p:txBody>
          <a:bodyPr wrap="square" lIns="0" rIns="0" tIns="0" bIns="0">
            <a:spAutoFit/>
          </a:bodyPr>
          <a:lstStyle/>
          <a:p>
            <a:pPr>
              <a:spcAft>
                <a:spcPts val="400"/>
              </a:spcAft>
              <a:defRPr sz="7600" b="1">
                <a:solidFill>
                  <a:srgbClr val="FFD052"/>
                </a:solidFill>
                <a:latin typeface="Arial"/>
              </a:defRPr>
            </a:pPr>
            <a:r>
              <a:t>479</a:t>
            </a:r>
          </a:p>
        </p:txBody>
      </p:sp>
      <p:sp>
        <p:nvSpPr>
          <p:cNvPr id="11" name="TextBox 10"/>
          <p:cNvSpPr txBox="1"/>
          <p:nvPr/>
        </p:nvSpPr>
        <p:spPr>
          <a:xfrm>
            <a:off x="4480559" y="5029200"/>
            <a:ext cx="3291840" cy="731520"/>
          </a:xfrm>
          <a:prstGeom prst="rect">
            <a:avLst/>
          </a:prstGeom>
          <a:noFill/>
        </p:spPr>
        <p:txBody>
          <a:bodyPr wrap="square" lIns="0" rIns="0" tIns="0" bIns="0">
            <a:spAutoFit/>
          </a:bodyPr>
          <a:lstStyle/>
          <a:p>
            <a:pPr>
              <a:spcAft>
                <a:spcPts val="400"/>
              </a:spcAft>
              <a:defRPr sz="2000" b="0">
                <a:solidFill>
                  <a:srgbClr val="F4F6FA"/>
                </a:solidFill>
                <a:latin typeface="Arial"/>
              </a:defRPr>
            </a:pPr>
            <a:r>
              <a:t>эталонных наборов Kotlin</a:t>
            </a:r>
          </a:p>
        </p:txBody>
      </p:sp>
      <p:sp>
        <p:nvSpPr>
          <p:cNvPr id="12" name="TextBox 11"/>
          <p:cNvSpPr txBox="1"/>
          <p:nvPr/>
        </p:nvSpPr>
        <p:spPr>
          <a:xfrm>
            <a:off x="8183879" y="3657600"/>
            <a:ext cx="3474720" cy="1097280"/>
          </a:xfrm>
          <a:prstGeom prst="rect">
            <a:avLst/>
          </a:prstGeom>
          <a:noFill/>
        </p:spPr>
        <p:txBody>
          <a:bodyPr wrap="square" lIns="0" rIns="0" tIns="0" bIns="0">
            <a:spAutoFit/>
          </a:bodyPr>
          <a:lstStyle/>
          <a:p>
            <a:pPr>
              <a:spcAft>
                <a:spcPts val="400"/>
              </a:spcAft>
              <a:defRPr sz="7600" b="1">
                <a:solidFill>
                  <a:srgbClr val="FFD052"/>
                </a:solidFill>
                <a:latin typeface="Arial"/>
              </a:defRPr>
            </a:pPr>
            <a:r>
              <a:t>6</a:t>
            </a:r>
          </a:p>
        </p:txBody>
      </p:sp>
      <p:sp>
        <p:nvSpPr>
          <p:cNvPr id="13" name="TextBox 12"/>
          <p:cNvSpPr txBox="1"/>
          <p:nvPr/>
        </p:nvSpPr>
        <p:spPr>
          <a:xfrm>
            <a:off x="8229600" y="5029200"/>
            <a:ext cx="3291840" cy="731520"/>
          </a:xfrm>
          <a:prstGeom prst="rect">
            <a:avLst/>
          </a:prstGeom>
          <a:noFill/>
        </p:spPr>
        <p:txBody>
          <a:bodyPr wrap="square" lIns="0" rIns="0" tIns="0" bIns="0">
            <a:spAutoFit/>
          </a:bodyPr>
          <a:lstStyle/>
          <a:p>
            <a:pPr>
              <a:spcAft>
                <a:spcPts val="400"/>
              </a:spcAft>
              <a:defRPr sz="2000" b="0">
                <a:solidFill>
                  <a:srgbClr val="F4F6FA"/>
                </a:solidFill>
                <a:latin typeface="Arial"/>
              </a:defRPr>
            </a:pPr>
            <a:r>
              <a:t>проверок готовой сборки</a:t>
            </a:r>
          </a:p>
        </p:txBody>
      </p:sp>
      <p:sp>
        <p:nvSpPr>
          <p:cNvPr id="14" name="TextBox 13"/>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Срок и расходы — со слов автора; результаты тестов — протоколы PWA 3.0.0</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16 / 24</a:t>
            </a:r>
          </a:p>
        </p:txBody>
      </p:sp>
      <p:sp>
        <p:nvSpPr>
          <p:cNvPr id="5" name="Rectangle 4"/>
          <p:cNvSpPr/>
          <p:nvPr/>
        </p:nvSpPr>
        <p:spPr>
          <a:xfrm>
            <a:off x="0" y="6821424"/>
            <a:ext cx="8127796"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Три вида эффекта.</a:t>
            </a:r>
          </a:p>
          <a:p>
            <a:pPr>
              <a:spcAft>
                <a:spcPts val="400"/>
              </a:spcAft>
              <a:defRPr sz="4400" b="1">
                <a:solidFill>
                  <a:srgbClr val="F4F6FA"/>
                </a:solidFill>
                <a:latin typeface="Arial"/>
              </a:defRPr>
            </a:pPr>
            <a:r>
              <a:t>Разные доказательства.</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Экономику строим на измерениях, отдельно оценивая ресурс времени и риск событий.</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Время: замеры до/после на одинаковых операциях</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Ошибки: сценарии, отклонения и подтверждённые события</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Обучение: самостоятельное выполнение и обращения к наставнику</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Затраты: внедрение, проверка, устройства и сопровождение</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17 / 24</a:t>
            </a:r>
          </a:p>
        </p:txBody>
      </p:sp>
      <p:sp>
        <p:nvSpPr>
          <p:cNvPr id="5" name="Rectangle 4"/>
          <p:cNvSpPr/>
          <p:nvPr/>
        </p:nvSpPr>
        <p:spPr>
          <a:xfrm>
            <a:off x="0" y="6821424"/>
            <a:ext cx="8635784"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914400"/>
            <a:ext cx="10972800" cy="1463040"/>
          </a:xfrm>
          <a:prstGeom prst="rect">
            <a:avLst/>
          </a:prstGeom>
          <a:noFill/>
        </p:spPr>
        <p:txBody>
          <a:bodyPr wrap="square" lIns="0" rIns="0" tIns="0" bIns="0">
            <a:spAutoFit/>
          </a:bodyPr>
          <a:lstStyle/>
          <a:p>
            <a:pPr>
              <a:spcAft>
                <a:spcPts val="400"/>
              </a:spcAft>
              <a:defRPr sz="4400" b="1">
                <a:solidFill>
                  <a:srgbClr val="F4F6FA"/>
                </a:solidFill>
                <a:latin typeface="Arial"/>
              </a:defRPr>
            </a:pPr>
            <a:r>
              <a:t>Какой эффект</a:t>
            </a:r>
          </a:p>
          <a:p>
            <a:pPr>
              <a:spcAft>
                <a:spcPts val="400"/>
              </a:spcAft>
              <a:defRPr sz="4400" b="1">
                <a:solidFill>
                  <a:srgbClr val="F4F6FA"/>
                </a:solidFill>
                <a:latin typeface="Arial"/>
              </a:defRPr>
            </a:pPr>
            <a:r>
              <a:t>покроет внедрение?</a:t>
            </a:r>
          </a:p>
        </p:txBody>
      </p:sp>
      <p:sp>
        <p:nvSpPr>
          <p:cNvPr id="7" name="TextBox 6"/>
          <p:cNvSpPr txBox="1"/>
          <p:nvPr/>
        </p:nvSpPr>
        <p:spPr>
          <a:xfrm>
            <a:off x="640080" y="2606040"/>
            <a:ext cx="10698480" cy="731520"/>
          </a:xfrm>
          <a:prstGeom prst="rect">
            <a:avLst/>
          </a:prstGeom>
          <a:noFill/>
        </p:spPr>
        <p:txBody>
          <a:bodyPr wrap="square" lIns="0" rIns="0" tIns="0" bIns="0">
            <a:spAutoFit/>
          </a:bodyPr>
          <a:lstStyle/>
          <a:p>
            <a:pPr>
              <a:spcAft>
                <a:spcPts val="400"/>
              </a:spcAft>
              <a:defRPr sz="2300" b="0">
                <a:solidFill>
                  <a:srgbClr val="A9B3C5"/>
                </a:solidFill>
                <a:latin typeface="Arial"/>
              </a:defRPr>
            </a:pPr>
            <a:r>
              <a:t>Вместо неподтверждённой суммы — прозрачный порог окупаемости.</a:t>
            </a:r>
          </a:p>
        </p:txBody>
      </p:sp>
      <p:sp>
        <p:nvSpPr>
          <p:cNvPr id="8" name="Rounded Rectangle 7"/>
          <p:cNvSpPr/>
          <p:nvPr/>
        </p:nvSpPr>
        <p:spPr>
          <a:xfrm>
            <a:off x="731520" y="3611880"/>
            <a:ext cx="10698480" cy="557784"/>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03320"/>
            <a:ext cx="10241280" cy="393192"/>
          </a:xfrm>
          <a:prstGeom prst="rect">
            <a:avLst/>
          </a:prstGeom>
          <a:noFill/>
        </p:spPr>
        <p:txBody>
          <a:bodyPr wrap="square" lIns="0" rIns="0" tIns="0" bIns="0">
            <a:spAutoFit/>
          </a:bodyPr>
          <a:lstStyle/>
          <a:p>
            <a:pPr>
              <a:spcAft>
                <a:spcPts val="400"/>
              </a:spcAft>
              <a:defRPr sz="2500" b="0">
                <a:solidFill>
                  <a:srgbClr val="F4F6FA"/>
                </a:solidFill>
                <a:latin typeface="Arial"/>
              </a:defRPr>
            </a:pPr>
            <a:r>
              <a:t>Затраты первого года</a:t>
            </a:r>
          </a:p>
        </p:txBody>
      </p:sp>
      <p:sp>
        <p:nvSpPr>
          <p:cNvPr id="10" name="Rounded Rectangle 9"/>
          <p:cNvSpPr/>
          <p:nvPr/>
        </p:nvSpPr>
        <p:spPr>
          <a:xfrm>
            <a:off x="731520" y="4288536"/>
            <a:ext cx="10698480" cy="557784"/>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79976"/>
            <a:ext cx="10241280" cy="393192"/>
          </a:xfrm>
          <a:prstGeom prst="rect">
            <a:avLst/>
          </a:prstGeom>
          <a:noFill/>
        </p:spPr>
        <p:txBody>
          <a:bodyPr wrap="square" lIns="0" rIns="0" tIns="0" bIns="0">
            <a:spAutoFit/>
          </a:bodyPr>
          <a:lstStyle/>
          <a:p>
            <a:pPr>
              <a:spcAft>
                <a:spcPts val="400"/>
              </a:spcAft>
              <a:defRPr sz="2500" b="0">
                <a:solidFill>
                  <a:srgbClr val="F4F6FA"/>
                </a:solidFill>
                <a:latin typeface="Arial"/>
              </a:defRPr>
            </a:pPr>
            <a:r>
              <a:t>÷ подтверждённый эффект одного события</a:t>
            </a:r>
          </a:p>
        </p:txBody>
      </p:sp>
      <p:sp>
        <p:nvSpPr>
          <p:cNvPr id="12" name="Rounded Rectangle 11"/>
          <p:cNvSpPr/>
          <p:nvPr/>
        </p:nvSpPr>
        <p:spPr>
          <a:xfrm>
            <a:off x="731520" y="4965192"/>
            <a:ext cx="10698480" cy="557784"/>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56631"/>
            <a:ext cx="10241280" cy="393192"/>
          </a:xfrm>
          <a:prstGeom prst="rect">
            <a:avLst/>
          </a:prstGeom>
          <a:noFill/>
        </p:spPr>
        <p:txBody>
          <a:bodyPr wrap="square" lIns="0" rIns="0" tIns="0" bIns="0">
            <a:spAutoFit/>
          </a:bodyPr>
          <a:lstStyle/>
          <a:p>
            <a:pPr>
              <a:spcAft>
                <a:spcPts val="400"/>
              </a:spcAft>
              <a:defRPr sz="2500" b="1">
                <a:solidFill>
                  <a:srgbClr val="FFD052"/>
                </a:solidFill>
                <a:latin typeface="Arial"/>
              </a:defRPr>
            </a:pPr>
            <a:r>
              <a:t>= необходимое число событий</a:t>
            </a:r>
          </a:p>
        </p:txBody>
      </p:sp>
      <p:sp>
        <p:nvSpPr>
          <p:cNvPr id="14" name="TextBox 13"/>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Рабочая модель в Excel: отдельно эффект времени, событие, ожидание и затраты</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18 / 24</a:t>
            </a:r>
          </a:p>
        </p:txBody>
      </p:sp>
      <p:sp>
        <p:nvSpPr>
          <p:cNvPr id="5" name="Rectangle 4"/>
          <p:cNvSpPr/>
          <p:nvPr/>
        </p:nvSpPr>
        <p:spPr>
          <a:xfrm>
            <a:off x="0" y="6821424"/>
            <a:ext cx="9143771"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Предлагаю</a:t>
            </a:r>
          </a:p>
          <a:p>
            <a:pPr>
              <a:spcAft>
                <a:spcPts val="400"/>
              </a:spcAft>
              <a:defRPr sz="4400" b="1">
                <a:solidFill>
                  <a:srgbClr val="F4F6FA"/>
                </a:solidFill>
                <a:latin typeface="Arial"/>
              </a:defRPr>
            </a:pPr>
            <a:r>
              <a:t>измеримый пилот.</a:t>
            </a:r>
          </a:p>
        </p:txBody>
      </p:sp>
      <p:sp>
        <p:nvSpPr>
          <p:cNvPr id="7" name="TextBox 6"/>
          <p:cNvSpPr txBox="1"/>
          <p:nvPr/>
        </p:nvSpPr>
        <p:spPr>
          <a:xfrm>
            <a:off x="640080" y="2514600"/>
            <a:ext cx="10789920" cy="822960"/>
          </a:xfrm>
          <a:prstGeom prst="rect">
            <a:avLst/>
          </a:prstGeom>
          <a:noFill/>
        </p:spPr>
        <p:txBody>
          <a:bodyPr wrap="square" lIns="0" rIns="0" tIns="0" bIns="0">
            <a:spAutoFit/>
          </a:bodyPr>
          <a:lstStyle/>
          <a:p>
            <a:pPr>
              <a:spcAft>
                <a:spcPts val="400"/>
              </a:spcAft>
              <a:defRPr sz="2200" b="0">
                <a:solidFill>
                  <a:srgbClr val="A9B3C5"/>
                </a:solidFill>
                <a:latin typeface="Arial"/>
              </a:defRPr>
            </a:pPr>
            <a:r>
              <a:t>Проверить практическую пользу и техническую применимость перед расширением на ≈250 человек.</a:t>
            </a:r>
          </a:p>
        </p:txBody>
      </p:sp>
      <p:sp>
        <p:nvSpPr>
          <p:cNvPr id="8" name="Rounded Rectangle 7"/>
          <p:cNvSpPr/>
          <p:nvPr/>
        </p:nvSpPr>
        <p:spPr>
          <a:xfrm>
            <a:off x="640080" y="3703320"/>
            <a:ext cx="2606040" cy="1874519"/>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703320"/>
            <a:ext cx="2606040"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13632"/>
            <a:ext cx="2240280" cy="502920"/>
          </a:xfrm>
          <a:prstGeom prst="rect">
            <a:avLst/>
          </a:prstGeom>
          <a:noFill/>
        </p:spPr>
        <p:txBody>
          <a:bodyPr wrap="square" lIns="0" rIns="0" tIns="0" bIns="0">
            <a:spAutoFit/>
          </a:bodyPr>
          <a:lstStyle/>
          <a:p>
            <a:pPr>
              <a:spcAft>
                <a:spcPts val="400"/>
              </a:spcAft>
              <a:defRPr sz="2200" b="1">
                <a:solidFill>
                  <a:srgbClr val="FFD052"/>
                </a:solidFill>
                <a:latin typeface="Arial"/>
              </a:defRPr>
            </a:pPr>
            <a:r>
              <a:t>1. Подготовить</a:t>
            </a:r>
          </a:p>
        </p:txBody>
      </p:sp>
      <p:sp>
        <p:nvSpPr>
          <p:cNvPr id="11" name="TextBox 10"/>
          <p:cNvSpPr txBox="1"/>
          <p:nvPr/>
        </p:nvSpPr>
        <p:spPr>
          <a:xfrm>
            <a:off x="822960" y="4572000"/>
            <a:ext cx="2240280" cy="914400"/>
          </a:xfrm>
          <a:prstGeom prst="rect">
            <a:avLst/>
          </a:prstGeom>
          <a:noFill/>
        </p:spPr>
        <p:txBody>
          <a:bodyPr wrap="square" lIns="0" rIns="0" tIns="0" bIns="0">
            <a:spAutoFit/>
          </a:bodyPr>
          <a:lstStyle/>
          <a:p>
            <a:pPr>
              <a:spcAft>
                <a:spcPts val="400"/>
              </a:spcAft>
              <a:defRPr sz="1800" b="0">
                <a:solidFill>
                  <a:srgbClr val="F4F6FA"/>
                </a:solidFill>
                <a:latin typeface="Arial"/>
              </a:defRPr>
            </a:pPr>
            <a:r>
              <a:t>Источники, сценарии, участники, критерии</a:t>
            </a:r>
          </a:p>
        </p:txBody>
      </p:sp>
      <p:sp>
        <p:nvSpPr>
          <p:cNvPr id="12" name="Rounded Rectangle 11"/>
          <p:cNvSpPr/>
          <p:nvPr/>
        </p:nvSpPr>
        <p:spPr>
          <a:xfrm>
            <a:off x="3429000" y="3703320"/>
            <a:ext cx="2606040" cy="1874519"/>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3703320"/>
            <a:ext cx="2606040"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79" y="3913632"/>
            <a:ext cx="2240280" cy="502920"/>
          </a:xfrm>
          <a:prstGeom prst="rect">
            <a:avLst/>
          </a:prstGeom>
          <a:noFill/>
        </p:spPr>
        <p:txBody>
          <a:bodyPr wrap="square" lIns="0" rIns="0" tIns="0" bIns="0">
            <a:spAutoFit/>
          </a:bodyPr>
          <a:lstStyle/>
          <a:p>
            <a:pPr>
              <a:spcAft>
                <a:spcPts val="400"/>
              </a:spcAft>
              <a:defRPr sz="2200" b="1">
                <a:solidFill>
                  <a:srgbClr val="FFD052"/>
                </a:solidFill>
                <a:latin typeface="Arial"/>
              </a:defRPr>
            </a:pPr>
            <a:r>
              <a:t>2. Проверить</a:t>
            </a:r>
          </a:p>
        </p:txBody>
      </p:sp>
      <p:sp>
        <p:nvSpPr>
          <p:cNvPr id="15" name="TextBox 14"/>
          <p:cNvSpPr txBox="1"/>
          <p:nvPr/>
        </p:nvSpPr>
        <p:spPr>
          <a:xfrm>
            <a:off x="3611879" y="4572000"/>
            <a:ext cx="2240280" cy="914400"/>
          </a:xfrm>
          <a:prstGeom prst="rect">
            <a:avLst/>
          </a:prstGeom>
          <a:noFill/>
        </p:spPr>
        <p:txBody>
          <a:bodyPr wrap="square" lIns="0" rIns="0" tIns="0" bIns="0">
            <a:spAutoFit/>
          </a:bodyPr>
          <a:lstStyle/>
          <a:p>
            <a:pPr>
              <a:spcAft>
                <a:spcPts val="400"/>
              </a:spcAft>
              <a:defRPr sz="1800" b="0">
                <a:solidFill>
                  <a:srgbClr val="F4F6FA"/>
                </a:solidFill>
                <a:latin typeface="Arial"/>
              </a:defRPr>
            </a:pPr>
            <a:r>
              <a:t>Телефоны, офлайн, обучение, исходный хронометраж</a:t>
            </a:r>
          </a:p>
        </p:txBody>
      </p:sp>
      <p:sp>
        <p:nvSpPr>
          <p:cNvPr id="16" name="Rounded Rectangle 15"/>
          <p:cNvSpPr/>
          <p:nvPr/>
        </p:nvSpPr>
        <p:spPr>
          <a:xfrm>
            <a:off x="6217920" y="3703320"/>
            <a:ext cx="2606040" cy="1874519"/>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703320"/>
            <a:ext cx="2606040"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913632"/>
            <a:ext cx="2240280" cy="502920"/>
          </a:xfrm>
          <a:prstGeom prst="rect">
            <a:avLst/>
          </a:prstGeom>
          <a:noFill/>
        </p:spPr>
        <p:txBody>
          <a:bodyPr wrap="square" lIns="0" rIns="0" tIns="0" bIns="0">
            <a:spAutoFit/>
          </a:bodyPr>
          <a:lstStyle/>
          <a:p>
            <a:pPr>
              <a:spcAft>
                <a:spcPts val="400"/>
              </a:spcAft>
              <a:defRPr sz="2200" b="1">
                <a:solidFill>
                  <a:srgbClr val="FFD052"/>
                </a:solidFill>
                <a:latin typeface="Arial"/>
              </a:defRPr>
            </a:pPr>
            <a:r>
              <a:t>3. Измерить</a:t>
            </a:r>
          </a:p>
        </p:txBody>
      </p:sp>
      <p:sp>
        <p:nvSpPr>
          <p:cNvPr id="19" name="TextBox 18"/>
          <p:cNvSpPr txBox="1"/>
          <p:nvPr/>
        </p:nvSpPr>
        <p:spPr>
          <a:xfrm>
            <a:off x="6400800" y="4572000"/>
            <a:ext cx="2240280" cy="914400"/>
          </a:xfrm>
          <a:prstGeom prst="rect">
            <a:avLst/>
          </a:prstGeom>
          <a:noFill/>
        </p:spPr>
        <p:txBody>
          <a:bodyPr wrap="square" lIns="0" rIns="0" tIns="0" bIns="0">
            <a:spAutoFit/>
          </a:bodyPr>
          <a:lstStyle/>
          <a:p>
            <a:pPr>
              <a:spcAft>
                <a:spcPts val="400"/>
              </a:spcAft>
              <a:defRPr sz="1800" b="0">
                <a:solidFill>
                  <a:srgbClr val="F4F6FA"/>
                </a:solidFill>
                <a:latin typeface="Arial"/>
              </a:defRPr>
            </a:pPr>
            <a:r>
              <a:t>Время, отклонения, успешность действий, отзывы</a:t>
            </a:r>
          </a:p>
        </p:txBody>
      </p:sp>
      <p:sp>
        <p:nvSpPr>
          <p:cNvPr id="20" name="Rounded Rectangle 19"/>
          <p:cNvSpPr/>
          <p:nvPr/>
        </p:nvSpPr>
        <p:spPr>
          <a:xfrm>
            <a:off x="9006839" y="3703320"/>
            <a:ext cx="2606040" cy="1874519"/>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39" y="3703320"/>
            <a:ext cx="2606040"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19" y="3913632"/>
            <a:ext cx="2240280" cy="502920"/>
          </a:xfrm>
          <a:prstGeom prst="rect">
            <a:avLst/>
          </a:prstGeom>
          <a:noFill/>
        </p:spPr>
        <p:txBody>
          <a:bodyPr wrap="square" lIns="0" rIns="0" tIns="0" bIns="0">
            <a:spAutoFit/>
          </a:bodyPr>
          <a:lstStyle/>
          <a:p>
            <a:pPr>
              <a:spcAft>
                <a:spcPts val="400"/>
              </a:spcAft>
              <a:defRPr sz="2200" b="1">
                <a:solidFill>
                  <a:srgbClr val="FFD052"/>
                </a:solidFill>
                <a:latin typeface="Arial"/>
              </a:defRPr>
            </a:pPr>
            <a:r>
              <a:t>4. Оценить</a:t>
            </a:r>
          </a:p>
        </p:txBody>
      </p:sp>
      <p:sp>
        <p:nvSpPr>
          <p:cNvPr id="23" name="TextBox 22"/>
          <p:cNvSpPr txBox="1"/>
          <p:nvPr/>
        </p:nvSpPr>
        <p:spPr>
          <a:xfrm>
            <a:off x="9189719" y="4572000"/>
            <a:ext cx="2240280" cy="914400"/>
          </a:xfrm>
          <a:prstGeom prst="rect">
            <a:avLst/>
          </a:prstGeom>
          <a:noFill/>
        </p:spPr>
        <p:txBody>
          <a:bodyPr wrap="square" lIns="0" rIns="0" tIns="0" bIns="0">
            <a:spAutoFit/>
          </a:bodyPr>
          <a:lstStyle/>
          <a:p>
            <a:pPr>
              <a:spcAft>
                <a:spcPts val="400"/>
              </a:spcAft>
              <a:defRPr sz="1800" b="0">
                <a:solidFill>
                  <a:srgbClr val="F4F6FA"/>
                </a:solidFill>
                <a:latin typeface="Arial"/>
              </a:defRPr>
            </a:pPr>
            <a:r>
              <a:t>Эффект, затраты, ограничения и решение</a:t>
            </a:r>
          </a:p>
        </p:txBody>
      </p:sp>
      <p:sp>
        <p:nvSpPr>
          <p:cNvPr id="24" name="TextBox 23"/>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Предложение автора; сроки, состав группы и бюджет не утверждены</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САНЫЧ-6 · ПРОЕКТ ВНЕДРЕНИЯ</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19 / 24</a:t>
            </a:r>
          </a:p>
        </p:txBody>
      </p:sp>
      <p:sp>
        <p:nvSpPr>
          <p:cNvPr id="5" name="Rectangle 4"/>
          <p:cNvSpPr/>
          <p:nvPr/>
        </p:nvSpPr>
        <p:spPr>
          <a:xfrm>
            <a:off x="0" y="6821424"/>
            <a:ext cx="9651758"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640080" y="914400"/>
            <a:ext cx="10972800" cy="2423160"/>
          </a:xfrm>
          <a:prstGeom prst="rect">
            <a:avLst/>
          </a:prstGeom>
          <a:noFill/>
        </p:spPr>
        <p:txBody>
          <a:bodyPr wrap="square" lIns="0" rIns="0" tIns="0" bIns="0">
            <a:spAutoFit/>
          </a:bodyPr>
          <a:lstStyle/>
          <a:p>
            <a:pPr>
              <a:spcAft>
                <a:spcPts val="400"/>
              </a:spcAft>
              <a:defRPr sz="4600" b="1">
                <a:solidFill>
                  <a:srgbClr val="F4F6FA"/>
                </a:solidFill>
                <a:latin typeface="Arial"/>
              </a:defRPr>
            </a:pPr>
            <a:r>
              <a:t>Согласовать пилот.</a:t>
            </a:r>
          </a:p>
          <a:p>
            <a:pPr>
              <a:spcAft>
                <a:spcPts val="400"/>
              </a:spcAft>
              <a:defRPr sz="4600" b="1">
                <a:solidFill>
                  <a:srgbClr val="F4F6FA"/>
                </a:solidFill>
                <a:latin typeface="Arial"/>
              </a:defRPr>
            </a:pPr>
            <a:r>
              <a:t>Проверить эффект.</a:t>
            </a:r>
          </a:p>
          <a:p>
            <a:pPr>
              <a:spcAft>
                <a:spcPts val="400"/>
              </a:spcAft>
              <a:defRPr sz="4600" b="1">
                <a:solidFill>
                  <a:srgbClr val="F4F6FA"/>
                </a:solidFill>
                <a:latin typeface="Arial"/>
              </a:defRPr>
            </a:pPr>
            <a:r>
              <a:t>Принять решение.</a:t>
            </a:r>
          </a:p>
        </p:txBody>
      </p:sp>
      <p:sp>
        <p:nvSpPr>
          <p:cNvPr id="7" name="TextBox 6"/>
          <p:cNvSpPr txBox="1"/>
          <p:nvPr/>
        </p:nvSpPr>
        <p:spPr>
          <a:xfrm>
            <a:off x="685800" y="3657600"/>
            <a:ext cx="10698480" cy="594360"/>
          </a:xfrm>
          <a:prstGeom prst="rect">
            <a:avLst/>
          </a:prstGeom>
          <a:noFill/>
        </p:spPr>
        <p:txBody>
          <a:bodyPr wrap="square" lIns="0" rIns="0" tIns="0" bIns="0">
            <a:spAutoFit/>
          </a:bodyPr>
          <a:lstStyle/>
          <a:p>
            <a:pPr>
              <a:spcAft>
                <a:spcPts val="400"/>
              </a:spcAft>
              <a:defRPr sz="2400" b="0">
                <a:solidFill>
                  <a:srgbClr val="FFD052"/>
                </a:solidFill>
                <a:latin typeface="Arial"/>
              </a:defRPr>
            </a:pPr>
            <a:r>
              <a:t>Саныч-6 — рабочая основа для следующего шага.</a:t>
            </a:r>
          </a:p>
        </p:txBody>
      </p:sp>
      <p:sp>
        <p:nvSpPr>
          <p:cNvPr id="8" name="TextBox 7"/>
          <p:cNvSpPr txBox="1"/>
          <p:nvPr/>
        </p:nvSpPr>
        <p:spPr>
          <a:xfrm>
            <a:off x="731520" y="4526280"/>
            <a:ext cx="10698480" cy="384048"/>
          </a:xfrm>
          <a:prstGeom prst="rect">
            <a:avLst/>
          </a:prstGeom>
          <a:noFill/>
        </p:spPr>
        <p:txBody>
          <a:bodyPr wrap="square" lIns="0" rIns="0" tIns="0" bIns="0">
            <a:spAutoFit/>
          </a:bodyPr>
          <a:lstStyle/>
          <a:p>
            <a:pPr>
              <a:spcAft>
                <a:spcPts val="400"/>
              </a:spcAft>
              <a:defRPr sz="2100" b="0">
                <a:solidFill>
                  <a:srgbClr val="A9B3C5"/>
                </a:solidFill>
                <a:latin typeface="Arial"/>
              </a:defRPr>
            </a:pPr>
            <a:r>
              <a:t>→ Назначить владельца от цеха и технологической службы</a:t>
            </a:r>
          </a:p>
        </p:txBody>
      </p:sp>
      <p:sp>
        <p:nvSpPr>
          <p:cNvPr id="9" name="TextBox 8"/>
          <p:cNvSpPr txBox="1"/>
          <p:nvPr/>
        </p:nvSpPr>
        <p:spPr>
          <a:xfrm>
            <a:off x="731520" y="4974336"/>
            <a:ext cx="10698480" cy="384048"/>
          </a:xfrm>
          <a:prstGeom prst="rect">
            <a:avLst/>
          </a:prstGeom>
          <a:noFill/>
        </p:spPr>
        <p:txBody>
          <a:bodyPr wrap="square" lIns="0" rIns="0" tIns="0" bIns="0">
            <a:spAutoFit/>
          </a:bodyPr>
          <a:lstStyle/>
          <a:p>
            <a:pPr>
              <a:spcAft>
                <a:spcPts val="400"/>
              </a:spcAft>
              <a:defRPr sz="2100" b="0">
                <a:solidFill>
                  <a:srgbClr val="A9B3C5"/>
                </a:solidFill>
                <a:latin typeface="Arial"/>
              </a:defRPr>
            </a:pPr>
            <a:r>
              <a:t>→ Согласовать ИТ, документы и устройство показа</a:t>
            </a:r>
          </a:p>
        </p:txBody>
      </p:sp>
      <p:sp>
        <p:nvSpPr>
          <p:cNvPr id="10" name="TextBox 9"/>
          <p:cNvSpPr txBox="1"/>
          <p:nvPr/>
        </p:nvSpPr>
        <p:spPr>
          <a:xfrm>
            <a:off x="731520" y="5422392"/>
            <a:ext cx="10698480" cy="384048"/>
          </a:xfrm>
          <a:prstGeom prst="rect">
            <a:avLst/>
          </a:prstGeom>
          <a:noFill/>
        </p:spPr>
        <p:txBody>
          <a:bodyPr wrap="square" lIns="0" rIns="0" tIns="0" bIns="0">
            <a:spAutoFit/>
          </a:bodyPr>
          <a:lstStyle/>
          <a:p>
            <a:pPr>
              <a:spcAft>
                <a:spcPts val="400"/>
              </a:spcAft>
              <a:defRPr sz="2100" b="0">
                <a:solidFill>
                  <a:srgbClr val="A9B3C5"/>
                </a:solidFill>
                <a:latin typeface="Arial"/>
              </a:defRPr>
            </a:pPr>
            <a:r>
              <a:t>→ Определить группу, сценарии и критерии успеха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p14:dur="900">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ПРИЛОЖЕНИЕ К ЗАЩИТЕ</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20 / 24</a:t>
            </a:r>
          </a:p>
        </p:txBody>
      </p:sp>
      <p:sp>
        <p:nvSpPr>
          <p:cNvPr id="5" name="Rectangle 4"/>
          <p:cNvSpPr/>
          <p:nvPr/>
        </p:nvSpPr>
        <p:spPr>
          <a:xfrm>
            <a:off x="0" y="6821424"/>
            <a:ext cx="10159746"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Резерв · Примеры</a:t>
            </a:r>
          </a:p>
          <a:p>
            <a:pPr>
              <a:spcAft>
                <a:spcPts val="400"/>
              </a:spcAft>
              <a:defRPr sz="4400" b="1">
                <a:solidFill>
                  <a:srgbClr val="F4F6FA"/>
                </a:solidFill>
                <a:latin typeface="Arial"/>
              </a:defRPr>
            </a:pPr>
            <a:r>
              <a:t>проверяемых расчётов.</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Для ответа на технические вопросы.</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Дебит: Q = 86,4 × V / t; литры и секунды</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Охлаждение: Qфакт = Qном × (Iраб / Iном)²</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Уровень: глубина с учётом удлинения, давлений и плотности</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Отпайка: исходное напряжение, потери кабеля и вариант ЧРП</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calculator/*.kt, экраны Android, js/math.js и протоколы сопоставления</a:t>
            </a:r>
          </a:p>
        </p:txBody>
      </p:sp>
    </p:spTree>
  </p:cSld>
  <p:clrMapOvr>
    <a:masterClrMapping/>
  </p:clrMapOvr>
  <p:transition spd="slow">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ПРИЛОЖЕНИЕ К ЗАЩИТЕ</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21 / 24</a:t>
            </a:r>
          </a:p>
        </p:txBody>
      </p:sp>
      <p:sp>
        <p:nvSpPr>
          <p:cNvPr id="5" name="Rectangle 4"/>
          <p:cNvSpPr/>
          <p:nvPr/>
        </p:nvSpPr>
        <p:spPr>
          <a:xfrm>
            <a:off x="0" y="6821424"/>
            <a:ext cx="10667733"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Резерв · Экономика</a:t>
            </a:r>
          </a:p>
          <a:p>
            <a:pPr>
              <a:spcAft>
                <a:spcPts val="400"/>
              </a:spcAft>
              <a:defRPr sz="4400" b="1">
                <a:solidFill>
                  <a:srgbClr val="F4F6FA"/>
                </a:solidFill>
                <a:latin typeface="Arial"/>
              </a:defRPr>
            </a:pPr>
            <a:r>
              <a:t>по составляющим.</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Все неизвестные показатели вводятся отдельно и получают источник подтверждения.</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Время = активные пользователи × операции × экономия минут</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Эффект события = прямые расходы + согласованные потери добычи</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Ожидание = частота событий × снижение × вклад приложения × эффект</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Первый год = подтверждённые эффекты − старт − сопровождение</a:t>
            </a:r>
          </a:p>
        </p:txBody>
      </p:sp>
    </p:spTree>
  </p:cSld>
  <p:clrMapOvr>
    <a:masterClrMapping/>
  </p:clrMapOvr>
  <p:transition spd="slow">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ПРИЛОЖЕНИЕ К ЗАЩИТЕ</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22 / 24</a:t>
            </a:r>
          </a:p>
        </p:txBody>
      </p:sp>
      <p:sp>
        <p:nvSpPr>
          <p:cNvPr id="5" name="Rectangle 4"/>
          <p:cNvSpPr/>
          <p:nvPr/>
        </p:nvSpPr>
        <p:spPr>
          <a:xfrm>
            <a:off x="0" y="6821424"/>
            <a:ext cx="11175720"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Резерв · Реестр</a:t>
            </a:r>
          </a:p>
          <a:p>
            <a:pPr>
              <a:spcAft>
                <a:spcPts val="400"/>
              </a:spcAft>
              <a:defRPr sz="4400" b="1">
                <a:solidFill>
                  <a:srgbClr val="F4F6FA"/>
                </a:solidFill>
                <a:latin typeface="Arial"/>
              </a:defRPr>
            </a:pPr>
            <a:r>
              <a:t>источников.</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Два документальных направления имеют разные статусы подтверждения.</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ВНР: № П1-01.05 ТИ-0009 ЮЛ-099, версия 7; распоряжение 16.10.2025 № 2345</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«Инструкции по промышленной безопасности и охране труда для работников структурных подразделений ООО „РН-Юганскнефтегаз“»</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Пять томов — со слов автора; номера, даты редакций и привязку к функциям нужно сверить</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Android: исходные формулы, база ПЭД, таблицы и фотографии станций</a:t>
            </a:r>
          </a:p>
        </p:txBody>
      </p:sp>
    </p:spTree>
  </p:cSld>
  <p:clrMapOvr>
    <a:masterClrMapping/>
  </p:clrMapOvr>
  <p:transition spd="slow">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ПРИЛОЖЕНИЕ К ЗАЩИТЕ</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23 / 24</a:t>
            </a:r>
          </a:p>
        </p:txBody>
      </p:sp>
      <p:sp>
        <p:nvSpPr>
          <p:cNvPr id="5" name="Rectangle 4"/>
          <p:cNvSpPr/>
          <p:nvPr/>
        </p:nvSpPr>
        <p:spPr>
          <a:xfrm>
            <a:off x="0" y="6821424"/>
            <a:ext cx="11683707"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Резерв · Дополнительные</a:t>
            </a:r>
          </a:p>
          <a:p>
            <a:pPr>
              <a:spcAft>
                <a:spcPts val="400"/>
              </a:spcAft>
              <a:defRPr sz="4400" b="1">
                <a:solidFill>
                  <a:srgbClr val="F4F6FA"/>
                </a:solidFill>
                <a:latin typeface="Arial"/>
              </a:defRPr>
            </a:pPr>
            <a:r>
              <a:t>учебные материалы.</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Использованы для обоснования контекста, а не для заявления новых функций приложения.</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«Подбор УЭЦН к скважине»: 44 страницы; сбор данных, фактический режим, охлаждение и износ</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«Алгоритм подбора УЭЦН в ПО RosPump»: 23 страницы; пример подбора в специализированной системе, 2021 г.</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«Модуль Качество данных»: 50 страниц; влияние ошибок параметров и сопоставления, май 2022 г.</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1700" b="0">
                <a:solidFill>
                  <a:srgbClr val="F4F6FA"/>
                </a:solidFill>
                <a:latin typeface="Arial"/>
              </a:defRPr>
            </a:pPr>
            <a:r>
              <a:t>Видео «Смена УЭЦН» и «Регламентные отчёты»: не изучены — превышен лимит передачи 32 МиБ</a:t>
            </a:r>
          </a:p>
        </p:txBody>
      </p:sp>
      <p:sp>
        <p:nvSpPr>
          <p:cNvPr id="16" name="TextBox 15"/>
          <p:cNvSpPr txBox="1"/>
          <p:nvPr/>
        </p:nvSpPr>
        <p:spPr>
          <a:xfrm>
            <a:off x="658368" y="5998464"/>
            <a:ext cx="10789920" cy="310896"/>
          </a:xfrm>
          <a:prstGeom prst="rect">
            <a:avLst/>
          </a:prstGeom>
          <a:noFill/>
        </p:spPr>
        <p:txBody>
          <a:bodyPr wrap="square" lIns="0" rIns="0" tIns="0" bIns="0">
            <a:spAutoFit/>
          </a:bodyPr>
          <a:lstStyle/>
          <a:p>
            <a:pPr>
              <a:spcAft>
                <a:spcPts val="400"/>
              </a:spcAft>
              <a:defRPr sz="1000" b="0">
                <a:solidFill>
                  <a:srgbClr val="A9B3C5"/>
                </a:solidFill>
                <a:latin typeface="Arial"/>
              </a:defRPr>
            </a:pPr>
            <a:r>
              <a:t>Предоставленные пользователем материалы; номера страниц — по порядку PDF</a:t>
            </a:r>
          </a:p>
        </p:txBody>
      </p:sp>
    </p:spTree>
  </p:cSld>
  <p:clrMapOvr>
    <a:masterClrMapping/>
  </p:clrMapOvr>
  <p:transition spd="slow">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90D14"/>
        </a:solidFill>
        <a:effectLst/>
      </p:bgPr>
    </p:bg>
    <p:spTree>
      <p:nvGrpSpPr>
        <p:cNvPr id="1" name=""/>
        <p:cNvGrpSpPr/>
        <p:nvPr/>
      </p:nvGrpSpPr>
      <p:grpSpPr/>
      <p:sp>
        <p:nvSpPr>
          <p:cNvPr id="2" name="TextBox 1"/>
          <p:cNvSpPr txBox="1"/>
          <p:nvPr/>
        </p:nvSpPr>
        <p:spPr>
          <a:xfrm>
            <a:off x="594360" y="274320"/>
            <a:ext cx="10058400" cy="274320"/>
          </a:xfrm>
          <a:prstGeom prst="rect">
            <a:avLst/>
          </a:prstGeom>
          <a:noFill/>
        </p:spPr>
        <p:txBody>
          <a:bodyPr wrap="square" lIns="0" rIns="0" tIns="0" bIns="0">
            <a:spAutoFit/>
          </a:bodyPr>
          <a:lstStyle/>
          <a:p>
            <a:pPr>
              <a:spcAft>
                <a:spcPts val="400"/>
              </a:spcAft>
              <a:defRPr sz="1100" b="1">
                <a:solidFill>
                  <a:srgbClr val="FFD052"/>
                </a:solidFill>
                <a:latin typeface="Arial"/>
              </a:defRPr>
            </a:pPr>
            <a:r>
              <a:t>ПРИЛОЖЕНИЕ К ЗАЩИТЕ</a:t>
            </a:r>
          </a:p>
        </p:txBody>
      </p:sp>
      <p:sp>
        <p:nvSpPr>
          <p:cNvPr id="3" name="TextBox 2"/>
          <p:cNvSpPr txBox="1"/>
          <p:nvPr/>
        </p:nvSpPr>
        <p:spPr>
          <a:xfrm>
            <a:off x="594360" y="6419088"/>
            <a:ext cx="9601200" cy="228600"/>
          </a:xfrm>
          <a:prstGeom prst="rect">
            <a:avLst/>
          </a:prstGeom>
          <a:noFill/>
        </p:spPr>
        <p:txBody>
          <a:bodyPr wrap="square" lIns="0" rIns="0" tIns="0" bIns="0">
            <a:spAutoFit/>
          </a:bodyPr>
          <a:lstStyle/>
          <a:p>
            <a:pPr>
              <a:spcAft>
                <a:spcPts val="400"/>
              </a:spcAft>
              <a:defRPr sz="1000" b="0">
                <a:solidFill>
                  <a:srgbClr val="A9B3C5"/>
                </a:solidFill>
                <a:latin typeface="Arial"/>
              </a:defRPr>
            </a:pPr>
            <a:r>
              <a:t>ООО «РН-Юганскнефтегаз» · проект для обсуждения</a:t>
            </a:r>
          </a:p>
        </p:txBody>
      </p:sp>
      <p:sp>
        <p:nvSpPr>
          <p:cNvPr id="4" name="TextBox 3"/>
          <p:cNvSpPr txBox="1"/>
          <p:nvPr/>
        </p:nvSpPr>
        <p:spPr>
          <a:xfrm>
            <a:off x="10991088" y="6419088"/>
            <a:ext cx="731520" cy="228600"/>
          </a:xfrm>
          <a:prstGeom prst="rect">
            <a:avLst/>
          </a:prstGeom>
          <a:noFill/>
        </p:spPr>
        <p:txBody>
          <a:bodyPr wrap="square" lIns="0" rIns="0" tIns="0" bIns="0">
            <a:spAutoFit/>
          </a:bodyPr>
          <a:lstStyle/>
          <a:p>
            <a:pPr>
              <a:spcAft>
                <a:spcPts val="400"/>
              </a:spcAft>
              <a:defRPr sz="1000" b="0">
                <a:solidFill>
                  <a:srgbClr val="FFD052"/>
                </a:solidFill>
                <a:latin typeface="Arial"/>
              </a:defRPr>
            </a:pPr>
            <a:r>
              <a:t>24 / 24</a:t>
            </a:r>
          </a:p>
        </p:txBody>
      </p:sp>
      <p:sp>
        <p:nvSpPr>
          <p:cNvPr id="5" name="Rectangle 4"/>
          <p:cNvSpPr/>
          <p:nvPr/>
        </p:nvSpPr>
        <p:spPr>
          <a:xfrm>
            <a:off x="0" y="6821424"/>
            <a:ext cx="12191695" cy="36576"/>
          </a:xfrm>
          <a:prstGeom prst="rect">
            <a:avLst/>
          </a:prstGeom>
          <a:solidFill>
            <a:srgbClr val="FFD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roTitle"/>
          <p:cNvSpPr txBox="1"/>
          <p:nvPr/>
        </p:nvSpPr>
        <p:spPr>
          <a:xfrm>
            <a:off x="594360" y="868680"/>
            <a:ext cx="10972800" cy="1417320"/>
          </a:xfrm>
          <a:prstGeom prst="rect">
            <a:avLst/>
          </a:prstGeom>
          <a:noFill/>
        </p:spPr>
        <p:txBody>
          <a:bodyPr wrap="square" lIns="0" rIns="0" tIns="0" bIns="0">
            <a:spAutoFit/>
          </a:bodyPr>
          <a:lstStyle/>
          <a:p>
            <a:pPr>
              <a:spcAft>
                <a:spcPts val="400"/>
              </a:spcAft>
              <a:defRPr sz="4400" b="1">
                <a:solidFill>
                  <a:srgbClr val="F4F6FA"/>
                </a:solidFill>
                <a:latin typeface="Arial"/>
              </a:defRPr>
            </a:pPr>
            <a:r>
              <a:t>Резерв · Границы</a:t>
            </a:r>
          </a:p>
          <a:p>
            <a:pPr>
              <a:spcAft>
                <a:spcPts val="400"/>
              </a:spcAft>
              <a:defRPr sz="4400" b="1">
                <a:solidFill>
                  <a:srgbClr val="F4F6FA"/>
                </a:solidFill>
                <a:latin typeface="Arial"/>
              </a:defRPr>
            </a:pPr>
            <a:r>
              <a:t>текущей версии.</a:t>
            </a:r>
          </a:p>
        </p:txBody>
      </p:sp>
      <p:sp>
        <p:nvSpPr>
          <p:cNvPr id="7" name="TextBox 6"/>
          <p:cNvSpPr txBox="1"/>
          <p:nvPr/>
        </p:nvSpPr>
        <p:spPr>
          <a:xfrm>
            <a:off x="640080" y="2523744"/>
            <a:ext cx="10789920" cy="685800"/>
          </a:xfrm>
          <a:prstGeom prst="rect">
            <a:avLst/>
          </a:prstGeom>
          <a:noFill/>
        </p:spPr>
        <p:txBody>
          <a:bodyPr wrap="square" lIns="0" rIns="0" tIns="0" bIns="0">
            <a:spAutoFit/>
          </a:bodyPr>
          <a:lstStyle/>
          <a:p>
            <a:pPr>
              <a:spcAft>
                <a:spcPts val="400"/>
              </a:spcAft>
              <a:defRPr sz="2200" b="0">
                <a:solidFill>
                  <a:srgbClr val="A9B3C5"/>
                </a:solidFill>
                <a:latin typeface="Arial"/>
              </a:defRPr>
            </a:pPr>
            <a:r>
              <a:t>Открытые вопросы включаются в план пилота и сопровождения.</a:t>
            </a:r>
          </a:p>
        </p:txBody>
      </p:sp>
      <p:sp>
        <p:nvSpPr>
          <p:cNvPr id="8" name="Rounded Rectangle 7"/>
          <p:cNvSpPr/>
          <p:nvPr/>
        </p:nvSpPr>
        <p:spPr>
          <a:xfrm>
            <a:off x="6400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Нет управления станцией и автоматической блокировки ошибочных уставок</a:t>
            </a:r>
          </a:p>
        </p:txBody>
      </p:sp>
      <p:sp>
        <p:nvSpPr>
          <p:cNvPr id="10" name="Rounded Rectangle 9"/>
          <p:cNvSpPr/>
          <p:nvPr/>
        </p:nvSpPr>
        <p:spPr>
          <a:xfrm>
            <a:off x="6126480" y="3493008"/>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611879"/>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История и закладки локальные; общего корпоративного журнала нет</a:t>
            </a:r>
          </a:p>
        </p:txBody>
      </p:sp>
      <p:sp>
        <p:nvSpPr>
          <p:cNvPr id="12" name="Rounded Rectangle 11"/>
          <p:cNvSpPr/>
          <p:nvPr/>
        </p:nvSpPr>
        <p:spPr>
          <a:xfrm>
            <a:off x="6400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Реальный iPhone/Safari требуют проверки; Android APK с закладками не собран</a:t>
            </a:r>
          </a:p>
        </p:txBody>
      </p:sp>
      <p:sp>
        <p:nvSpPr>
          <p:cNvPr id="14" name="Rounded Rectangle 13"/>
          <p:cNvSpPr/>
          <p:nvPr/>
        </p:nvSpPr>
        <p:spPr>
          <a:xfrm>
            <a:off x="6126480" y="4700016"/>
            <a:ext cx="5257800" cy="1051560"/>
          </a:xfrm>
          <a:prstGeom prst="roundRect">
            <a:avLst>
              <a:gd name="adj" fmla="val 12000"/>
            </a:avLst>
          </a:prstGeom>
          <a:solidFill>
            <a:srgbClr val="14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818888"/>
            <a:ext cx="4919472" cy="868680"/>
          </a:xfrm>
          <a:prstGeom prst="rect">
            <a:avLst/>
          </a:prstGeom>
          <a:noFill/>
        </p:spPr>
        <p:txBody>
          <a:bodyPr wrap="square" lIns="0" rIns="0" tIns="0" bIns="0">
            <a:spAutoFit/>
          </a:bodyPr>
          <a:lstStyle/>
          <a:p>
            <a:pPr>
              <a:spcAft>
                <a:spcPts val="400"/>
              </a:spcAft>
              <a:defRPr sz="2000" b="0">
                <a:solidFill>
                  <a:srgbClr val="F4F6FA"/>
                </a:solidFill>
                <a:latin typeface="Arial"/>
              </a:defRPr>
            </a:pPr>
            <a:r>
              <a:t>Нужны проверка материалов, редакций документов и корпоративного размещения</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