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САНЫЧ-6</a:t>
            </a:r>
          </a:p>
          <a:p>
            <a:r>
              <a:t>Цифровой помощник оператора</a:t>
            </a:r>
          </a:p>
          <a:p>
            <a:r>
              <a:t>добычи нефти и газа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Автор проекта</a:t>
            </a:r>
          </a:p>
          <a:p>
            <a:r>
              <a:t>[ФИО]</a:t>
            </a:r>
          </a:p>
          <a:p>
            <a:r>
              <a:t>[Должность · цех]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>
            <a:r>
              <a:t>Автор: заменить заполнители точными данными и портретом.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Рабочая задача</a:t>
            </a:r>
          </a:p>
          <a:p>
            <a:r>
              <a:t>Расчёт. Замер. Нужная инструкция.</a:t>
            </a:r>
          </a:p>
          <a:p>
            <a:r>
              <a:t>Информация нужна на месте работы.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 проекта</a:t>
            </a:r>
          </a:p>
          <a:p>
            <a:r>
              <a:t>Упростить доступ оператора</a:t>
            </a:r>
          </a:p>
          <a:p>
            <a:r>
              <a:t>к проверенным расчётам</a:t>
            </a:r>
          </a:p>
          <a:p>
            <a:r>
              <a:t>и рабочим материалам.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Задачи</a:t>
            </a:r>
          </a:p>
          <a:p>
            <a:r>
              <a:t>Объединить расчёты и справочники.</a:t>
            </a:r>
          </a:p>
          <a:p>
            <a:r>
              <a:t>Упростить замеры и историю.</a:t>
            </a:r>
          </a:p>
          <a:p>
            <a:r>
              <a:t>Подготовить материалы для офлайна.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Инструменты одной смены</a:t>
            </a:r>
          </a:p>
          <a:p>
            <a:r>
              <a:t>Ручной замер · охлаждение ПЭД</a:t>
            </a:r>
          </a:p>
          <a:p>
            <a:r>
              <a:t>Разгон и РИЧ · регламент ВНР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Ручной замер</a:t>
            </a:r>
          </a:p>
          <a:p>
            <a:r>
              <a:t>Запуск секундомера → объём → результат.</a:t>
            </a:r>
          </a:p>
          <a:p>
            <a:r>
              <a:t>История измерений на устройстве.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144 м³/сут</a:t>
            </a:r>
          </a:p>
          <a:p>
            <a:r>
              <a:t>100 литров за 60 секунд.</a:t>
            </a:r>
          </a:p>
          <a:p>
            <a:r>
              <a:t>Проверяемый математический пример.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Охлаждение ПЭД</a:t>
            </a:r>
          </a:p>
          <a:p>
            <a:r>
              <a:t>Исходные параметры → расчёт.</a:t>
            </a:r>
          </a:p>
          <a:p>
            <a:r>
              <a:t>Применимость оценивает специалист.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Разгон</a:t>
            </a:r>
          </a:p>
          <a:p>
            <a:r>
              <a:t>Выбор станции.</a:t>
            </a:r>
          </a:p>
          <a:p>
            <a:r>
              <a:t>Инструкция и фотографии своей модели.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РИЧ</a:t>
            </a:r>
          </a:p>
          <a:p>
            <a:r>
              <a:t>Своя последовательность действий.</a:t>
            </a:r>
          </a:p>
          <a:p>
            <a:r>
              <a:t>Контроль выполняет персонал.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Регламент рядом</a:t>
            </a:r>
          </a:p>
          <a:p>
            <a:r>
              <a:t>207 страниц · поиск · ссылки · закладки.</a:t>
            </a:r>
          </a:p>
          <a:p>
            <a:r>
              <a:t>Офлайн после предварительной загрузки.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Другие рабочие расчёты</a:t>
            </a:r>
          </a:p>
          <a:p>
            <a:r>
              <a:t>Расчёт отпайки и другие инструменты.</a:t>
            </a:r>
          </a:p>
          <a:p>
            <a:r>
              <a:t>Формулы перенесены из Android-эталона.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Материальная база</a:t>
            </a:r>
          </a:p>
          <a:p>
            <a:r>
              <a:t>Android-эталон: формулы и материалы.</a:t>
            </a:r>
          </a:p>
          <a:p>
            <a:r>
              <a:t>ВНР: доступный документ.</a:t>
            </a:r>
          </a:p>
          <a:p>
            <a:r>
              <a:t>Материалы ПБ и ОТ: сверка редакций.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месяца</a:t>
            </a:r>
          </a:p>
          <a:p>
            <a:r>
              <a:t>Срок разработки — по данным автора.</a:t>
            </a:r>
          </a:p>
          <a:p>
            <a:r>
              <a:t>Прямые денежные расходы минимальны.</a:t>
            </a:r>
          </a:p>
          <a:p>
            <a:r>
              <a:t>Затраченное время — отдельный ресурс.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250 человек</a:t>
            </a:r>
          </a:p>
          <a:p>
            <a:r>
              <a:t>Потенциальная аудитория по оценке автора.</a:t>
            </a:r>
          </a:p>
          <a:p>
            <a:r>
              <a:t>Предлагается пилот перед масштабированием.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оценить пользу</a:t>
            </a:r>
          </a:p>
          <a:p>
            <a:r>
              <a:t>Время типовой задачи.</a:t>
            </a:r>
          </a:p>
          <a:p>
            <a:r>
              <a:t>Корректность в учебных сценариях.</a:t>
            </a:r>
          </a:p>
          <a:p>
            <a:r>
              <a:t>Доступность материалов без сети.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Предложение руководству</a:t>
            </a:r>
          </a:p>
          <a:p>
            <a:r>
              <a:t>Проверка содержания специалистами.</a:t>
            </a:r>
          </a:p>
          <a:p>
            <a:r>
              <a:t>Ограниченный пилот.</a:t>
            </a:r>
          </a:p>
          <a:p>
            <a:r>
              <a:t>Решение по результатам измерений.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Знания рядом с решением</a:t>
            </a:r>
          </a:p>
          <a:p>
            <a:r>
              <a:t>САНЫЧ-6</a:t>
            </a:r>
          </a:p>
          <a:p>
            <a:r>
              <a:t>Спасибо. Готов обсудить проект.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САНЫЧ-6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Цифровой помощник оператора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добычи нефти и газа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Автор проекта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[ФИО]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[Должность · цех]</a:t>
            </a:r>
          </a:p>
        </p:txBody>
      </p:sp>
      <p:sp>
        <p:nvSpPr>
          <p:cNvPr id="7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9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1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3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  <p:sp>
        <p:nvSpPr>
          <p:cNvPr id="15" name="!!PortraitSlot"/>
          <p:cNvSpPr/>
          <p:nvPr/>
        </p:nvSpPr>
        <p:spPr>
          <a:xfrm>
            <a:off x="8321040" y="1143000"/>
            <a:ext cx="2560320" cy="4480560"/>
          </a:xfrm>
          <a:prstGeom prst="roundRect">
            <a:avLst/>
          </a:prstGeom>
          <a:solidFill>
            <a:srgbClr val="2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rtrait-label"/>
          <p:cNvSpPr txBox="1"/>
          <p:nvPr/>
        </p:nvSpPr>
        <p:spPr>
          <a:xfrm>
            <a:off x="8595360" y="274320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B2BFD0"/>
                </a:solidFill>
                <a:latin typeface="Arial"/>
              </a:defRPr>
            </a:pPr>
            <a:r>
              <a:t>МЕСТО</a:t>
            </a:r>
          </a:p>
          <a:p>
            <a:pPr>
              <a:spcAft>
                <a:spcPts val="1000"/>
              </a:spcAft>
              <a:defRPr sz="1800" b="1">
                <a:solidFill>
                  <a:srgbClr val="B2BFD0"/>
                </a:solidFill>
                <a:latin typeface="Arial"/>
              </a:defRPr>
            </a:pPr>
            <a:r>
              <a:t>ДЛЯ ВАШЕГО</a:t>
            </a:r>
          </a:p>
          <a:p>
            <a:pPr>
              <a:spcAft>
                <a:spcPts val="1000"/>
              </a:spcAft>
              <a:defRPr sz="1800" b="1">
                <a:solidFill>
                  <a:srgbClr val="B2BFD0"/>
                </a:solidFill>
                <a:latin typeface="Arial"/>
              </a:defRPr>
            </a:pPr>
            <a:r>
              <a:t>ПОРТРЕТА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Рабочая задача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Расчёт. Замер. Нужная инструкция.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Информация нужна на месте работы.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Цель проекта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Упростить доступ оператора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к проверенным расчётам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и рабочим материалам.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Задачи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Объединить расчёты и справочники.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Упростить замеры и историю.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Подготовить материалы для офлайна.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technologist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Инструменты одной смены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Ручной замер · охлаждение ПЭД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Разгон и РИЧ · регламент ВНР</a:t>
            </a:r>
          </a:p>
        </p:txBody>
      </p:sp>
      <p:sp>
        <p:nvSpPr>
          <p:cNvPr id="7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9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1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3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  <p:sp>
        <p:nvSpPr>
          <p:cNvPr id="15" name="!!OverviewPanel0"/>
          <p:cNvSpPr/>
          <p:nvPr/>
        </p:nvSpPr>
        <p:spPr>
          <a:xfrm>
            <a:off x="731520" y="4297680"/>
            <a:ext cx="2697480" cy="1417320"/>
          </a:xfrm>
          <a:prstGeom prst="roundRect">
            <a:avLst/>
          </a:prstGeom>
          <a:solidFill>
            <a:srgbClr val="20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OverviewLabel0"/>
          <p:cNvSpPr txBox="1"/>
          <p:nvPr/>
        </p:nvSpPr>
        <p:spPr>
          <a:xfrm>
            <a:off x="896112" y="468172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4F6FA"/>
                </a:solidFill>
                <a:latin typeface="Arial"/>
              </a:defRPr>
            </a:pPr>
            <a:r>
              <a:t>Ручной замер</a:t>
            </a:r>
          </a:p>
        </p:txBody>
      </p:sp>
      <p:sp>
        <p:nvSpPr>
          <p:cNvPr id="17" name="!!OverviewPanel1"/>
          <p:cNvSpPr/>
          <p:nvPr/>
        </p:nvSpPr>
        <p:spPr>
          <a:xfrm>
            <a:off x="3611880" y="4297680"/>
            <a:ext cx="2697480" cy="1417320"/>
          </a:xfrm>
          <a:prstGeom prst="roundRect">
            <a:avLst/>
          </a:prstGeom>
          <a:solidFill>
            <a:srgbClr val="20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OverviewLabel1"/>
          <p:cNvSpPr txBox="1"/>
          <p:nvPr/>
        </p:nvSpPr>
        <p:spPr>
          <a:xfrm>
            <a:off x="3776472" y="468172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4F6FA"/>
                </a:solidFill>
                <a:latin typeface="Arial"/>
              </a:defRPr>
            </a:pPr>
            <a:r>
              <a:t>Охлаждение ПЭД</a:t>
            </a:r>
          </a:p>
        </p:txBody>
      </p:sp>
      <p:sp>
        <p:nvSpPr>
          <p:cNvPr id="19" name="!!OverviewPanel2"/>
          <p:cNvSpPr/>
          <p:nvPr/>
        </p:nvSpPr>
        <p:spPr>
          <a:xfrm>
            <a:off x="6492240" y="4297680"/>
            <a:ext cx="2697480" cy="1417320"/>
          </a:xfrm>
          <a:prstGeom prst="roundRect">
            <a:avLst/>
          </a:prstGeom>
          <a:solidFill>
            <a:srgbClr val="20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OverviewLabel2"/>
          <p:cNvSpPr txBox="1"/>
          <p:nvPr/>
        </p:nvSpPr>
        <p:spPr>
          <a:xfrm>
            <a:off x="6656831" y="468172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4F6FA"/>
                </a:solidFill>
                <a:latin typeface="Arial"/>
              </a:defRPr>
            </a:pPr>
            <a:r>
              <a:t>Разгон / РИЧ</a:t>
            </a:r>
          </a:p>
        </p:txBody>
      </p:sp>
      <p:sp>
        <p:nvSpPr>
          <p:cNvPr id="21" name="!!OverviewPanel3"/>
          <p:cNvSpPr/>
          <p:nvPr/>
        </p:nvSpPr>
        <p:spPr>
          <a:xfrm>
            <a:off x="9372600" y="4297680"/>
            <a:ext cx="2697480" cy="1417320"/>
          </a:xfrm>
          <a:prstGeom prst="roundRect">
            <a:avLst/>
          </a:prstGeom>
          <a:solidFill>
            <a:srgbClr val="20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OverviewLabel3"/>
          <p:cNvSpPr txBox="1"/>
          <p:nvPr/>
        </p:nvSpPr>
        <p:spPr>
          <a:xfrm>
            <a:off x="9537192" y="468172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4F6FA"/>
                </a:solidFill>
                <a:latin typeface="Arial"/>
              </a:defRPr>
            </a:pPr>
            <a:r>
              <a:t>Регламент 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Ручной замер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Запуск секундомера → объём → результат.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История измерений на устройстве.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manual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1828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144 м³/сут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100 литров за 60 секунд.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Проверяемый математический пример.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manual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1828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Охлаждение ПЭД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Исходные параметры → расчёт.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Применимость оценивает специалист.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ped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1828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Выбор станции.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Инструкция и фотографии своей модели.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ramp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1828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РИЧ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Своя последовательность действий.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Контроль выполняет персонал.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rich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Регламент рядом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207 страниц · поиск · ссылки · закладки.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Офлайн после предварительной загрузки.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vnr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1828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Другие рабочие расчёты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Расчёт отпайки и другие инструменты.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Формулы перенесены из Android-эталона.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tap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Материальная база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Android-эталон: формулы и материалы.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ВНР: доступный документ.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Материалы ПБ и ОТ: сверка редакций.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technologist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3 месяца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Срок разработки — по данным автора.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Прямые денежные расходы минимальны.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Затраченное время — отдельный ресурс.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Около 250 человек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Потенциальная аудитория по оценке автора.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Предлагается пилот перед масштабированием.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Как оценить пользу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Время типовой задачи.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Корректность в учебных сценариях.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Доступность материалов без сети.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Предложение руководству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Проверка содержания специалистами.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Ограниченный пилот.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Решение по результатам измерений.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САНЫЧ-6 / ВОЗМОЖНОСТИ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!!Headline"/>
          <p:cNvSpPr txBox="1"/>
          <p:nvPr/>
        </p:nvSpPr>
        <p:spPr>
          <a:xfrm>
            <a:off x="685800" y="96012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4F6FA"/>
                </a:solidFill>
                <a:latin typeface="Arial"/>
              </a:defRPr>
            </a:pPr>
            <a:r>
              <a:t>Знания рядом с решением</a:t>
            </a:r>
          </a:p>
        </p:txBody>
      </p:sp>
      <p:sp>
        <p:nvSpPr>
          <p:cNvPr id="6" name="!!Body"/>
          <p:cNvSpPr txBox="1"/>
          <p:nvPr/>
        </p:nvSpPr>
        <p:spPr>
          <a:xfrm>
            <a:off x="731520" y="2788920"/>
            <a:ext cx="6720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САНЫЧ-6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Спасибо. Готов обсудить проект.</a:t>
            </a:r>
          </a:p>
        </p:txBody>
      </p:sp>
      <p:sp>
        <p:nvSpPr>
          <p:cNvPr id="7" name="!!PhoneFrame"/>
          <p:cNvSpPr/>
          <p:nvPr/>
        </p:nvSpPr>
        <p:spPr>
          <a:xfrm>
            <a:off x="8531352" y="850392"/>
            <a:ext cx="2459736" cy="5094579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595360" y="914400"/>
            <a:ext cx="2331720" cy="4966563"/>
          </a:xfrm>
          <a:prstGeom prst="rect">
            <a:avLst/>
          </a:prstGeom>
        </p:spPr>
      </p:pic>
      <p:sp>
        <p:nvSpPr>
          <p:cNvPr id="9" name="!!NavCard0"/>
          <p:cNvSpPr/>
          <p:nvPr/>
        </p:nvSpPr>
        <p:spPr>
          <a:xfrm>
            <a:off x="73152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avLabel0"/>
          <p:cNvSpPr txBox="1"/>
          <p:nvPr/>
        </p:nvSpPr>
        <p:spPr>
          <a:xfrm>
            <a:off x="84124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1" name="!!NavCard1"/>
          <p:cNvSpPr/>
          <p:nvPr/>
        </p:nvSpPr>
        <p:spPr>
          <a:xfrm>
            <a:off x="242316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avLabel1"/>
          <p:cNvSpPr txBox="1"/>
          <p:nvPr/>
        </p:nvSpPr>
        <p:spPr>
          <a:xfrm>
            <a:off x="253288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3" name="!!NavCard2"/>
          <p:cNvSpPr/>
          <p:nvPr/>
        </p:nvSpPr>
        <p:spPr>
          <a:xfrm>
            <a:off x="411480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avLabel2"/>
          <p:cNvSpPr txBox="1"/>
          <p:nvPr/>
        </p:nvSpPr>
        <p:spPr>
          <a:xfrm>
            <a:off x="422452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5" name="!!NavCard3"/>
          <p:cNvSpPr/>
          <p:nvPr/>
        </p:nvSpPr>
        <p:spPr>
          <a:xfrm>
            <a:off x="5806440" y="5486400"/>
            <a:ext cx="1508760" cy="594360"/>
          </a:xfrm>
          <a:prstGeom prst="roundRect">
            <a:avLst/>
          </a:prstGeom>
          <a:solidFill>
            <a:srgbClr val="1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avLabel3"/>
          <p:cNvSpPr txBox="1"/>
          <p:nvPr/>
        </p:nvSpPr>
        <p:spPr>
          <a:xfrm>
            <a:off x="5916168" y="5641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E2F0"/>
                </a:solidFill>
                <a:latin typeface="Arial"/>
              </a:defRPr>
            </a:pPr>
            <a:r>
              <a:t>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