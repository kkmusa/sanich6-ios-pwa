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САНЫЧ-6</a:t>
            </a:r>
          </a:p>
          <a:p>
            <a:r>
              <a:t>Цифровой помощник оператора</a:t>
            </a:r>
          </a:p>
          <a:p>
            <a:r>
              <a:t>добычи нефти и газа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Автор проекта</a:t>
            </a:r>
          </a:p>
          <a:p>
            <a:r>
              <a:t>[ФИО]</a:t>
            </a:r>
          </a:p>
          <a:p>
            <a:r>
              <a:t>[Должность · цех]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>
            <a:r>
              <a:t>Автор: заменить заполнители точными данными и портретом.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Рабочая задача</a:t>
            </a:r>
          </a:p>
          <a:p>
            <a:r>
              <a:t>Расчёт. Замер. Нужная инструкция.</a:t>
            </a:r>
          </a:p>
          <a:p>
            <a:r>
              <a:t>Информация нужна на месте работы.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Цель проекта</a:t>
            </a:r>
          </a:p>
          <a:p>
            <a:r>
              <a:t>Упростить доступ оператора</a:t>
            </a:r>
          </a:p>
          <a:p>
            <a:r>
              <a:t>к проверенным расчётам</a:t>
            </a:r>
          </a:p>
          <a:p>
            <a:r>
              <a:t>и рабочим материалам.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Задачи</a:t>
            </a:r>
          </a:p>
          <a:p>
            <a:r>
              <a:t>Объединить расчёты и справочники.</a:t>
            </a:r>
          </a:p>
          <a:p>
            <a:r>
              <a:t>Упростить замеры и историю.</a:t>
            </a:r>
          </a:p>
          <a:p>
            <a:r>
              <a:t>Подготовить материалы для офлайна.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Инструменты одной смены</a:t>
            </a:r>
          </a:p>
          <a:p>
            <a:r>
              <a:t>Ручной замер · охлаждение ПЭД</a:t>
            </a:r>
          </a:p>
          <a:p>
            <a:r>
              <a:t>Разгон и РИЧ · регламент ВНР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Ручной замер</a:t>
            </a:r>
          </a:p>
          <a:p>
            <a:r>
              <a:t>Запуск секундомера → объём → результат.</a:t>
            </a:r>
          </a:p>
          <a:p>
            <a:r>
              <a:t>История измерений на устройстве.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144 м³/сут</a:t>
            </a:r>
          </a:p>
          <a:p>
            <a:r>
              <a:t>100 литров за 60 секунд.</a:t>
            </a:r>
          </a:p>
          <a:p>
            <a:r>
              <a:t>Проверяемый математический пример.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Охлаждение ПЭД</a:t>
            </a:r>
          </a:p>
          <a:p>
            <a:r>
              <a:t>Исходные параметры → расчёт.</a:t>
            </a:r>
          </a:p>
          <a:p>
            <a:r>
              <a:t>Применимость оценивает специалист.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Разгон</a:t>
            </a:r>
          </a:p>
          <a:p>
            <a:r>
              <a:t>Выбор станции.</a:t>
            </a:r>
          </a:p>
          <a:p>
            <a:r>
              <a:t>Инструкция и фотографии своей модели.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РИЧ</a:t>
            </a:r>
          </a:p>
          <a:p>
            <a:r>
              <a:t>Своя последовательность действий.</a:t>
            </a:r>
          </a:p>
          <a:p>
            <a:r>
              <a:t>Контроль выполняет персонал.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Регламент рядом</a:t>
            </a:r>
          </a:p>
          <a:p>
            <a:r>
              <a:t>207 страниц · поиск · ссылки · закладки.</a:t>
            </a:r>
          </a:p>
          <a:p>
            <a:r>
              <a:t>Офлайн после предварительной загрузки.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Другие рабочие расчёты</a:t>
            </a:r>
          </a:p>
          <a:p>
            <a:r>
              <a:t>Расчёт отпайки и другие инструменты.</a:t>
            </a:r>
          </a:p>
          <a:p>
            <a:r>
              <a:t>Формулы перенесены из Android-эталона.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Материальная база</a:t>
            </a:r>
          </a:p>
          <a:p>
            <a:r>
              <a:t>Android-эталон: формулы и материалы.</a:t>
            </a:r>
          </a:p>
          <a:p>
            <a:r>
              <a:t>ВНР: доступный документ.</a:t>
            </a:r>
          </a:p>
          <a:p>
            <a:r>
              <a:t>Материалы ПБ и ОТ: сверка редакций.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месяца</a:t>
            </a:r>
          </a:p>
          <a:p>
            <a:r>
              <a:t>Срок разработки — по данным автора.</a:t>
            </a:r>
          </a:p>
          <a:p>
            <a:r>
              <a:t>Прямые денежные расходы минимальны.</a:t>
            </a:r>
          </a:p>
          <a:p>
            <a:r>
              <a:t>Затраченное время — отдельный ресурс.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Около 250 человек</a:t>
            </a:r>
          </a:p>
          <a:p>
            <a:r>
              <a:t>Потенциальная аудитория по оценке автора.</a:t>
            </a:r>
          </a:p>
          <a:p>
            <a:r>
              <a:t>Предлагается пилот перед масштабированием.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Как оценить пользу</a:t>
            </a:r>
          </a:p>
          <a:p>
            <a:r>
              <a:t>Время типовой задачи.</a:t>
            </a:r>
          </a:p>
          <a:p>
            <a:r>
              <a:t>Корректность в учебных сценариях.</a:t>
            </a:r>
          </a:p>
          <a:p>
            <a:r>
              <a:t>Доступность материалов без сети.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Предложение руководству</a:t>
            </a:r>
          </a:p>
          <a:p>
            <a:r>
              <a:t>Проверка содержания специалистами.</a:t>
            </a:r>
          </a:p>
          <a:p>
            <a:r>
              <a:t>Ограниченный пилот.</a:t>
            </a:r>
          </a:p>
          <a:p>
            <a:r>
              <a:t>Решение по результатам измерений.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Знания рядом с решением</a:t>
            </a:r>
          </a:p>
          <a:p>
            <a:r>
              <a:t>САНЫЧ-6</a:t>
            </a:r>
          </a:p>
          <a:p>
            <a:r>
              <a:t>Спасибо. Готов обсудить проект.</a:t>
            </a:r>
          </a:p>
          <a:p/>
          <a:p>
            <a:r>
              <a:t>Проект для обсуждения, не утверждённое корпоративное внедрение. Приложение не управляет оборудованием и не заменяет действующие инструкции. Данные об аудитории, сроке и расходах — сведения автора. Реальный iPhone и PowerPoint на компьютере выступления здесь не испытаны.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6E83"/>
                </a:solidFill>
                <a:latin typeface="Arial"/>
              </a:defRPr>
            </a:pPr>
            <a:r>
              <a:t>САНЫЧ-6 / ПРОЕКТ ВНЕДРЕНИЯ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85C7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006E83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!!AccentBar"/>
          <p:cNvSpPr/>
          <p:nvPr/>
        </p:nvSpPr>
        <p:spPr>
          <a:xfrm>
            <a:off x="594360" y="960120"/>
            <a:ext cx="64008" cy="5029200"/>
          </a:xfrm>
          <a:prstGeom prst="rect">
            <a:avLst/>
          </a:prstGeom>
          <a:solidFill>
            <a:srgbClr val="00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Headline"/>
          <p:cNvSpPr txBox="1"/>
          <p:nvPr/>
        </p:nvSpPr>
        <p:spPr>
          <a:xfrm>
            <a:off x="914400" y="100584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300" b="1">
                <a:solidFill>
                  <a:srgbClr val="102235"/>
                </a:solidFill>
                <a:latin typeface="Arial"/>
              </a:defRPr>
            </a:pPr>
            <a:r>
              <a:t>САНЫЧ-6</a:t>
            </a:r>
          </a:p>
        </p:txBody>
      </p:sp>
      <p:sp>
        <p:nvSpPr>
          <p:cNvPr id="7" name="!!Body"/>
          <p:cNvSpPr txBox="1"/>
          <p:nvPr/>
        </p:nvSpPr>
        <p:spPr>
          <a:xfrm>
            <a:off x="960120" y="2971800"/>
            <a:ext cx="7040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Цифровой помощник оператора</a:t>
            </a:r>
          </a:p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добычи нефти и газа</a:t>
            </a:r>
          </a:p>
        </p:txBody>
      </p:sp>
      <p:sp>
        <p:nvSpPr>
          <p:cNvPr id="8" name="!!PhoneFrame"/>
          <p:cNvSpPr/>
          <p:nvPr/>
        </p:nvSpPr>
        <p:spPr>
          <a:xfrm>
            <a:off x="8714232" y="987551"/>
            <a:ext cx="2322576" cy="4802428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!!AppScreen" descr="home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778240" y="1051560"/>
            <a:ext cx="2194560" cy="4674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6E83"/>
                </a:solidFill>
                <a:latin typeface="Arial"/>
              </a:defRPr>
            </a:pPr>
            <a:r>
              <a:t>САНЫЧ-6 / ПРОЕКТ ВНЕДРЕНИЯ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85C7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006E83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!!AccentBar"/>
          <p:cNvSpPr/>
          <p:nvPr/>
        </p:nvSpPr>
        <p:spPr>
          <a:xfrm>
            <a:off x="594360" y="960120"/>
            <a:ext cx="64008" cy="5029200"/>
          </a:xfrm>
          <a:prstGeom prst="rect">
            <a:avLst/>
          </a:prstGeom>
          <a:solidFill>
            <a:srgbClr val="00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Headline"/>
          <p:cNvSpPr txBox="1"/>
          <p:nvPr/>
        </p:nvSpPr>
        <p:spPr>
          <a:xfrm>
            <a:off x="914400" y="100584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300" b="1">
                <a:solidFill>
                  <a:srgbClr val="102235"/>
                </a:solidFill>
                <a:latin typeface="Arial"/>
              </a:defRPr>
            </a:pPr>
            <a:r>
              <a:t>Автор проекта</a:t>
            </a:r>
          </a:p>
        </p:txBody>
      </p:sp>
      <p:sp>
        <p:nvSpPr>
          <p:cNvPr id="7" name="!!Body"/>
          <p:cNvSpPr txBox="1"/>
          <p:nvPr/>
        </p:nvSpPr>
        <p:spPr>
          <a:xfrm>
            <a:off x="960120" y="2971800"/>
            <a:ext cx="7040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[ФИО]</a:t>
            </a:r>
          </a:p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[Должность · цех]</a:t>
            </a:r>
          </a:p>
        </p:txBody>
      </p:sp>
      <p:sp>
        <p:nvSpPr>
          <p:cNvPr id="8" name="!!PortraitSlot"/>
          <p:cNvSpPr/>
          <p:nvPr/>
        </p:nvSpPr>
        <p:spPr>
          <a:xfrm>
            <a:off x="8321040" y="1143000"/>
            <a:ext cx="2560320" cy="4480560"/>
          </a:xfrm>
          <a:prstGeom prst="roundRect">
            <a:avLst/>
          </a:prstGeom>
          <a:solidFill>
            <a:srgbClr val="D6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ortrait-label"/>
          <p:cNvSpPr txBox="1"/>
          <p:nvPr/>
        </p:nvSpPr>
        <p:spPr>
          <a:xfrm>
            <a:off x="8595360" y="2743200"/>
            <a:ext cx="20116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85C70"/>
                </a:solidFill>
                <a:latin typeface="Arial"/>
              </a:defRPr>
            </a:pPr>
            <a:r>
              <a:t>МЕСТО</a:t>
            </a:r>
          </a:p>
          <a:p>
            <a:pPr>
              <a:spcAft>
                <a:spcPts val="1000"/>
              </a:spcAft>
              <a:defRPr sz="1800" b="1">
                <a:solidFill>
                  <a:srgbClr val="485C70"/>
                </a:solidFill>
                <a:latin typeface="Arial"/>
              </a:defRPr>
            </a:pPr>
            <a:r>
              <a:t>ДЛЯ ВАШЕГО</a:t>
            </a:r>
          </a:p>
          <a:p>
            <a:pPr>
              <a:spcAft>
                <a:spcPts val="1000"/>
              </a:spcAft>
              <a:defRPr sz="1800" b="1">
                <a:solidFill>
                  <a:srgbClr val="485C70"/>
                </a:solidFill>
                <a:latin typeface="Arial"/>
              </a:defRPr>
            </a:pPr>
            <a:r>
              <a:t>ПОРТРЕТА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6E83"/>
                </a:solidFill>
                <a:latin typeface="Arial"/>
              </a:defRPr>
            </a:pPr>
            <a:r>
              <a:t>САНЫЧ-6 / ПРОЕКТ ВНЕДРЕНИЯ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85C7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006E83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!!AccentBar"/>
          <p:cNvSpPr/>
          <p:nvPr/>
        </p:nvSpPr>
        <p:spPr>
          <a:xfrm>
            <a:off x="594360" y="960120"/>
            <a:ext cx="64008" cy="5029200"/>
          </a:xfrm>
          <a:prstGeom prst="rect">
            <a:avLst/>
          </a:prstGeom>
          <a:solidFill>
            <a:srgbClr val="00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Headline"/>
          <p:cNvSpPr txBox="1"/>
          <p:nvPr/>
        </p:nvSpPr>
        <p:spPr>
          <a:xfrm>
            <a:off x="914400" y="100584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300" b="1">
                <a:solidFill>
                  <a:srgbClr val="102235"/>
                </a:solidFill>
                <a:latin typeface="Arial"/>
              </a:defRPr>
            </a:pPr>
            <a:r>
              <a:t>Рабочая задача</a:t>
            </a:r>
          </a:p>
        </p:txBody>
      </p:sp>
      <p:sp>
        <p:nvSpPr>
          <p:cNvPr id="7" name="!!Body"/>
          <p:cNvSpPr txBox="1"/>
          <p:nvPr/>
        </p:nvSpPr>
        <p:spPr>
          <a:xfrm>
            <a:off x="960120" y="2971800"/>
            <a:ext cx="7040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Расчёт. Замер. Нужная инструкция.</a:t>
            </a:r>
          </a:p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Информация нужна на месте работы.</a:t>
            </a:r>
          </a:p>
        </p:txBody>
      </p:sp>
      <p:sp>
        <p:nvSpPr>
          <p:cNvPr id="8" name="!!PhoneFrame"/>
          <p:cNvSpPr/>
          <p:nvPr/>
        </p:nvSpPr>
        <p:spPr>
          <a:xfrm>
            <a:off x="8714232" y="987551"/>
            <a:ext cx="2322576" cy="4802428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!!AppScreen" descr="home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778240" y="1051560"/>
            <a:ext cx="2194560" cy="4674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6E83"/>
                </a:solidFill>
                <a:latin typeface="Arial"/>
              </a:defRPr>
            </a:pPr>
            <a:r>
              <a:t>САНЫЧ-6 / ПРОЕКТ ВНЕДРЕНИЯ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85C7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006E83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5" name="!!AccentBar"/>
          <p:cNvSpPr/>
          <p:nvPr/>
        </p:nvSpPr>
        <p:spPr>
          <a:xfrm>
            <a:off x="594360" y="960120"/>
            <a:ext cx="64008" cy="5029200"/>
          </a:xfrm>
          <a:prstGeom prst="rect">
            <a:avLst/>
          </a:prstGeom>
          <a:solidFill>
            <a:srgbClr val="00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Headline"/>
          <p:cNvSpPr txBox="1"/>
          <p:nvPr/>
        </p:nvSpPr>
        <p:spPr>
          <a:xfrm>
            <a:off x="914400" y="100584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300" b="1">
                <a:solidFill>
                  <a:srgbClr val="102235"/>
                </a:solidFill>
                <a:latin typeface="Arial"/>
              </a:defRPr>
            </a:pPr>
            <a:r>
              <a:t>Цель проекта</a:t>
            </a:r>
          </a:p>
        </p:txBody>
      </p:sp>
      <p:sp>
        <p:nvSpPr>
          <p:cNvPr id="7" name="!!Body"/>
          <p:cNvSpPr txBox="1"/>
          <p:nvPr/>
        </p:nvSpPr>
        <p:spPr>
          <a:xfrm>
            <a:off x="960120" y="2971800"/>
            <a:ext cx="7040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Упростить доступ оператора</a:t>
            </a:r>
          </a:p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к проверенным расчётам</a:t>
            </a:r>
          </a:p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и рабочим материалам.</a:t>
            </a:r>
          </a:p>
        </p:txBody>
      </p:sp>
      <p:sp>
        <p:nvSpPr>
          <p:cNvPr id="8" name="!!PhoneFrame"/>
          <p:cNvSpPr/>
          <p:nvPr/>
        </p:nvSpPr>
        <p:spPr>
          <a:xfrm>
            <a:off x="8714232" y="987551"/>
            <a:ext cx="2322576" cy="4802428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!!AppScreen" descr="home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778240" y="1051560"/>
            <a:ext cx="2194560" cy="4674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6E83"/>
                </a:solidFill>
                <a:latin typeface="Arial"/>
              </a:defRPr>
            </a:pPr>
            <a:r>
              <a:t>САНЫЧ-6 / ПРОЕКТ ВНЕДРЕНИЯ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85C7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006E83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5" name="!!AccentBar"/>
          <p:cNvSpPr/>
          <p:nvPr/>
        </p:nvSpPr>
        <p:spPr>
          <a:xfrm>
            <a:off x="594360" y="960120"/>
            <a:ext cx="64008" cy="5029200"/>
          </a:xfrm>
          <a:prstGeom prst="rect">
            <a:avLst/>
          </a:prstGeom>
          <a:solidFill>
            <a:srgbClr val="00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Headline"/>
          <p:cNvSpPr txBox="1"/>
          <p:nvPr/>
        </p:nvSpPr>
        <p:spPr>
          <a:xfrm>
            <a:off x="914400" y="100584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300" b="1">
                <a:solidFill>
                  <a:srgbClr val="102235"/>
                </a:solidFill>
                <a:latin typeface="Arial"/>
              </a:defRPr>
            </a:pPr>
            <a:r>
              <a:t>Задачи</a:t>
            </a:r>
          </a:p>
        </p:txBody>
      </p:sp>
      <p:sp>
        <p:nvSpPr>
          <p:cNvPr id="7" name="!!Body"/>
          <p:cNvSpPr txBox="1"/>
          <p:nvPr/>
        </p:nvSpPr>
        <p:spPr>
          <a:xfrm>
            <a:off x="960120" y="2971800"/>
            <a:ext cx="7040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Объединить расчёты и справочники.</a:t>
            </a:r>
          </a:p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Упростить замеры и историю.</a:t>
            </a:r>
          </a:p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Подготовить материалы для офлайна.</a:t>
            </a:r>
          </a:p>
        </p:txBody>
      </p:sp>
      <p:sp>
        <p:nvSpPr>
          <p:cNvPr id="8" name="!!PhoneFrame"/>
          <p:cNvSpPr/>
          <p:nvPr/>
        </p:nvSpPr>
        <p:spPr>
          <a:xfrm>
            <a:off x="8714232" y="987551"/>
            <a:ext cx="2322576" cy="4802428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!!AppScreen" descr="technologist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778240" y="1051560"/>
            <a:ext cx="2194560" cy="4674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6E83"/>
                </a:solidFill>
                <a:latin typeface="Arial"/>
              </a:defRPr>
            </a:pPr>
            <a:r>
              <a:t>САНЫЧ-6 / ПРОЕКТ ВНЕДРЕНИЯ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85C7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006E83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5" name="!!AccentBar"/>
          <p:cNvSpPr/>
          <p:nvPr/>
        </p:nvSpPr>
        <p:spPr>
          <a:xfrm>
            <a:off x="594360" y="960120"/>
            <a:ext cx="64008" cy="5029200"/>
          </a:xfrm>
          <a:prstGeom prst="rect">
            <a:avLst/>
          </a:prstGeom>
          <a:solidFill>
            <a:srgbClr val="00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Headline"/>
          <p:cNvSpPr txBox="1"/>
          <p:nvPr/>
        </p:nvSpPr>
        <p:spPr>
          <a:xfrm>
            <a:off x="914400" y="100584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300" b="1">
                <a:solidFill>
                  <a:srgbClr val="102235"/>
                </a:solidFill>
                <a:latin typeface="Arial"/>
              </a:defRPr>
            </a:pPr>
            <a:r>
              <a:t>Инструменты одной смены</a:t>
            </a:r>
          </a:p>
        </p:txBody>
      </p:sp>
      <p:sp>
        <p:nvSpPr>
          <p:cNvPr id="7" name="!!Body"/>
          <p:cNvSpPr txBox="1"/>
          <p:nvPr/>
        </p:nvSpPr>
        <p:spPr>
          <a:xfrm>
            <a:off x="960120" y="2971800"/>
            <a:ext cx="7040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Ручной замер · охлаждение ПЭД</a:t>
            </a:r>
          </a:p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Разгон и РИЧ · регламент ВНР</a:t>
            </a:r>
          </a:p>
        </p:txBody>
      </p:sp>
      <p:sp>
        <p:nvSpPr>
          <p:cNvPr id="8" name="!!OverviewPanel0"/>
          <p:cNvSpPr/>
          <p:nvPr/>
        </p:nvSpPr>
        <p:spPr>
          <a:xfrm>
            <a:off x="731520" y="4297680"/>
            <a:ext cx="2697480" cy="1417320"/>
          </a:xfrm>
          <a:prstGeom prst="roundRect">
            <a:avLst/>
          </a:prstGeom>
          <a:solidFill>
            <a:srgbClr val="DC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OverviewLabel0"/>
          <p:cNvSpPr txBox="1"/>
          <p:nvPr/>
        </p:nvSpPr>
        <p:spPr>
          <a:xfrm>
            <a:off x="896112" y="468172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02235"/>
                </a:solidFill>
                <a:latin typeface="Arial"/>
              </a:defRPr>
            </a:pPr>
            <a:r>
              <a:t>Ручной замер</a:t>
            </a:r>
          </a:p>
        </p:txBody>
      </p:sp>
      <p:sp>
        <p:nvSpPr>
          <p:cNvPr id="10" name="!!OverviewPanel1"/>
          <p:cNvSpPr/>
          <p:nvPr/>
        </p:nvSpPr>
        <p:spPr>
          <a:xfrm>
            <a:off x="3611880" y="4297680"/>
            <a:ext cx="2697480" cy="1417320"/>
          </a:xfrm>
          <a:prstGeom prst="roundRect">
            <a:avLst/>
          </a:prstGeom>
          <a:solidFill>
            <a:srgbClr val="DC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OverviewLabel1"/>
          <p:cNvSpPr txBox="1"/>
          <p:nvPr/>
        </p:nvSpPr>
        <p:spPr>
          <a:xfrm>
            <a:off x="3776472" y="468172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02235"/>
                </a:solidFill>
                <a:latin typeface="Arial"/>
              </a:defRPr>
            </a:pPr>
            <a:r>
              <a:t>Охлаждение ПЭД</a:t>
            </a:r>
          </a:p>
        </p:txBody>
      </p:sp>
      <p:sp>
        <p:nvSpPr>
          <p:cNvPr id="12" name="!!OverviewPanel2"/>
          <p:cNvSpPr/>
          <p:nvPr/>
        </p:nvSpPr>
        <p:spPr>
          <a:xfrm>
            <a:off x="6492240" y="4297680"/>
            <a:ext cx="2697480" cy="1417320"/>
          </a:xfrm>
          <a:prstGeom prst="roundRect">
            <a:avLst/>
          </a:prstGeom>
          <a:solidFill>
            <a:srgbClr val="DC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OverviewLabel2"/>
          <p:cNvSpPr txBox="1"/>
          <p:nvPr/>
        </p:nvSpPr>
        <p:spPr>
          <a:xfrm>
            <a:off x="6656831" y="468172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02235"/>
                </a:solidFill>
                <a:latin typeface="Arial"/>
              </a:defRPr>
            </a:pPr>
            <a:r>
              <a:t>Разгон / РИЧ</a:t>
            </a:r>
          </a:p>
        </p:txBody>
      </p:sp>
      <p:sp>
        <p:nvSpPr>
          <p:cNvPr id="14" name="!!OverviewPanel3"/>
          <p:cNvSpPr/>
          <p:nvPr/>
        </p:nvSpPr>
        <p:spPr>
          <a:xfrm>
            <a:off x="9372600" y="4297680"/>
            <a:ext cx="2697480" cy="1417320"/>
          </a:xfrm>
          <a:prstGeom prst="roundRect">
            <a:avLst/>
          </a:prstGeom>
          <a:solidFill>
            <a:srgbClr val="DC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OverviewLabel3"/>
          <p:cNvSpPr txBox="1"/>
          <p:nvPr/>
        </p:nvSpPr>
        <p:spPr>
          <a:xfrm>
            <a:off x="9537192" y="468172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02235"/>
                </a:solidFill>
                <a:latin typeface="Arial"/>
              </a:defRPr>
            </a:pPr>
            <a:r>
              <a:t>Регламент ВНР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6E83"/>
                </a:solidFill>
                <a:latin typeface="Arial"/>
              </a:defRPr>
            </a:pPr>
            <a:r>
              <a:t>САНЫЧ-6 / ПРОЕКТ ВНЕДРЕНИЯ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85C7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006E83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5" name="!!AccentBar"/>
          <p:cNvSpPr/>
          <p:nvPr/>
        </p:nvSpPr>
        <p:spPr>
          <a:xfrm>
            <a:off x="594360" y="960120"/>
            <a:ext cx="64008" cy="5029200"/>
          </a:xfrm>
          <a:prstGeom prst="rect">
            <a:avLst/>
          </a:prstGeom>
          <a:solidFill>
            <a:srgbClr val="00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Headline"/>
          <p:cNvSpPr txBox="1"/>
          <p:nvPr/>
        </p:nvSpPr>
        <p:spPr>
          <a:xfrm>
            <a:off x="914400" y="100584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300" b="1">
                <a:solidFill>
                  <a:srgbClr val="102235"/>
                </a:solidFill>
                <a:latin typeface="Arial"/>
              </a:defRPr>
            </a:pPr>
            <a:r>
              <a:t>Ручной замер</a:t>
            </a:r>
          </a:p>
        </p:txBody>
      </p:sp>
      <p:sp>
        <p:nvSpPr>
          <p:cNvPr id="7" name="!!Body"/>
          <p:cNvSpPr txBox="1"/>
          <p:nvPr/>
        </p:nvSpPr>
        <p:spPr>
          <a:xfrm>
            <a:off x="960120" y="2971800"/>
            <a:ext cx="7040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Запуск секундомера → объём → результат.</a:t>
            </a:r>
          </a:p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История измерений на устройстве.</a:t>
            </a:r>
          </a:p>
        </p:txBody>
      </p:sp>
      <p:sp>
        <p:nvSpPr>
          <p:cNvPr id="8" name="!!PhoneFrame"/>
          <p:cNvSpPr/>
          <p:nvPr/>
        </p:nvSpPr>
        <p:spPr>
          <a:xfrm>
            <a:off x="8714232" y="987551"/>
            <a:ext cx="2322576" cy="4802428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!!AppScreen" descr="manual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778240" y="1051560"/>
            <a:ext cx="2194560" cy="4674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6E83"/>
                </a:solidFill>
                <a:latin typeface="Arial"/>
              </a:defRPr>
            </a:pPr>
            <a:r>
              <a:t>САНЫЧ-6 / ПРОЕКТ ВНЕДРЕНИЯ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85C7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006E83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5" name="!!AccentBar"/>
          <p:cNvSpPr/>
          <p:nvPr/>
        </p:nvSpPr>
        <p:spPr>
          <a:xfrm>
            <a:off x="594360" y="960120"/>
            <a:ext cx="64008" cy="5029200"/>
          </a:xfrm>
          <a:prstGeom prst="rect">
            <a:avLst/>
          </a:prstGeom>
          <a:solidFill>
            <a:srgbClr val="00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Headline"/>
          <p:cNvSpPr txBox="1"/>
          <p:nvPr/>
        </p:nvSpPr>
        <p:spPr>
          <a:xfrm>
            <a:off x="914400" y="100584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300" b="1">
                <a:solidFill>
                  <a:srgbClr val="102235"/>
                </a:solidFill>
                <a:latin typeface="Arial"/>
              </a:defRPr>
            </a:pPr>
            <a:r>
              <a:t>144 м³/сут</a:t>
            </a:r>
          </a:p>
        </p:txBody>
      </p:sp>
      <p:sp>
        <p:nvSpPr>
          <p:cNvPr id="7" name="!!Body"/>
          <p:cNvSpPr txBox="1"/>
          <p:nvPr/>
        </p:nvSpPr>
        <p:spPr>
          <a:xfrm>
            <a:off x="960120" y="2971800"/>
            <a:ext cx="7040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100 литров за 60 секунд.</a:t>
            </a:r>
          </a:p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Проверяемый математический пример.</a:t>
            </a:r>
          </a:p>
        </p:txBody>
      </p:sp>
      <p:sp>
        <p:nvSpPr>
          <p:cNvPr id="8" name="!!PhoneFrame"/>
          <p:cNvSpPr/>
          <p:nvPr/>
        </p:nvSpPr>
        <p:spPr>
          <a:xfrm>
            <a:off x="8714232" y="987551"/>
            <a:ext cx="2322576" cy="4802428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!!AppScreen" descr="manual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778240" y="1051560"/>
            <a:ext cx="2194560" cy="4674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6E83"/>
                </a:solidFill>
                <a:latin typeface="Arial"/>
              </a:defRPr>
            </a:pPr>
            <a:r>
              <a:t>САНЫЧ-6 / ПРОЕКТ ВНЕДРЕНИЯ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85C7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006E83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5" name="!!AccentBar"/>
          <p:cNvSpPr/>
          <p:nvPr/>
        </p:nvSpPr>
        <p:spPr>
          <a:xfrm>
            <a:off x="594360" y="960120"/>
            <a:ext cx="64008" cy="5029200"/>
          </a:xfrm>
          <a:prstGeom prst="rect">
            <a:avLst/>
          </a:prstGeom>
          <a:solidFill>
            <a:srgbClr val="00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Headline"/>
          <p:cNvSpPr txBox="1"/>
          <p:nvPr/>
        </p:nvSpPr>
        <p:spPr>
          <a:xfrm>
            <a:off x="914400" y="100584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300" b="1">
                <a:solidFill>
                  <a:srgbClr val="102235"/>
                </a:solidFill>
                <a:latin typeface="Arial"/>
              </a:defRPr>
            </a:pPr>
            <a:r>
              <a:t>Охлаждение ПЭД</a:t>
            </a:r>
          </a:p>
        </p:txBody>
      </p:sp>
      <p:sp>
        <p:nvSpPr>
          <p:cNvPr id="7" name="!!Body"/>
          <p:cNvSpPr txBox="1"/>
          <p:nvPr/>
        </p:nvSpPr>
        <p:spPr>
          <a:xfrm>
            <a:off x="960120" y="2971800"/>
            <a:ext cx="7040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Исходные параметры → расчёт.</a:t>
            </a:r>
          </a:p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Применимость оценивает специалист.</a:t>
            </a:r>
          </a:p>
        </p:txBody>
      </p:sp>
      <p:sp>
        <p:nvSpPr>
          <p:cNvPr id="8" name="!!PhoneFrame"/>
          <p:cNvSpPr/>
          <p:nvPr/>
        </p:nvSpPr>
        <p:spPr>
          <a:xfrm>
            <a:off x="8714232" y="987551"/>
            <a:ext cx="2322576" cy="4802428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!!AppScreen" descr="ped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778240" y="1051560"/>
            <a:ext cx="2194560" cy="4674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6E83"/>
                </a:solidFill>
                <a:latin typeface="Arial"/>
              </a:defRPr>
            </a:pPr>
            <a:r>
              <a:t>САНЫЧ-6 / ПРОЕКТ ВНЕДРЕНИЯ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85C7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006E83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5" name="!!AccentBar"/>
          <p:cNvSpPr/>
          <p:nvPr/>
        </p:nvSpPr>
        <p:spPr>
          <a:xfrm>
            <a:off x="594360" y="960120"/>
            <a:ext cx="64008" cy="5029200"/>
          </a:xfrm>
          <a:prstGeom prst="rect">
            <a:avLst/>
          </a:prstGeom>
          <a:solidFill>
            <a:srgbClr val="00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Headline"/>
          <p:cNvSpPr txBox="1"/>
          <p:nvPr/>
        </p:nvSpPr>
        <p:spPr>
          <a:xfrm>
            <a:off x="914400" y="100584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300" b="1">
                <a:solidFill>
                  <a:srgbClr val="102235"/>
                </a:solidFill>
                <a:latin typeface="Arial"/>
              </a:defRPr>
            </a:pPr>
            <a:r>
              <a:t>Разгон</a:t>
            </a:r>
          </a:p>
        </p:txBody>
      </p:sp>
      <p:sp>
        <p:nvSpPr>
          <p:cNvPr id="7" name="!!Body"/>
          <p:cNvSpPr txBox="1"/>
          <p:nvPr/>
        </p:nvSpPr>
        <p:spPr>
          <a:xfrm>
            <a:off x="960120" y="2971800"/>
            <a:ext cx="7040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Выбор станции.</a:t>
            </a:r>
          </a:p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Инструкция и фотографии своей модели.</a:t>
            </a:r>
          </a:p>
        </p:txBody>
      </p:sp>
      <p:sp>
        <p:nvSpPr>
          <p:cNvPr id="8" name="!!PhoneFrame"/>
          <p:cNvSpPr/>
          <p:nvPr/>
        </p:nvSpPr>
        <p:spPr>
          <a:xfrm>
            <a:off x="8714232" y="987551"/>
            <a:ext cx="2322576" cy="4802428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!!AppScreen" descr="ramp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778240" y="1051560"/>
            <a:ext cx="2194560" cy="4674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6E83"/>
                </a:solidFill>
                <a:latin typeface="Arial"/>
              </a:defRPr>
            </a:pPr>
            <a:r>
              <a:t>САНЫЧ-6 / ПРОЕКТ ВНЕДРЕНИЯ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85C7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006E83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" name="!!AccentBar"/>
          <p:cNvSpPr/>
          <p:nvPr/>
        </p:nvSpPr>
        <p:spPr>
          <a:xfrm>
            <a:off x="594360" y="960120"/>
            <a:ext cx="64008" cy="5029200"/>
          </a:xfrm>
          <a:prstGeom prst="rect">
            <a:avLst/>
          </a:prstGeom>
          <a:solidFill>
            <a:srgbClr val="00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Headline"/>
          <p:cNvSpPr txBox="1"/>
          <p:nvPr/>
        </p:nvSpPr>
        <p:spPr>
          <a:xfrm>
            <a:off x="914400" y="100584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300" b="1">
                <a:solidFill>
                  <a:srgbClr val="102235"/>
                </a:solidFill>
                <a:latin typeface="Arial"/>
              </a:defRPr>
            </a:pPr>
            <a:r>
              <a:t>РИЧ</a:t>
            </a:r>
          </a:p>
        </p:txBody>
      </p:sp>
      <p:sp>
        <p:nvSpPr>
          <p:cNvPr id="7" name="!!Body"/>
          <p:cNvSpPr txBox="1"/>
          <p:nvPr/>
        </p:nvSpPr>
        <p:spPr>
          <a:xfrm>
            <a:off x="960120" y="2971800"/>
            <a:ext cx="7040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Своя последовательность действий.</a:t>
            </a:r>
          </a:p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Контроль выполняет персонал.</a:t>
            </a:r>
          </a:p>
        </p:txBody>
      </p:sp>
      <p:sp>
        <p:nvSpPr>
          <p:cNvPr id="8" name="!!PhoneFrame"/>
          <p:cNvSpPr/>
          <p:nvPr/>
        </p:nvSpPr>
        <p:spPr>
          <a:xfrm>
            <a:off x="8714232" y="987551"/>
            <a:ext cx="2322576" cy="4802428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!!AppScreen" descr="rich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778240" y="1051560"/>
            <a:ext cx="2194560" cy="4674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6E83"/>
                </a:solidFill>
                <a:latin typeface="Arial"/>
              </a:defRPr>
            </a:pPr>
            <a:r>
              <a:t>САНЫЧ-6 / ПРОЕКТ ВНЕДРЕНИЯ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85C7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006E83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" name="!!AccentBar"/>
          <p:cNvSpPr/>
          <p:nvPr/>
        </p:nvSpPr>
        <p:spPr>
          <a:xfrm>
            <a:off x="594360" y="960120"/>
            <a:ext cx="64008" cy="5029200"/>
          </a:xfrm>
          <a:prstGeom prst="rect">
            <a:avLst/>
          </a:prstGeom>
          <a:solidFill>
            <a:srgbClr val="00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Headline"/>
          <p:cNvSpPr txBox="1"/>
          <p:nvPr/>
        </p:nvSpPr>
        <p:spPr>
          <a:xfrm>
            <a:off x="914400" y="100584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300" b="1">
                <a:solidFill>
                  <a:srgbClr val="102235"/>
                </a:solidFill>
                <a:latin typeface="Arial"/>
              </a:defRPr>
            </a:pPr>
            <a:r>
              <a:t>Регламент рядом</a:t>
            </a:r>
          </a:p>
        </p:txBody>
      </p:sp>
      <p:sp>
        <p:nvSpPr>
          <p:cNvPr id="7" name="!!Body"/>
          <p:cNvSpPr txBox="1"/>
          <p:nvPr/>
        </p:nvSpPr>
        <p:spPr>
          <a:xfrm>
            <a:off x="960120" y="2971800"/>
            <a:ext cx="7040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207 страниц · поиск · ссылки · закладки.</a:t>
            </a:r>
          </a:p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Офлайн после предварительной загрузки.</a:t>
            </a:r>
          </a:p>
        </p:txBody>
      </p:sp>
      <p:sp>
        <p:nvSpPr>
          <p:cNvPr id="8" name="!!PhoneFrame"/>
          <p:cNvSpPr/>
          <p:nvPr/>
        </p:nvSpPr>
        <p:spPr>
          <a:xfrm>
            <a:off x="8714232" y="987551"/>
            <a:ext cx="2322576" cy="4802428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!!AppScreen" descr="vnr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778240" y="1051560"/>
            <a:ext cx="2194560" cy="4674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6E83"/>
                </a:solidFill>
                <a:latin typeface="Arial"/>
              </a:defRPr>
            </a:pPr>
            <a:r>
              <a:t>САНЫЧ-6 / ПРОЕКТ ВНЕДРЕНИЯ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85C7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006E83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5" name="!!AccentBar"/>
          <p:cNvSpPr/>
          <p:nvPr/>
        </p:nvSpPr>
        <p:spPr>
          <a:xfrm>
            <a:off x="594360" y="960120"/>
            <a:ext cx="64008" cy="5029200"/>
          </a:xfrm>
          <a:prstGeom prst="rect">
            <a:avLst/>
          </a:prstGeom>
          <a:solidFill>
            <a:srgbClr val="00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Headline"/>
          <p:cNvSpPr txBox="1"/>
          <p:nvPr/>
        </p:nvSpPr>
        <p:spPr>
          <a:xfrm>
            <a:off x="914400" y="100584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300" b="1">
                <a:solidFill>
                  <a:srgbClr val="102235"/>
                </a:solidFill>
                <a:latin typeface="Arial"/>
              </a:defRPr>
            </a:pPr>
            <a:r>
              <a:t>Другие рабочие расчёты</a:t>
            </a:r>
          </a:p>
        </p:txBody>
      </p:sp>
      <p:sp>
        <p:nvSpPr>
          <p:cNvPr id="7" name="!!Body"/>
          <p:cNvSpPr txBox="1"/>
          <p:nvPr/>
        </p:nvSpPr>
        <p:spPr>
          <a:xfrm>
            <a:off x="960120" y="2971800"/>
            <a:ext cx="7040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Расчёт отпайки и другие инструменты.</a:t>
            </a:r>
          </a:p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Формулы перенесены из Android-эталона.</a:t>
            </a:r>
          </a:p>
        </p:txBody>
      </p:sp>
      <p:sp>
        <p:nvSpPr>
          <p:cNvPr id="8" name="!!PhoneFrame"/>
          <p:cNvSpPr/>
          <p:nvPr/>
        </p:nvSpPr>
        <p:spPr>
          <a:xfrm>
            <a:off x="8714232" y="987551"/>
            <a:ext cx="2322576" cy="4802428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!!AppScreen" descr="tap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778240" y="1051560"/>
            <a:ext cx="2194560" cy="4674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6E83"/>
                </a:solidFill>
                <a:latin typeface="Arial"/>
              </a:defRPr>
            </a:pPr>
            <a:r>
              <a:t>САНЫЧ-6 / ПРОЕКТ ВНЕДРЕНИЯ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85C7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006E83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5" name="!!AccentBar"/>
          <p:cNvSpPr/>
          <p:nvPr/>
        </p:nvSpPr>
        <p:spPr>
          <a:xfrm>
            <a:off x="594360" y="960120"/>
            <a:ext cx="64008" cy="5029200"/>
          </a:xfrm>
          <a:prstGeom prst="rect">
            <a:avLst/>
          </a:prstGeom>
          <a:solidFill>
            <a:srgbClr val="00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Headline"/>
          <p:cNvSpPr txBox="1"/>
          <p:nvPr/>
        </p:nvSpPr>
        <p:spPr>
          <a:xfrm>
            <a:off x="914400" y="100584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300" b="1">
                <a:solidFill>
                  <a:srgbClr val="102235"/>
                </a:solidFill>
                <a:latin typeface="Arial"/>
              </a:defRPr>
            </a:pPr>
            <a:r>
              <a:t>Материальная база</a:t>
            </a:r>
          </a:p>
        </p:txBody>
      </p:sp>
      <p:sp>
        <p:nvSpPr>
          <p:cNvPr id="7" name="!!Body"/>
          <p:cNvSpPr txBox="1"/>
          <p:nvPr/>
        </p:nvSpPr>
        <p:spPr>
          <a:xfrm>
            <a:off x="960120" y="2971800"/>
            <a:ext cx="7040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Android-эталон: формулы и материалы.</a:t>
            </a:r>
          </a:p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ВНР: доступный документ.</a:t>
            </a:r>
          </a:p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Материалы ПБ и ОТ: сверка редакций.</a:t>
            </a:r>
          </a:p>
        </p:txBody>
      </p:sp>
      <p:sp>
        <p:nvSpPr>
          <p:cNvPr id="8" name="!!PhoneFrame"/>
          <p:cNvSpPr/>
          <p:nvPr/>
        </p:nvSpPr>
        <p:spPr>
          <a:xfrm>
            <a:off x="8714232" y="987551"/>
            <a:ext cx="2322576" cy="4802428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!!AppScreen" descr="technologist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778240" y="1051560"/>
            <a:ext cx="2194560" cy="4674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6E83"/>
                </a:solidFill>
                <a:latin typeface="Arial"/>
              </a:defRPr>
            </a:pPr>
            <a:r>
              <a:t>САНЫЧ-6 / ПРОЕКТ ВНЕДРЕНИЯ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85C7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006E83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5" name="!!AccentBar"/>
          <p:cNvSpPr/>
          <p:nvPr/>
        </p:nvSpPr>
        <p:spPr>
          <a:xfrm>
            <a:off x="594360" y="960120"/>
            <a:ext cx="64008" cy="5029200"/>
          </a:xfrm>
          <a:prstGeom prst="rect">
            <a:avLst/>
          </a:prstGeom>
          <a:solidFill>
            <a:srgbClr val="00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Headline"/>
          <p:cNvSpPr txBox="1"/>
          <p:nvPr/>
        </p:nvSpPr>
        <p:spPr>
          <a:xfrm>
            <a:off x="914400" y="100584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300" b="1">
                <a:solidFill>
                  <a:srgbClr val="102235"/>
                </a:solidFill>
                <a:latin typeface="Arial"/>
              </a:defRPr>
            </a:pPr>
            <a:r>
              <a:t>3 месяца</a:t>
            </a:r>
          </a:p>
        </p:txBody>
      </p:sp>
      <p:sp>
        <p:nvSpPr>
          <p:cNvPr id="7" name="!!Body"/>
          <p:cNvSpPr txBox="1"/>
          <p:nvPr/>
        </p:nvSpPr>
        <p:spPr>
          <a:xfrm>
            <a:off x="960120" y="2971800"/>
            <a:ext cx="7040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Срок разработки — по данным автора.</a:t>
            </a:r>
          </a:p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Прямые денежные расходы минимальны.</a:t>
            </a:r>
          </a:p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Затраченное время — отдельный ресурс.</a:t>
            </a:r>
          </a:p>
        </p:txBody>
      </p:sp>
      <p:sp>
        <p:nvSpPr>
          <p:cNvPr id="8" name="!!PhoneFrame"/>
          <p:cNvSpPr/>
          <p:nvPr/>
        </p:nvSpPr>
        <p:spPr>
          <a:xfrm>
            <a:off x="8714232" y="987551"/>
            <a:ext cx="2322576" cy="4802428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!!AppScreen" descr="home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778240" y="1051560"/>
            <a:ext cx="2194560" cy="4674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6E83"/>
                </a:solidFill>
                <a:latin typeface="Arial"/>
              </a:defRPr>
            </a:pPr>
            <a:r>
              <a:t>САНЫЧ-6 / ПРОЕКТ ВНЕДРЕНИЯ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85C7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006E83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5" name="!!AccentBar"/>
          <p:cNvSpPr/>
          <p:nvPr/>
        </p:nvSpPr>
        <p:spPr>
          <a:xfrm>
            <a:off x="594360" y="960120"/>
            <a:ext cx="64008" cy="5029200"/>
          </a:xfrm>
          <a:prstGeom prst="rect">
            <a:avLst/>
          </a:prstGeom>
          <a:solidFill>
            <a:srgbClr val="00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Headline"/>
          <p:cNvSpPr txBox="1"/>
          <p:nvPr/>
        </p:nvSpPr>
        <p:spPr>
          <a:xfrm>
            <a:off x="914400" y="100584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300" b="1">
                <a:solidFill>
                  <a:srgbClr val="102235"/>
                </a:solidFill>
                <a:latin typeface="Arial"/>
              </a:defRPr>
            </a:pPr>
            <a:r>
              <a:t>Около 250 человек</a:t>
            </a:r>
          </a:p>
        </p:txBody>
      </p:sp>
      <p:sp>
        <p:nvSpPr>
          <p:cNvPr id="7" name="!!Body"/>
          <p:cNvSpPr txBox="1"/>
          <p:nvPr/>
        </p:nvSpPr>
        <p:spPr>
          <a:xfrm>
            <a:off x="960120" y="2971800"/>
            <a:ext cx="7040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Потенциальная аудитория по оценке автора.</a:t>
            </a:r>
          </a:p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Предлагается пилот перед масштабированием.</a:t>
            </a:r>
          </a:p>
        </p:txBody>
      </p:sp>
      <p:sp>
        <p:nvSpPr>
          <p:cNvPr id="8" name="!!PhoneFrame"/>
          <p:cNvSpPr/>
          <p:nvPr/>
        </p:nvSpPr>
        <p:spPr>
          <a:xfrm>
            <a:off x="8714232" y="987551"/>
            <a:ext cx="2322576" cy="4802428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!!AppScreen" descr="home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778240" y="1051560"/>
            <a:ext cx="2194560" cy="4674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6E83"/>
                </a:solidFill>
                <a:latin typeface="Arial"/>
              </a:defRPr>
            </a:pPr>
            <a:r>
              <a:t>САНЫЧ-6 / ПРОЕКТ ВНЕДРЕНИЯ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85C7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006E83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5" name="!!AccentBar"/>
          <p:cNvSpPr/>
          <p:nvPr/>
        </p:nvSpPr>
        <p:spPr>
          <a:xfrm>
            <a:off x="594360" y="960120"/>
            <a:ext cx="64008" cy="5029200"/>
          </a:xfrm>
          <a:prstGeom prst="rect">
            <a:avLst/>
          </a:prstGeom>
          <a:solidFill>
            <a:srgbClr val="00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Headline"/>
          <p:cNvSpPr txBox="1"/>
          <p:nvPr/>
        </p:nvSpPr>
        <p:spPr>
          <a:xfrm>
            <a:off x="914400" y="100584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300" b="1">
                <a:solidFill>
                  <a:srgbClr val="102235"/>
                </a:solidFill>
                <a:latin typeface="Arial"/>
              </a:defRPr>
            </a:pPr>
            <a:r>
              <a:t>Как оценить пользу</a:t>
            </a:r>
          </a:p>
        </p:txBody>
      </p:sp>
      <p:sp>
        <p:nvSpPr>
          <p:cNvPr id="7" name="!!Body"/>
          <p:cNvSpPr txBox="1"/>
          <p:nvPr/>
        </p:nvSpPr>
        <p:spPr>
          <a:xfrm>
            <a:off x="960120" y="2971800"/>
            <a:ext cx="7040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Время типовой задачи.</a:t>
            </a:r>
          </a:p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Корректность в учебных сценариях.</a:t>
            </a:r>
          </a:p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Доступность материалов без сети.</a:t>
            </a:r>
          </a:p>
        </p:txBody>
      </p:sp>
      <p:sp>
        <p:nvSpPr>
          <p:cNvPr id="8" name="!!PhoneFrame"/>
          <p:cNvSpPr/>
          <p:nvPr/>
        </p:nvSpPr>
        <p:spPr>
          <a:xfrm>
            <a:off x="8714232" y="987551"/>
            <a:ext cx="2322576" cy="4802428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!!AppScreen" descr="home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778240" y="1051560"/>
            <a:ext cx="2194560" cy="4674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6E83"/>
                </a:solidFill>
                <a:latin typeface="Arial"/>
              </a:defRPr>
            </a:pPr>
            <a:r>
              <a:t>САНЫЧ-6 / ПРОЕКТ ВНЕДРЕНИЯ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85C7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006E83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5" name="!!AccentBar"/>
          <p:cNvSpPr/>
          <p:nvPr/>
        </p:nvSpPr>
        <p:spPr>
          <a:xfrm>
            <a:off x="594360" y="960120"/>
            <a:ext cx="64008" cy="5029200"/>
          </a:xfrm>
          <a:prstGeom prst="rect">
            <a:avLst/>
          </a:prstGeom>
          <a:solidFill>
            <a:srgbClr val="00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Headline"/>
          <p:cNvSpPr txBox="1"/>
          <p:nvPr/>
        </p:nvSpPr>
        <p:spPr>
          <a:xfrm>
            <a:off x="914400" y="100584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300" b="1">
                <a:solidFill>
                  <a:srgbClr val="102235"/>
                </a:solidFill>
                <a:latin typeface="Arial"/>
              </a:defRPr>
            </a:pPr>
            <a:r>
              <a:t>Предложение руководству</a:t>
            </a:r>
          </a:p>
        </p:txBody>
      </p:sp>
      <p:sp>
        <p:nvSpPr>
          <p:cNvPr id="7" name="!!Body"/>
          <p:cNvSpPr txBox="1"/>
          <p:nvPr/>
        </p:nvSpPr>
        <p:spPr>
          <a:xfrm>
            <a:off x="960120" y="2971800"/>
            <a:ext cx="7040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Проверка содержания специалистами.</a:t>
            </a:r>
          </a:p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Ограниченный пилот.</a:t>
            </a:r>
          </a:p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Решение по результатам измерений.</a:t>
            </a:r>
          </a:p>
        </p:txBody>
      </p:sp>
      <p:sp>
        <p:nvSpPr>
          <p:cNvPr id="8" name="!!PhoneFrame"/>
          <p:cNvSpPr/>
          <p:nvPr/>
        </p:nvSpPr>
        <p:spPr>
          <a:xfrm>
            <a:off x="8714232" y="987551"/>
            <a:ext cx="2322576" cy="4802428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!!AppScreen" descr="home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778240" y="1051560"/>
            <a:ext cx="2194560" cy="4674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Eyebrow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6E83"/>
                </a:solidFill>
                <a:latin typeface="Arial"/>
              </a:defRPr>
            </a:pPr>
            <a:r>
              <a:t>САНЫЧ-6 / ПРОЕКТ ВНЕДРЕНИЯ</a:t>
            </a:r>
          </a:p>
        </p:txBody>
      </p:sp>
      <p:sp>
        <p:nvSpPr>
          <p:cNvPr id="3" name="!!Footer"/>
          <p:cNvSpPr txBox="1"/>
          <p:nvPr/>
        </p:nvSpPr>
        <p:spPr>
          <a:xfrm>
            <a:off x="548640" y="651052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485C70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09728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006E83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5" name="!!AccentBar"/>
          <p:cNvSpPr/>
          <p:nvPr/>
        </p:nvSpPr>
        <p:spPr>
          <a:xfrm>
            <a:off x="594360" y="960120"/>
            <a:ext cx="64008" cy="5029200"/>
          </a:xfrm>
          <a:prstGeom prst="rect">
            <a:avLst/>
          </a:prstGeom>
          <a:solidFill>
            <a:srgbClr val="00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Headline"/>
          <p:cNvSpPr txBox="1"/>
          <p:nvPr/>
        </p:nvSpPr>
        <p:spPr>
          <a:xfrm>
            <a:off x="914400" y="100584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300" b="1">
                <a:solidFill>
                  <a:srgbClr val="102235"/>
                </a:solidFill>
                <a:latin typeface="Arial"/>
              </a:defRPr>
            </a:pPr>
            <a:r>
              <a:t>Знания рядом с решением</a:t>
            </a:r>
          </a:p>
        </p:txBody>
      </p:sp>
      <p:sp>
        <p:nvSpPr>
          <p:cNvPr id="7" name="!!Body"/>
          <p:cNvSpPr txBox="1"/>
          <p:nvPr/>
        </p:nvSpPr>
        <p:spPr>
          <a:xfrm>
            <a:off x="960120" y="2971800"/>
            <a:ext cx="7040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САНЫЧ-6</a:t>
            </a:r>
          </a:p>
          <a:p>
            <a:pPr>
              <a:spcAft>
                <a:spcPts val="1000"/>
              </a:spcAft>
              <a:defRPr sz="2500" b="0">
                <a:solidFill>
                  <a:srgbClr val="485C70"/>
                </a:solidFill>
                <a:latin typeface="Arial"/>
              </a:defRPr>
            </a:pPr>
            <a:r>
              <a:t>Спасибо. Готов обсудить проект.</a:t>
            </a:r>
          </a:p>
        </p:txBody>
      </p:sp>
      <p:sp>
        <p:nvSpPr>
          <p:cNvPr id="8" name="!!PhoneFrame"/>
          <p:cNvSpPr/>
          <p:nvPr/>
        </p:nvSpPr>
        <p:spPr>
          <a:xfrm>
            <a:off x="8714232" y="987551"/>
            <a:ext cx="2322576" cy="4802428"/>
          </a:xfrm>
          <a:prstGeom prst="roundRect">
            <a:avLst/>
          </a:prstGeom>
          <a:solidFill>
            <a:srgbClr val="334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!!AppScreen" descr="home.png"/>
          <p:cNvPicPr>
            <a:picLocks noChangeAspect="1"/>
          </p:cNvPicPr>
          <p:nvPr/>
        </p:nvPicPr>
        <p:blipFill>
          <a:blip r:embed="rId2"/>
          <a:srcRect t="788" b="788"/>
          <a:stretch>
            <a:fillRect/>
          </a:stretch>
        </p:blipFill>
        <p:spPr>
          <a:xfrm>
            <a:off x="8778240" y="1051560"/>
            <a:ext cx="2194560" cy="4674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1">
        <p159:morph option="byObject"/>
      </p:transition>
    </mc:Choice>
    <mc:Fallback>
      <p:transition advClick="1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