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6" r:id="rId2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4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Встроенный ролик: название раскрывается слева направо, камера приближается сквозь букву, открывая иллюстрацию промысла. 9 секунд, без звука. Запуск настроен автоматически; при необходимости нажмите на изображение. После окончания перейдите на следующий слайд обычным щелчком или стрелкой вправо. Ролик находится внутри PPTX, интернет и отдельный MP4 для показа не нужны. В Microsoft PowerPoint воспроизведение в этой среде не проверялось.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повторяет финальный кадр встроенного вступления. Переход отключён, повторного появления названия нет. Далее — представление автора. Внешний вид стыка в Microsoft PowerPoint требует проверки на компьютере выступления.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 сформулированы автором проекта. Минимизация риска — цель, а не доказанная гарантия предотвращения отказов оборудования. Фоновое изображение промысла создано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 же окно меняет содержимое на длительный интервал. Скриншоты двух фрагментов одного состояния PWA: 18.10.2026 19:30 до 19.10.2026 07:30 — 12 часов, 1000 литров → 2 м³/сут. Даты примера иллюстративны. Внутри окна сохранены реальные элементы выбора и реальный результат приложения. Можно задавать разные даты, в том числе переход через полночь.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Разгон: расчёт темпа и шагов для конкретной станции управления. РИЧ: последовательность действий и фотографии. Приток: оценка требуемого охлаждения. Примеры показывают возможные риски; приложение не управляет станцией и не гарантирует отсутствие отказов.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Документальная основа, по сведениям автора: регламент ВНР и «Инструкции по промышленной безопасности и охране труда для работников структурных подразделений ООО „РН-Юганскнефтегаз“». Документы использованы при подготовке формул, примеров и справочных материалов. Полнота интеграции всех пяти томов, актуальность редакций и право корпоративного распространения здесь не подтверждаются. Android как технический источник миграции больше не вынесен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автора: три календарных месяца; прямые денежные расходы минимальны; основной ресурс — время. Десятки часов с документальной базой, сотни часов архитектуры, дни тестирования — сведения автора, не независимый хронометраж. Изображение рабочего места создано ИИ, это не фотография фактического рабочего места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проекта, не подтверждённое число действующих пользователей. В аудиторию входят не только операторы ДНГ, но и технологи, электромонтёры и другие специалисты. Условная композиция из 250 силуэтов сохранена без поясняющей подписи. Фон — созданная ИИ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автора: официально связать проект с Обществом и выпустить следующее обновление от имени ООО «РН-Юганскнефтегаз». Для этого запрашивается официальный документ с подписью уполномоченного лица и печатью, если предусмотрена порядком компании. Полномочия на логотип и материалы должны быть согласованы отдельно; разрешение ещё не получено. На слайде не заявлено уже существующее корпоративное одобрение.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peratorDNG_Mars_Opening_Embedded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ntroFinalFrame" descr="intro-fina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MonochromeIllustration" descr="oilfield-gray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ЦЕЛИ ПРОЕКТА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685800" y="1476375"/>
            <a:ext cx="952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Цели проекта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42950" y="271462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1381125" y="271462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Упростить доступ работников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к расчётам и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материалам.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42950" y="395287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1381125" y="395287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Минимизировать риск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поломки УЭЦН.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742950" y="4953000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1381125" y="4953000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Способствовать развитию интереса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работников к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аспектам деятельности.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AuthorName"/>
          <p:cNvSpPr txBox="1"/>
          <p:nvPr/>
        </p:nvSpPr>
        <p:spPr>
          <a:xfrm>
            <a:off x="723900" y="1695450"/>
            <a:ext cx="619125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4" name="AuthorAccent"/>
          <p:cNvSpPr/>
          <p:nvPr/>
        </p:nvSpPr>
        <p:spPr>
          <a:xfrm>
            <a:off x="762000" y="3409950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uthorRole"/>
          <p:cNvSpPr txBox="1"/>
          <p:nvPr/>
        </p:nvSpPr>
        <p:spPr>
          <a:xfrm>
            <a:off x="762000" y="3819524"/>
            <a:ext cx="59531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6" name="AuthorOrganization"/>
          <p:cNvSpPr txBox="1"/>
          <p:nvPr/>
        </p:nvSpPr>
        <p:spPr>
          <a:xfrm>
            <a:off x="762000" y="5219700"/>
            <a:ext cx="59531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>
            <a:hlinkClick action="ppaction://hlinksldjump" r:id="rId7"/>
          </p:cNvPr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>
            <a:hlinkClick action="ppaction://hlinksldjump" r:id="rId7"/>
          </p:cNvPr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>
            <a:hlinkClick action="ppaction://hlinksldjump" r:id="rId8"/>
          </p:cNvPr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>
            <a:hlinkClick action="ppaction://hlinksldjump" r:id="rId8"/>
          </p:cNvPr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>
            <a:hlinkClick action="ppaction://hlinksldjump" r:id="rId9"/>
          </p:cNvPr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>
            <a:hlinkClick action="ppaction://hlinksldjump" r:id="rId9"/>
          </p:cNvPr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>
            <a:hlinkClick action="ppaction://hlinksldjump" r:id="rId10"/>
          </p:cNvPr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>
            <a:hlinkClick action="ppaction://hlinksldjump" r:id="rId10"/>
          </p:cNvPr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96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Длительный интервал.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Даже через полночь.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Указываем даты и время.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Продолжительность считает приложение.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MonochromeIllustration" descr="oilfield-gray.png"/>
          <p:cNvPicPr>
            <a:picLocks noChangeAspect="1"/>
          </p:cNvPicPr>
          <p:nvPr/>
        </p:nvPicPr>
        <p:blipFill>
          <a:blip r:embed="rId3"/>
          <a:srcRect t="12520" b="12520"/>
          <a:stretch>
            <a:fillRect/>
          </a:stretch>
        </p:blipFill>
        <p:spPr>
          <a:xfrm>
            <a:off x="8477250" y="1066800"/>
            <a:ext cx="3048000" cy="1285875"/>
          </a:xfrm>
          <a:prstGeom prst="rect">
            <a:avLst/>
          </a:prstGeom>
        </p:spPr>
      </p:pic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шагов</a:t>
            </a:r>
            <a:br/>
            <a:r>
              <a:t>для конкретной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ДОКУМЕНТАЛЬНАЯ ОСНОВА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</a:t>
            </a:r>
          </a:p>
        </p:txBody>
      </p:sp>
      <p:sp>
        <p:nvSpPr>
          <p:cNvPr id="7" name="Block_6"/>
          <p:cNvSpPr/>
          <p:nvPr/>
        </p:nvSpPr>
        <p:spPr>
          <a:xfrm>
            <a:off x="74295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74295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Регламент ВНР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4295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Формулы и примеры расчётов.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Последовательность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при выводе скважины на режим.</a:t>
            </a:r>
          </a:p>
        </p:txBody>
      </p:sp>
      <p:sp>
        <p:nvSpPr>
          <p:cNvPr id="10" name="Block_9"/>
          <p:cNvSpPr/>
          <p:nvPr/>
        </p:nvSpPr>
        <p:spPr>
          <a:xfrm>
            <a:off x="636270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_10"/>
          <p:cNvSpPr txBox="1"/>
          <p:nvPr/>
        </p:nvSpPr>
        <p:spPr>
          <a:xfrm>
            <a:off x="636270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Инструкции по ПБ и ОТ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36270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Требования промышленной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безопасности и охраны труда.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Теоретические и справочные материалы.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MonochromeIllustration" descr="development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 ПРОГРАММЫ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723900" y="1476375"/>
            <a:ext cx="6477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79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81050" y="2762250"/>
            <a:ext cx="6477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800100" y="3638550"/>
            <a:ext cx="576262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Основной ресурс — время.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45720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Десятки часов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3028950" y="46101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с документальной базой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51054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Сотни часов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3028950" y="51435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над архитектурой проекта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00100" y="56388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Дни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3028950" y="56769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тестирования продукта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60" name="MonochromeIllustration" descr="oilfield-gray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1" name="PeopleContrast"/>
          <p:cNvSpPr/>
          <p:nvPr/>
        </p:nvSpPr>
        <p:spPr>
          <a:xfrm>
            <a:off x="6667500" y="1619250"/>
            <a:ext cx="4857750" cy="4333875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262" name="Text_259"/>
          <p:cNvSpPr txBox="1"/>
          <p:nvPr/>
        </p:nvSpPr>
        <p:spPr>
          <a:xfrm>
            <a:off x="800100" y="5219700"/>
            <a:ext cx="5810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 только операторы ДНГ —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также технологи, электромонтёры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другие специалисты.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Предложение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2000" y="2667000"/>
            <a:ext cx="1066800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Выпустить следующее обновление приложения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от имени ООО «РН-Юганскнефтегаз».</a:t>
            </a:r>
          </a:p>
        </p:txBody>
      </p:sp>
      <p:sp>
        <p:nvSpPr>
          <p:cNvPr id="8" name="Block_7"/>
          <p:cNvSpPr/>
          <p:nvPr/>
        </p:nvSpPr>
        <p:spPr>
          <a:xfrm>
            <a:off x="790575" y="4086225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781050" y="4448175"/>
            <a:ext cx="106203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CD00"/>
                </a:solidFill>
                <a:latin typeface="Arial"/>
              </a:defRPr>
            </a:pPr>
            <a:r>
              <a:t>Получить письменное разрешение уполномоченного руководства: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519112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выпуск от имени Общества и использование наименования.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00100" y="559117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использование логотипа «Роснефть» и согласованных материалов.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60483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Официальный документ: подпись уполномоченного лица, печать — по порядку компании.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4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Расчёты. Пояснения.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инструкции.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Следующий шаг — официальное согласование проекта.</a:t>
            </a:r>
          </a:p>
        </p:txBody>
      </p:sp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редакция 3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