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Представиться: [ФИО], [должность], [цех]. Название продукта «Оператор ДНГ». Проект вырос из повседневных задач оператора. ФИО и портрет автора пока не получены. Изображение промысла создано для оформления и не является фотографией объекта компании.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Коротко представить продукт: рабочие расчёты и материалы на телефоне. После раскрытия изображения сделать паузу. Работоспособность конкретных устройств проверяется отдельно.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Цель: упростить доступ оператора к проверенным расчётам и рабочим материалам непосредственно на месте работы. Далее — четыре согласованные задачи.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Четыре задачи согласованы автором. Сохранять формулировки без добавления пятой.</a:t>
            </a:r>
          </a:p>
          <a:p>
            <a:r>
              <a:t>1. Объединить рабочие инструменты — собрать расчёты, инструкции и справочные материалы в одном приложении.</a:t>
            </a:r>
          </a:p>
          <a:p>
            <a:r>
              <a:t>2. Упростить ежедневные расчёты и замеры — автоматизировать вычисления, отсчёт времени и сохранение результатов.</a:t>
            </a:r>
          </a:p>
          <a:p>
            <a:r>
              <a:t>3. Помочь соблюдать последовательность действий — предоставить инструкции и фотографии для конкретных моделей станций управления.</a:t>
            </a:r>
          </a:p>
          <a:p>
            <a:r>
              <a:t>4. Обеспечить быстрый доступ к информации на промысле — реализовать поиск, закладки и работу предварительно загруженных материалов без интернета.</a:t>
            </a:r>
          </a:p>
          <a:p/>
          <a:p>
            <a:r>
              <a:t>Слайд управляется щелчком. Скриншоты иллюстративны; внутри PowerPoint формы не выполняют расчёт. Воспроизведение Morph в настоящем Microsoft PowerPoint здесь не проверено.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Показать приложение целиком. Четыре карточки — разные рабочие ситуации, а не весь перечень функций. На карточки можно нажать для открытия раздела. Для последовательного выступления достаточно листать дальше.</a:t>
            </a:r>
          </a:p>
          <a:p/>
          <a:p>
            <a:r>
              <a:t>Слайд управляется щелчком. Скриншоты иллюстративны; внутри PowerPoint формы не выполняют расчёт. Воспроизведение Morph в настоящем Microsoft PowerPoint здесь не проверено.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 опыту автора в отдельные дни бывает семь–девять ручных замеров. Это не средняя нагрузка всех 250 человек. Оператор запускает таймер, затем вводит объём. Приложение сохраняет корректный результат автоматически и восстанавливает состояние замера при возвращении на устройстве. Это не системное плавающее окно поверх других приложений.</a:t>
            </a:r>
          </a:p>
          <a:p/>
          <a:p>
            <a:r>
              <a:t>Слайд управляется щелчком. Скриншоты иллюстративны; внутри PowerPoint формы не выполняют расчёт. Воспроизведение Morph в настоящем Microsoft PowerPoint здесь не проверено.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Математический пример: 100 литров за 60 секунд дают 144 м³/сут. Формула Q=86,4×V/t, где объём в литрах, время в секундах. Это не фактический дебит конкретной скважины.</a:t>
            </a:r>
          </a:p>
          <a:p/>
          <a:p>
            <a:r>
              <a:t>Слайд управляется щелчком. Скриншоты иллюстративны; внутри PowerPoint формы не выполняют расчёт. Воспроизведение Morph в настоящем Microsoft PowerPoint здесь не проверено.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Математический пример: 23:50 до 00:10 следующей даты — 20 минут, то есть 1200 секунд. При 100 литрах Q=7,2 м³/сут. Даты начала и окончания выбираются отдельно. Показать пользу при переходе через полночь.</a:t>
            </a:r>
          </a:p>
          <a:p/>
          <a:p>
            <a:r>
              <a:t>Слайд управляется щелчком. Скриншоты иллюстративны; внутри PowerPoint формы не выполняют расчёт. Воспроизведение Morph в настоящем Microsoft PowerPoint здесь не проверено.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При выводе на режим важно учитывать условия охлаждения двигателя и корректность исходных данных. Приложение помогает выполнить предусмотренный расчёт. Не утверждать гарантированное предотвращение отказов. Обязательность и периодичность конкретных расчётов сверяют профильные специалисты по действующим документам.</a:t>
            </a:r>
          </a:p>
          <a:p/>
          <a:p>
            <a:r>
              <a:t>Слайд управляется щелчком. Скриншоты иллюстративны; внутри PowerPoint формы не выполняют расчёт. Воспроизведение Morph в настоящем Microsoft PowerPoint здесь не проверено.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 проекте доступны материалы пяти моделей станций. Фотография КАСКАД-НТ взята из Android-эталона, значения на ней не являются рекомендуемыми настройками. Не смешивать инструкции разных моделей.</a:t>
            </a:r>
          </a:p>
          <a:p/>
          <a:p>
            <a:r>
              <a:t>Слайд управляется щелчком. Скриншоты иллюстративны; внутри PowerPoint формы не выполняют расчёт. Воспроизведение Morph в настоящем Microsoft PowerPoint здесь не проверено.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Автор описывает риск слишком быстрого разгона и роста количества взвешенных частиц, а также износа рабочих органов УЭЦН. Это рабочий сценарий для проверки технологами, не универсальная доказанная причинность. Показать доступ к порядку действий для выбранного оборудования. Приложение не управляет станцией.</a:t>
            </a:r>
          </a:p>
          <a:p/>
          <a:p>
            <a:r>
              <a:t>Слайд управляется щелчком. Скриншоты иллюстративны; внутри PowerPoint формы не выполняют расчёт. Воспроизведение Morph в настоящем Microsoft PowerPoint здесь не проверено.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Неправильный порядок переключений может стать источником нежелательного режима по описанному автором сценарию. Последовательность нужно проверять для конкретной модели и редакции инструкции. Приложение предоставляет материалы, а действия контролирует персонал. Оно не блокирует ошибочные команды.</a:t>
            </a:r>
          </a:p>
          <a:p/>
          <a:p>
            <a:r>
              <a:t>Слайд управляется щелчком. Скриншоты иллюстративны; внутри PowerPoint формы не выполняют расчёт. Воспроизведение Morph в настоящем Microsoft PowerPoint здесь не проверено.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 проекте восстановлены 207 страниц документа ВНР. Полный офлайн после предварительной загрузки. Поиск, внутренние ссылки и закладки. Допустимость распространения и актуальность документа проверяют перед официальным внедрением.</a:t>
            </a:r>
          </a:p>
          <a:p/>
          <a:p>
            <a:r>
              <a:t>Слайд управляется щелчком. Скриншоты иллюстративны; внутри PowerPoint формы не выполняют расчёт. Воспроизведение Morph в настоящем Microsoft PowerPoint здесь не проверено.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Показать поиск, переходы и закладки. Изображение является настоящим скриншотом PWA, внутри PowerPoint это иллюстрация, не работающая форма. История и закладки сохраняются локально на устройстве.</a:t>
            </a:r>
          </a:p>
          <a:p/>
          <a:p>
            <a:r>
              <a:t>Слайд управляется щелчком. Скриншоты иллюстративны; внутри PowerPoint формы не выполняют расчёт. Воспроизведение Morph в настоящем Microsoft PowerPoint здесь не проверено.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Другие инструменты включают расчёт уровня, необходимой частоты, притока, потенциала, РПД, коэффициента двигателя 2А и отпайки. При расчёте отпайки учитываются предусмотренные исходники питания, ПЭД, кабеля и вариант ЧРП. Это помощь в расчёте, не автоматическое назначение уставки. Электронный уровень в эту работу не входит.</a:t>
            </a:r>
          </a:p>
          <a:p/>
          <a:p>
            <a:r>
              <a:t>Слайд управляется щелчком. Скриншоты иллюстративны; внутри PowerPoint формы не выполняют расчёт. Воспроизведение Morph в настоящем Microsoft PowerPoint здесь не проверено.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Android — функциональный эталон формул и данных. Регламент ВНР отдельно от названных автором документов ПБ и ОТ в пяти томах. Название со слов автора: «Инструкции по промышленной безопасности и охране труда для работников структурных подразделений ООО „РН-Юганскнефтегаз“». Полноту интеграции всех томов и актуальность редакций не утверждать. Предоставленные учебные материалы RosPump и «Качество данных» использованы как контекст, интеграции с этими системами нет.</a:t>
            </a:r>
          </a:p>
          <a:p/>
          <a:p>
            <a:r>
              <a:t>Слайд управляется щелчком. Скриншоты иллюстративны; внутри PowerPoint формы не выполняют расчёт. Воспроизведение Morph в настоящем Microsoft PowerPoint здесь не проверено.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Три календарных месяца по данным автора. Прямые денежные расходы минимальны по его оценке. Основной вклад — время. Не называть труд бесплатным и не превращать календарный срок в человеко-месяцы. Проверка, внедрение и сопровождение имеют отдельные затраты.</a:t>
            </a:r>
          </a:p>
          <a:p/>
          <a:p>
            <a:r>
              <a:t>Слайд управляется щелчком. Скриншоты иллюстративны; внутри PowerPoint формы не выполняют расчёт. Воспроизведение Morph в настоящем Microsoft PowerPoint здесь не проверено.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Около 250 — оценка потенциальной аудитории, не число активных пользователей. У опытных работников и новичков разные задачи; общая точка — доступ к рабочим инструментам. Масштабирование предлагается после пилота.</a:t>
            </a:r>
          </a:p>
          <a:p/>
          <a:p>
            <a:r>
              <a:t>Слайд управляется щелчком. Скриншоты иллюстративны; внутри PowerPoint формы не выполняют расчёт. Воспроизведение Morph в настоящем Microsoft PowerPoint здесь не проверено.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Пользу предлагается измерять в сопоставимых заданиях: время выполнения, корректность расчёта и последовательности, доступность материалов без сети. Снижение риска ошибок — ожидаемый эффект для проверки. Не заявлять уже предотвращённые ремонты или сохранённую добычу. Финансовые ставки и частота событий пока не подтверждены.</a:t>
            </a:r>
          </a:p>
          <a:p/>
          <a:p>
            <a:r>
              <a:t>Слайд управляется щелчком. Скриншоты иллюстративны; внутри PowerPoint формы не выполняют расчёт. Воспроизведение Morph в настоящем Microsoft PowerPoint здесь не проверено.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Пилот — отдельное предложение руководству, не пятая задача проекта. Начать с проверки формул, материалов и редакций ответственными специалистами. Определить группу, задания и показатели. Затем принять решение по измеренным результатам.</a:t>
            </a:r>
          </a:p>
          <a:p/>
          <a:p>
            <a:r>
              <a:t>Слайд управляется щелчком. Скриншоты иллюстративны; внутри PowerPoint формы не выполняют расчёт. Воспроизведение Morph в настоящем Microsoft PowerPoint здесь не проверено.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Закончить конкретным предложением: согласовать профильную проверку и ограниченный пилот. Дать аудитории время на вопросы. Не представлять приложение как уже утверждённое корпоративное решение.</a:t>
            </a:r>
          </a:p>
          <a:p/>
          <a:p>
            <a:r>
              <a:t>Слайд управляется щелчком. Скриншоты иллюстративны; внутри PowerPoint формы не выполняют расчёт. Воспроизведение Morph в настоящем Microsoft PowerPoint здесь не проверено.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Запасной скрытый слайд. Фото, ФИО, точная должность и номер цеха ещё не предоставлены. Не подставлять вымышленную личность.</a:t>
            </a:r>
          </a:p>
          <a:p/>
          <a:p>
            <a:r>
              <a:t>Слайд управляется щелчком. Скриншоты иллюстративны; внутри PowerPoint формы не выполняют расчёт. Воспроизведение Morph в настоящем Microsoft PowerPoint здесь не проверено.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Ранее сохранённый отчёт PWA v3: 58 локальных тестов, 479 эталонных численных примеров и 6 проверок готовой сборки. Эти данные не подтверждают реальные испытания iPhone/Safari, Android APK или воспроизведение Morph в Office. Перед выпуском очередной версии приложения проверки необходимо повторить.</a:t>
            </a:r>
          </a:p>
          <a:p/>
          <a:p>
            <a:r>
              <a:t>Слайд управляется щелчком. Скриншоты иллюстративны; внутри PowerPoint формы не выполняют расчёт. Воспроизведение Morph в настоящем Microsoft PowerPoint здесь не проверено.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notesSlide" Target="../notesSlides/notesSlide5.xml"/><Relationship Id="rId7" Type="http://schemas.openxmlformats.org/officeDocument/2006/relationships/slide" Target="slide6.xml"/><Relationship Id="rId8" Type="http://schemas.openxmlformats.org/officeDocument/2006/relationships/slide" Target="slide9.xml"/><Relationship Id="rId9" Type="http://schemas.openxmlformats.org/officeDocument/2006/relationships/slide" Target="slide11.xml"/><Relationship Id="rId10" Type="http://schemas.openxmlformats.org/officeDocument/2006/relationships/slide" Target="slide1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notesSlide" Target="../notesSlides/notesSlide6.xml"/><Relationship Id="rId7" Type="http://schemas.openxmlformats.org/officeDocument/2006/relationships/slide" Target="slide5.xml"/><Relationship Id="rId8" Type="http://schemas.openxmlformats.org/officeDocument/2006/relationships/slide" Target="slide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notesSlide" Target="../notesSlides/notesSlide7.xml"/><Relationship Id="rId7" Type="http://schemas.openxmlformats.org/officeDocument/2006/relationships/slide" Target="slide5.xml"/><Relationship Id="rId8" Type="http://schemas.openxmlformats.org/officeDocument/2006/relationships/slide" Target="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notesSlide" Target="../notesSlides/notesSlide8.xml"/><Relationship Id="rId7" Type="http://schemas.openxmlformats.org/officeDocument/2006/relationships/slide" Target="slide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notesSlide" Target="../notesSlides/notesSlide9.xml"/><Relationship Id="rId7" Type="http://schemas.openxmlformats.org/officeDocument/2006/relationships/slide" Target="slide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jpg"/><Relationship Id="rId7" Type="http://schemas.openxmlformats.org/officeDocument/2006/relationships/notesSlide" Target="../notesSlides/notesSlide10.xml"/><Relationship Id="rId8" Type="http://schemas.openxmlformats.org/officeDocument/2006/relationships/slide" Target="slide5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jpg"/><Relationship Id="rId7" Type="http://schemas.openxmlformats.org/officeDocument/2006/relationships/notesSlide" Target="../notesSlides/notesSlide11.xml"/><Relationship Id="rId8" Type="http://schemas.openxmlformats.org/officeDocument/2006/relationships/slide" Target="slide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7.png"/><Relationship Id="rId5" Type="http://schemas.openxmlformats.org/officeDocument/2006/relationships/image" Target="../media/image5.png"/><Relationship Id="rId6" Type="http://schemas.openxmlformats.org/officeDocument/2006/relationships/notesSlide" Target="../notesSlides/notesSlide12.xml"/><Relationship Id="rId7" Type="http://schemas.openxmlformats.org/officeDocument/2006/relationships/slide" Target="slide5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notesSlide" Target="../notesSlides/notesSlide13.xml"/><Relationship Id="rId7" Type="http://schemas.openxmlformats.org/officeDocument/2006/relationships/slide" Target="slide5.xml"/><Relationship Id="rId8" Type="http://schemas.openxmlformats.org/officeDocument/2006/relationships/slide" Target="slide14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notesSlide" Target="../notesSlides/notesSlide14.xml"/><Relationship Id="rId7" Type="http://schemas.openxmlformats.org/officeDocument/2006/relationships/slide" Target="slide5.xml"/><Relationship Id="rId8" Type="http://schemas.openxmlformats.org/officeDocument/2006/relationships/slide" Target="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8.png"/><Relationship Id="rId7" Type="http://schemas.openxmlformats.org/officeDocument/2006/relationships/image" Target="../media/image9.png"/><Relationship Id="rId8" Type="http://schemas.openxmlformats.org/officeDocument/2006/relationships/notesSlide" Target="../notesSlides/notesSlide15.xml"/><Relationship Id="rId9" Type="http://schemas.openxmlformats.org/officeDocument/2006/relationships/slide" Target="slide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1.png"/><Relationship Id="rId7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!!OilfieldImage" descr="oilfield_illustration.png"/>
          <p:cNvPicPr>
            <a:picLocks noChangeAspect="1"/>
          </p:cNvPicPr>
          <p:nvPr/>
        </p:nvPicPr>
        <p:blipFill>
          <a:blip r:embed="rId2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!!WordAperture"/>
          <p:cNvSpPr/>
          <p:nvPr/>
        </p:nvSpPr>
        <p:spPr>
          <a:xfrm>
            <a:off x="0" y="0"/>
            <a:ext cx="12192000" cy="6858000"/>
          </a:xfrm>
          <a:solidFill>
            <a:srgbClr val="000000"/>
          </a:solidFill>
          <a:ln w="6985">
            <a:solidFill>
              <a:srgbClr val="8C7950"/>
            </a:solidFill>
          </a:ln>
          <a:custGeom>
            <a:avLst/>
            <a:gdLst/>
            <a:ahLst/>
            <a:cxnLst/>
            <a:rect l="0" t="0" r="w" b="h"/>
            <a:pathLst>
              <a:path w="128000" h="72000" fill="norm" stroke="false">
                <a:moveTo>
                  <a:pt x="0" y="0"/>
                </a:moveTo>
                <a:lnTo>
                  <a:pt x="128000" y="0"/>
                </a:lnTo>
                <a:lnTo>
                  <a:pt x="128000" y="72000"/>
                </a:lnTo>
                <a:lnTo>
                  <a:pt x="0" y="72000"/>
                </a:lnTo>
                <a:close/>
                <a:moveTo>
                  <a:pt x="17120" y="33368"/>
                </a:moveTo>
                <a:cubicBezTo>
                  <a:pt x="17120" y="34565"/>
                  <a:pt x="16914" y="35618"/>
                  <a:pt x="16501" y="36526"/>
                </a:cubicBezTo>
                <a:cubicBezTo>
                  <a:pt x="16089" y="37435"/>
                  <a:pt x="15498" y="38130"/>
                  <a:pt x="14730" y="38611"/>
                </a:cubicBezTo>
                <a:cubicBezTo>
                  <a:pt x="13962" y="39093"/>
                  <a:pt x="13066" y="39334"/>
                  <a:pt x="12042" y="39334"/>
                </a:cubicBezTo>
                <a:cubicBezTo>
                  <a:pt x="10468" y="39334"/>
                  <a:pt x="9234" y="38802"/>
                  <a:pt x="8341" y="37738"/>
                </a:cubicBezTo>
                <a:cubicBezTo>
                  <a:pt x="7447" y="36674"/>
                  <a:pt x="7000" y="35218"/>
                  <a:pt x="7000" y="33368"/>
                </a:cubicBezTo>
                <a:cubicBezTo>
                  <a:pt x="7000" y="31523"/>
                  <a:pt x="7446" y="30084"/>
                  <a:pt x="8337" y="29051"/>
                </a:cubicBezTo>
                <a:cubicBezTo>
                  <a:pt x="9228" y="28017"/>
                  <a:pt x="10468" y="27500"/>
                  <a:pt x="12056" y="27500"/>
                </a:cubicBezTo>
                <a:cubicBezTo>
                  <a:pt x="13645" y="27500"/>
                  <a:pt x="14886" y="28022"/>
                  <a:pt x="15779" y="29067"/>
                </a:cubicBezTo>
                <a:cubicBezTo>
                  <a:pt x="16673" y="30112"/>
                  <a:pt x="17120" y="31545"/>
                  <a:pt x="17120" y="33368"/>
                </a:cubicBezTo>
                <a:close/>
                <a:moveTo>
                  <a:pt x="14979" y="33368"/>
                </a:moveTo>
                <a:cubicBezTo>
                  <a:pt x="14979" y="32127"/>
                  <a:pt x="14723" y="31155"/>
                  <a:pt x="14211" y="30450"/>
                </a:cubicBezTo>
                <a:cubicBezTo>
                  <a:pt x="13699" y="29746"/>
                  <a:pt x="12981" y="29393"/>
                  <a:pt x="12056" y="29393"/>
                </a:cubicBezTo>
                <a:cubicBezTo>
                  <a:pt x="11118" y="29393"/>
                  <a:pt x="10392" y="29743"/>
                  <a:pt x="9880" y="30442"/>
                </a:cubicBezTo>
                <a:cubicBezTo>
                  <a:pt x="9368" y="31141"/>
                  <a:pt x="9112" y="32116"/>
                  <a:pt x="9112" y="33368"/>
                </a:cubicBezTo>
                <a:cubicBezTo>
                  <a:pt x="9112" y="34630"/>
                  <a:pt x="9374" y="35624"/>
                  <a:pt x="9898" y="36351"/>
                </a:cubicBezTo>
                <a:cubicBezTo>
                  <a:pt x="10422" y="37077"/>
                  <a:pt x="11137" y="37440"/>
                  <a:pt x="12042" y="37440"/>
                </a:cubicBezTo>
                <a:cubicBezTo>
                  <a:pt x="12981" y="37440"/>
                  <a:pt x="13705" y="37087"/>
                  <a:pt x="14215" y="36379"/>
                </a:cubicBezTo>
                <a:cubicBezTo>
                  <a:pt x="14724" y="35672"/>
                  <a:pt x="14979" y="34668"/>
                  <a:pt x="14979" y="33368"/>
                </a:cubicBezTo>
                <a:close/>
                <a:moveTo>
                  <a:pt x="25199" y="39170"/>
                </a:moveTo>
                <a:lnTo>
                  <a:pt x="27226" y="39170"/>
                </a:lnTo>
                <a:lnTo>
                  <a:pt x="27226" y="27671"/>
                </a:lnTo>
                <a:lnTo>
                  <a:pt x="18706" y="27671"/>
                </a:lnTo>
                <a:lnTo>
                  <a:pt x="18706" y="39170"/>
                </a:lnTo>
                <a:lnTo>
                  <a:pt x="20797" y="39170"/>
                </a:lnTo>
                <a:lnTo>
                  <a:pt x="20797" y="29663"/>
                </a:lnTo>
                <a:lnTo>
                  <a:pt x="25199" y="29663"/>
                </a:lnTo>
                <a:close/>
                <a:moveTo>
                  <a:pt x="29174" y="39170"/>
                </a:moveTo>
                <a:lnTo>
                  <a:pt x="29174" y="27671"/>
                </a:lnTo>
                <a:lnTo>
                  <a:pt x="37054" y="27671"/>
                </a:lnTo>
                <a:lnTo>
                  <a:pt x="37054" y="29532"/>
                </a:lnTo>
                <a:lnTo>
                  <a:pt x="31272" y="29532"/>
                </a:lnTo>
                <a:lnTo>
                  <a:pt x="31272" y="32421"/>
                </a:lnTo>
                <a:lnTo>
                  <a:pt x="36620" y="32421"/>
                </a:lnTo>
                <a:lnTo>
                  <a:pt x="36620" y="34282"/>
                </a:lnTo>
                <a:lnTo>
                  <a:pt x="31272" y="34282"/>
                </a:lnTo>
                <a:lnTo>
                  <a:pt x="31272" y="37310"/>
                </a:lnTo>
                <a:lnTo>
                  <a:pt x="37345" y="37310"/>
                </a:lnTo>
                <a:lnTo>
                  <a:pt x="37345" y="39170"/>
                </a:lnTo>
                <a:close/>
                <a:moveTo>
                  <a:pt x="47131" y="31311"/>
                </a:moveTo>
                <a:cubicBezTo>
                  <a:pt x="47131" y="32051"/>
                  <a:pt x="46984" y="32712"/>
                  <a:pt x="46690" y="33294"/>
                </a:cubicBezTo>
                <a:cubicBezTo>
                  <a:pt x="46396" y="33876"/>
                  <a:pt x="45975" y="34327"/>
                  <a:pt x="45428" y="34645"/>
                </a:cubicBezTo>
                <a:cubicBezTo>
                  <a:pt x="44880" y="34963"/>
                  <a:pt x="44230" y="35122"/>
                  <a:pt x="43476" y="35122"/>
                </a:cubicBezTo>
                <a:lnTo>
                  <a:pt x="40987" y="35122"/>
                </a:lnTo>
                <a:lnTo>
                  <a:pt x="40987" y="39170"/>
                </a:lnTo>
                <a:lnTo>
                  <a:pt x="38889" y="39170"/>
                </a:lnTo>
                <a:lnTo>
                  <a:pt x="38889" y="27671"/>
                </a:lnTo>
                <a:lnTo>
                  <a:pt x="43390" y="27671"/>
                </a:lnTo>
                <a:cubicBezTo>
                  <a:pt x="44590" y="27671"/>
                  <a:pt x="45513" y="27988"/>
                  <a:pt x="46160" y="28622"/>
                </a:cubicBezTo>
                <a:cubicBezTo>
                  <a:pt x="46808" y="29256"/>
                  <a:pt x="47131" y="30152"/>
                  <a:pt x="47131" y="31311"/>
                </a:cubicBezTo>
                <a:close/>
                <a:moveTo>
                  <a:pt x="45019" y="31352"/>
                </a:moveTo>
                <a:cubicBezTo>
                  <a:pt x="45019" y="30144"/>
                  <a:pt x="44398" y="29540"/>
                  <a:pt x="43156" y="29540"/>
                </a:cubicBezTo>
                <a:lnTo>
                  <a:pt x="40987" y="29540"/>
                </a:lnTo>
                <a:lnTo>
                  <a:pt x="40987" y="33270"/>
                </a:lnTo>
                <a:lnTo>
                  <a:pt x="43213" y="33270"/>
                </a:lnTo>
                <a:cubicBezTo>
                  <a:pt x="43791" y="33270"/>
                  <a:pt x="44237" y="33105"/>
                  <a:pt x="44550" y="32776"/>
                </a:cubicBezTo>
                <a:cubicBezTo>
                  <a:pt x="44863" y="32447"/>
                  <a:pt x="45019" y="31972"/>
                  <a:pt x="45019" y="31352"/>
                </a:cubicBezTo>
                <a:close/>
                <a:moveTo>
                  <a:pt x="55686" y="39170"/>
                </a:moveTo>
                <a:lnTo>
                  <a:pt x="54798" y="36232"/>
                </a:lnTo>
                <a:lnTo>
                  <a:pt x="50979" y="36232"/>
                </a:lnTo>
                <a:lnTo>
                  <a:pt x="50090" y="39170"/>
                </a:lnTo>
                <a:lnTo>
                  <a:pt x="47992" y="39170"/>
                </a:lnTo>
                <a:lnTo>
                  <a:pt x="51647" y="27671"/>
                </a:lnTo>
                <a:lnTo>
                  <a:pt x="54122" y="27671"/>
                </a:lnTo>
                <a:lnTo>
                  <a:pt x="57763" y="39170"/>
                </a:lnTo>
                <a:close/>
                <a:moveTo>
                  <a:pt x="52884" y="29442"/>
                </a:moveTo>
                <a:lnTo>
                  <a:pt x="52842" y="29622"/>
                </a:lnTo>
                <a:cubicBezTo>
                  <a:pt x="52794" y="29818"/>
                  <a:pt x="52737" y="30041"/>
                  <a:pt x="52671" y="30291"/>
                </a:cubicBezTo>
                <a:cubicBezTo>
                  <a:pt x="52605" y="30541"/>
                  <a:pt x="52197" y="31918"/>
                  <a:pt x="51448" y="34421"/>
                </a:cubicBezTo>
                <a:lnTo>
                  <a:pt x="54328" y="34421"/>
                </a:lnTo>
                <a:lnTo>
                  <a:pt x="53340" y="31115"/>
                </a:lnTo>
                <a:lnTo>
                  <a:pt x="53034" y="30005"/>
                </a:lnTo>
                <a:close/>
                <a:moveTo>
                  <a:pt x="63644" y="29532"/>
                </a:moveTo>
                <a:lnTo>
                  <a:pt x="63644" y="39170"/>
                </a:lnTo>
                <a:lnTo>
                  <a:pt x="61546" y="39170"/>
                </a:lnTo>
                <a:lnTo>
                  <a:pt x="61546" y="29532"/>
                </a:lnTo>
                <a:lnTo>
                  <a:pt x="58311" y="29532"/>
                </a:lnTo>
                <a:lnTo>
                  <a:pt x="58311" y="27671"/>
                </a:lnTo>
                <a:lnTo>
                  <a:pt x="66887" y="27671"/>
                </a:lnTo>
                <a:lnTo>
                  <a:pt x="66887" y="29532"/>
                </a:lnTo>
                <a:close/>
                <a:moveTo>
                  <a:pt x="77761" y="33368"/>
                </a:moveTo>
                <a:cubicBezTo>
                  <a:pt x="77761" y="34565"/>
                  <a:pt x="77555" y="35618"/>
                  <a:pt x="77142" y="36526"/>
                </a:cubicBezTo>
                <a:cubicBezTo>
                  <a:pt x="76730" y="37435"/>
                  <a:pt x="76140" y="38130"/>
                  <a:pt x="75372" y="38611"/>
                </a:cubicBezTo>
                <a:cubicBezTo>
                  <a:pt x="74603" y="39093"/>
                  <a:pt x="73707" y="39334"/>
                  <a:pt x="72683" y="39334"/>
                </a:cubicBezTo>
                <a:cubicBezTo>
                  <a:pt x="71109" y="39334"/>
                  <a:pt x="69875" y="38802"/>
                  <a:pt x="68982" y="37738"/>
                </a:cubicBezTo>
                <a:cubicBezTo>
                  <a:pt x="68088" y="36674"/>
                  <a:pt x="67641" y="35218"/>
                  <a:pt x="67641" y="33368"/>
                </a:cubicBezTo>
                <a:cubicBezTo>
                  <a:pt x="67641" y="31523"/>
                  <a:pt x="68087" y="30084"/>
                  <a:pt x="68978" y="29051"/>
                </a:cubicBezTo>
                <a:cubicBezTo>
                  <a:pt x="69869" y="28017"/>
                  <a:pt x="71109" y="27500"/>
                  <a:pt x="72698" y="27500"/>
                </a:cubicBezTo>
                <a:cubicBezTo>
                  <a:pt x="74286" y="27500"/>
                  <a:pt x="75527" y="28022"/>
                  <a:pt x="76421" y="29067"/>
                </a:cubicBezTo>
                <a:cubicBezTo>
                  <a:pt x="77314" y="30112"/>
                  <a:pt x="77761" y="31545"/>
                  <a:pt x="77761" y="33368"/>
                </a:cubicBezTo>
                <a:close/>
                <a:moveTo>
                  <a:pt x="75620" y="33368"/>
                </a:moveTo>
                <a:cubicBezTo>
                  <a:pt x="75620" y="32127"/>
                  <a:pt x="75364" y="31155"/>
                  <a:pt x="74852" y="30450"/>
                </a:cubicBezTo>
                <a:cubicBezTo>
                  <a:pt x="74340" y="29746"/>
                  <a:pt x="73622" y="29393"/>
                  <a:pt x="72698" y="29393"/>
                </a:cubicBezTo>
                <a:cubicBezTo>
                  <a:pt x="71759" y="29393"/>
                  <a:pt x="71033" y="29743"/>
                  <a:pt x="70521" y="30442"/>
                </a:cubicBezTo>
                <a:cubicBezTo>
                  <a:pt x="70009" y="31141"/>
                  <a:pt x="69753" y="32116"/>
                  <a:pt x="69753" y="33368"/>
                </a:cubicBezTo>
                <a:cubicBezTo>
                  <a:pt x="69753" y="34630"/>
                  <a:pt x="70015" y="35624"/>
                  <a:pt x="70539" y="36351"/>
                </a:cubicBezTo>
                <a:cubicBezTo>
                  <a:pt x="71063" y="37077"/>
                  <a:pt x="71778" y="37440"/>
                  <a:pt x="72683" y="37440"/>
                </a:cubicBezTo>
                <a:cubicBezTo>
                  <a:pt x="73622" y="37440"/>
                  <a:pt x="74346" y="37087"/>
                  <a:pt x="74856" y="36379"/>
                </a:cubicBezTo>
                <a:cubicBezTo>
                  <a:pt x="75366" y="35672"/>
                  <a:pt x="75620" y="34668"/>
                  <a:pt x="75620" y="33368"/>
                </a:cubicBezTo>
                <a:close/>
                <a:moveTo>
                  <a:pt x="87589" y="31311"/>
                </a:moveTo>
                <a:cubicBezTo>
                  <a:pt x="87589" y="32051"/>
                  <a:pt x="87442" y="32712"/>
                  <a:pt x="87148" y="33294"/>
                </a:cubicBezTo>
                <a:cubicBezTo>
                  <a:pt x="86855" y="33876"/>
                  <a:pt x="86434" y="34327"/>
                  <a:pt x="85886" y="34645"/>
                </a:cubicBezTo>
                <a:cubicBezTo>
                  <a:pt x="85339" y="34963"/>
                  <a:pt x="84688" y="35122"/>
                  <a:pt x="83934" y="35122"/>
                </a:cubicBezTo>
                <a:lnTo>
                  <a:pt x="81445" y="35122"/>
                </a:lnTo>
                <a:lnTo>
                  <a:pt x="81445" y="39170"/>
                </a:lnTo>
                <a:lnTo>
                  <a:pt x="79347" y="39170"/>
                </a:lnTo>
                <a:lnTo>
                  <a:pt x="79347" y="27671"/>
                </a:lnTo>
                <a:lnTo>
                  <a:pt x="83849" y="27671"/>
                </a:lnTo>
                <a:cubicBezTo>
                  <a:pt x="85048" y="27671"/>
                  <a:pt x="85971" y="27988"/>
                  <a:pt x="86619" y="28622"/>
                </a:cubicBezTo>
                <a:cubicBezTo>
                  <a:pt x="87266" y="29256"/>
                  <a:pt x="87589" y="30152"/>
                  <a:pt x="87589" y="31311"/>
                </a:cubicBezTo>
                <a:close/>
                <a:moveTo>
                  <a:pt x="85477" y="31352"/>
                </a:moveTo>
                <a:cubicBezTo>
                  <a:pt x="85477" y="30144"/>
                  <a:pt x="84856" y="29540"/>
                  <a:pt x="83614" y="29540"/>
                </a:cubicBezTo>
                <a:lnTo>
                  <a:pt x="81445" y="29540"/>
                </a:lnTo>
                <a:lnTo>
                  <a:pt x="81445" y="33270"/>
                </a:lnTo>
                <a:lnTo>
                  <a:pt x="83671" y="33270"/>
                </a:lnTo>
                <a:cubicBezTo>
                  <a:pt x="84249" y="33270"/>
                  <a:pt x="84695" y="33105"/>
                  <a:pt x="85008" y="32776"/>
                </a:cubicBezTo>
                <a:cubicBezTo>
                  <a:pt x="85321" y="32447"/>
                  <a:pt x="85477" y="31972"/>
                  <a:pt x="85477" y="31352"/>
                </a:cubicBezTo>
                <a:close/>
                <a:moveTo>
                  <a:pt x="100931" y="37179"/>
                </a:moveTo>
                <a:lnTo>
                  <a:pt x="100931" y="27671"/>
                </a:lnTo>
                <a:lnTo>
                  <a:pt x="95320" y="27671"/>
                </a:lnTo>
                <a:lnTo>
                  <a:pt x="94886" y="31303"/>
                </a:lnTo>
                <a:cubicBezTo>
                  <a:pt x="94748" y="32413"/>
                  <a:pt x="94547" y="33492"/>
                  <a:pt x="94281" y="34539"/>
                </a:cubicBezTo>
                <a:cubicBezTo>
                  <a:pt x="94016" y="35586"/>
                  <a:pt x="93713" y="36466"/>
                  <a:pt x="93371" y="37179"/>
                </a:cubicBezTo>
                <a:lnTo>
                  <a:pt x="92262" y="37179"/>
                </a:lnTo>
                <a:lnTo>
                  <a:pt x="92262" y="42500"/>
                </a:lnTo>
                <a:lnTo>
                  <a:pt x="94040" y="42500"/>
                </a:lnTo>
                <a:lnTo>
                  <a:pt x="94040" y="39170"/>
                </a:lnTo>
                <a:lnTo>
                  <a:pt x="100469" y="39170"/>
                </a:lnTo>
                <a:lnTo>
                  <a:pt x="100469" y="42500"/>
                </a:lnTo>
                <a:lnTo>
                  <a:pt x="102247" y="42500"/>
                </a:lnTo>
                <a:lnTo>
                  <a:pt x="102247" y="37179"/>
                </a:lnTo>
                <a:close/>
                <a:moveTo>
                  <a:pt x="98904" y="37179"/>
                </a:moveTo>
                <a:lnTo>
                  <a:pt x="95569" y="37179"/>
                </a:lnTo>
                <a:cubicBezTo>
                  <a:pt x="95815" y="36581"/>
                  <a:pt x="96051" y="35774"/>
                  <a:pt x="96276" y="34759"/>
                </a:cubicBezTo>
                <a:cubicBezTo>
                  <a:pt x="96501" y="33745"/>
                  <a:pt x="96683" y="32682"/>
                  <a:pt x="96820" y="31572"/>
                </a:cubicBezTo>
                <a:lnTo>
                  <a:pt x="97041" y="29663"/>
                </a:lnTo>
                <a:lnTo>
                  <a:pt x="98904" y="29663"/>
                </a:lnTo>
                <a:close/>
                <a:moveTo>
                  <a:pt x="109948" y="39170"/>
                </a:moveTo>
                <a:lnTo>
                  <a:pt x="109948" y="34241"/>
                </a:lnTo>
                <a:lnTo>
                  <a:pt x="105582" y="34241"/>
                </a:lnTo>
                <a:lnTo>
                  <a:pt x="105582" y="39170"/>
                </a:lnTo>
                <a:lnTo>
                  <a:pt x="103484" y="39170"/>
                </a:lnTo>
                <a:lnTo>
                  <a:pt x="103484" y="27671"/>
                </a:lnTo>
                <a:lnTo>
                  <a:pt x="105582" y="27671"/>
                </a:lnTo>
                <a:lnTo>
                  <a:pt x="105582" y="32250"/>
                </a:lnTo>
                <a:lnTo>
                  <a:pt x="109948" y="32250"/>
                </a:lnTo>
                <a:lnTo>
                  <a:pt x="109948" y="27671"/>
                </a:lnTo>
                <a:lnTo>
                  <a:pt x="112046" y="27671"/>
                </a:lnTo>
                <a:lnTo>
                  <a:pt x="112046" y="39170"/>
                </a:lnTo>
                <a:close/>
                <a:moveTo>
                  <a:pt x="121000" y="27671"/>
                </a:moveTo>
                <a:lnTo>
                  <a:pt x="114002" y="27671"/>
                </a:lnTo>
                <a:lnTo>
                  <a:pt x="114002" y="39162"/>
                </a:lnTo>
                <a:lnTo>
                  <a:pt x="116100" y="39162"/>
                </a:lnTo>
                <a:lnTo>
                  <a:pt x="116100" y="29532"/>
                </a:lnTo>
                <a:lnTo>
                  <a:pt x="121000" y="29532"/>
                </a:lnTo>
                <a:close/>
              </a:path>
              <a:path w="128000" h="72000" fill="none" stroke="true">
                <a:moveTo>
                  <a:pt x="17120" y="33368"/>
                </a:moveTo>
                <a:cubicBezTo>
                  <a:pt x="17120" y="34565"/>
                  <a:pt x="16914" y="35618"/>
                  <a:pt x="16501" y="36526"/>
                </a:cubicBezTo>
                <a:cubicBezTo>
                  <a:pt x="16089" y="37435"/>
                  <a:pt x="15498" y="38130"/>
                  <a:pt x="14730" y="38611"/>
                </a:cubicBezTo>
                <a:cubicBezTo>
                  <a:pt x="13962" y="39093"/>
                  <a:pt x="13066" y="39334"/>
                  <a:pt x="12042" y="39334"/>
                </a:cubicBezTo>
                <a:cubicBezTo>
                  <a:pt x="10468" y="39334"/>
                  <a:pt x="9234" y="38802"/>
                  <a:pt x="8341" y="37738"/>
                </a:cubicBezTo>
                <a:cubicBezTo>
                  <a:pt x="7447" y="36674"/>
                  <a:pt x="7000" y="35218"/>
                  <a:pt x="7000" y="33368"/>
                </a:cubicBezTo>
                <a:cubicBezTo>
                  <a:pt x="7000" y="31523"/>
                  <a:pt x="7446" y="30084"/>
                  <a:pt x="8337" y="29051"/>
                </a:cubicBezTo>
                <a:cubicBezTo>
                  <a:pt x="9228" y="28017"/>
                  <a:pt x="10468" y="27500"/>
                  <a:pt x="12056" y="27500"/>
                </a:cubicBezTo>
                <a:cubicBezTo>
                  <a:pt x="13645" y="27500"/>
                  <a:pt x="14886" y="28022"/>
                  <a:pt x="15779" y="29067"/>
                </a:cubicBezTo>
                <a:cubicBezTo>
                  <a:pt x="16673" y="30112"/>
                  <a:pt x="17120" y="31545"/>
                  <a:pt x="17120" y="33368"/>
                </a:cubicBezTo>
                <a:close/>
                <a:moveTo>
                  <a:pt x="14979" y="33368"/>
                </a:moveTo>
                <a:cubicBezTo>
                  <a:pt x="14979" y="32127"/>
                  <a:pt x="14723" y="31155"/>
                  <a:pt x="14211" y="30450"/>
                </a:cubicBezTo>
                <a:cubicBezTo>
                  <a:pt x="13699" y="29746"/>
                  <a:pt x="12981" y="29393"/>
                  <a:pt x="12056" y="29393"/>
                </a:cubicBezTo>
                <a:cubicBezTo>
                  <a:pt x="11118" y="29393"/>
                  <a:pt x="10392" y="29743"/>
                  <a:pt x="9880" y="30442"/>
                </a:cubicBezTo>
                <a:cubicBezTo>
                  <a:pt x="9368" y="31141"/>
                  <a:pt x="9112" y="32116"/>
                  <a:pt x="9112" y="33368"/>
                </a:cubicBezTo>
                <a:cubicBezTo>
                  <a:pt x="9112" y="34630"/>
                  <a:pt x="9374" y="35624"/>
                  <a:pt x="9898" y="36351"/>
                </a:cubicBezTo>
                <a:cubicBezTo>
                  <a:pt x="10422" y="37077"/>
                  <a:pt x="11137" y="37440"/>
                  <a:pt x="12042" y="37440"/>
                </a:cubicBezTo>
                <a:cubicBezTo>
                  <a:pt x="12981" y="37440"/>
                  <a:pt x="13705" y="37087"/>
                  <a:pt x="14215" y="36379"/>
                </a:cubicBezTo>
                <a:cubicBezTo>
                  <a:pt x="14724" y="35672"/>
                  <a:pt x="14979" y="34668"/>
                  <a:pt x="14979" y="33368"/>
                </a:cubicBezTo>
                <a:close/>
                <a:moveTo>
                  <a:pt x="25199" y="39170"/>
                </a:moveTo>
                <a:lnTo>
                  <a:pt x="27226" y="39170"/>
                </a:lnTo>
                <a:lnTo>
                  <a:pt x="27226" y="27671"/>
                </a:lnTo>
                <a:lnTo>
                  <a:pt x="18706" y="27671"/>
                </a:lnTo>
                <a:lnTo>
                  <a:pt x="18706" y="39170"/>
                </a:lnTo>
                <a:lnTo>
                  <a:pt x="20797" y="39170"/>
                </a:lnTo>
                <a:lnTo>
                  <a:pt x="20797" y="29663"/>
                </a:lnTo>
                <a:lnTo>
                  <a:pt x="25199" y="29663"/>
                </a:lnTo>
                <a:close/>
                <a:moveTo>
                  <a:pt x="29174" y="39170"/>
                </a:moveTo>
                <a:lnTo>
                  <a:pt x="29174" y="27671"/>
                </a:lnTo>
                <a:lnTo>
                  <a:pt x="37054" y="27671"/>
                </a:lnTo>
                <a:lnTo>
                  <a:pt x="37054" y="29532"/>
                </a:lnTo>
                <a:lnTo>
                  <a:pt x="31272" y="29532"/>
                </a:lnTo>
                <a:lnTo>
                  <a:pt x="31272" y="32421"/>
                </a:lnTo>
                <a:lnTo>
                  <a:pt x="36620" y="32421"/>
                </a:lnTo>
                <a:lnTo>
                  <a:pt x="36620" y="34282"/>
                </a:lnTo>
                <a:lnTo>
                  <a:pt x="31272" y="34282"/>
                </a:lnTo>
                <a:lnTo>
                  <a:pt x="31272" y="37310"/>
                </a:lnTo>
                <a:lnTo>
                  <a:pt x="37345" y="37310"/>
                </a:lnTo>
                <a:lnTo>
                  <a:pt x="37345" y="39170"/>
                </a:lnTo>
                <a:close/>
                <a:moveTo>
                  <a:pt x="47131" y="31311"/>
                </a:moveTo>
                <a:cubicBezTo>
                  <a:pt x="47131" y="32051"/>
                  <a:pt x="46984" y="32712"/>
                  <a:pt x="46690" y="33294"/>
                </a:cubicBezTo>
                <a:cubicBezTo>
                  <a:pt x="46396" y="33876"/>
                  <a:pt x="45975" y="34327"/>
                  <a:pt x="45428" y="34645"/>
                </a:cubicBezTo>
                <a:cubicBezTo>
                  <a:pt x="44880" y="34963"/>
                  <a:pt x="44230" y="35122"/>
                  <a:pt x="43476" y="35122"/>
                </a:cubicBezTo>
                <a:lnTo>
                  <a:pt x="40987" y="35122"/>
                </a:lnTo>
                <a:lnTo>
                  <a:pt x="40987" y="39170"/>
                </a:lnTo>
                <a:lnTo>
                  <a:pt x="38889" y="39170"/>
                </a:lnTo>
                <a:lnTo>
                  <a:pt x="38889" y="27671"/>
                </a:lnTo>
                <a:lnTo>
                  <a:pt x="43390" y="27671"/>
                </a:lnTo>
                <a:cubicBezTo>
                  <a:pt x="44590" y="27671"/>
                  <a:pt x="45513" y="27988"/>
                  <a:pt x="46160" y="28622"/>
                </a:cubicBezTo>
                <a:cubicBezTo>
                  <a:pt x="46808" y="29256"/>
                  <a:pt x="47131" y="30152"/>
                  <a:pt x="47131" y="31311"/>
                </a:cubicBezTo>
                <a:close/>
                <a:moveTo>
                  <a:pt x="45019" y="31352"/>
                </a:moveTo>
                <a:cubicBezTo>
                  <a:pt x="45019" y="30144"/>
                  <a:pt x="44398" y="29540"/>
                  <a:pt x="43156" y="29540"/>
                </a:cubicBezTo>
                <a:lnTo>
                  <a:pt x="40987" y="29540"/>
                </a:lnTo>
                <a:lnTo>
                  <a:pt x="40987" y="33270"/>
                </a:lnTo>
                <a:lnTo>
                  <a:pt x="43213" y="33270"/>
                </a:lnTo>
                <a:cubicBezTo>
                  <a:pt x="43791" y="33270"/>
                  <a:pt x="44237" y="33105"/>
                  <a:pt x="44550" y="32776"/>
                </a:cubicBezTo>
                <a:cubicBezTo>
                  <a:pt x="44863" y="32447"/>
                  <a:pt x="45019" y="31972"/>
                  <a:pt x="45019" y="31352"/>
                </a:cubicBezTo>
                <a:close/>
                <a:moveTo>
                  <a:pt x="55686" y="39170"/>
                </a:moveTo>
                <a:lnTo>
                  <a:pt x="54798" y="36232"/>
                </a:lnTo>
                <a:lnTo>
                  <a:pt x="50979" y="36232"/>
                </a:lnTo>
                <a:lnTo>
                  <a:pt x="50090" y="39170"/>
                </a:lnTo>
                <a:lnTo>
                  <a:pt x="47992" y="39170"/>
                </a:lnTo>
                <a:lnTo>
                  <a:pt x="51647" y="27671"/>
                </a:lnTo>
                <a:lnTo>
                  <a:pt x="54122" y="27671"/>
                </a:lnTo>
                <a:lnTo>
                  <a:pt x="57763" y="39170"/>
                </a:lnTo>
                <a:close/>
                <a:moveTo>
                  <a:pt x="52884" y="29442"/>
                </a:moveTo>
                <a:lnTo>
                  <a:pt x="52842" y="29622"/>
                </a:lnTo>
                <a:cubicBezTo>
                  <a:pt x="52794" y="29818"/>
                  <a:pt x="52737" y="30041"/>
                  <a:pt x="52671" y="30291"/>
                </a:cubicBezTo>
                <a:cubicBezTo>
                  <a:pt x="52605" y="30541"/>
                  <a:pt x="52197" y="31918"/>
                  <a:pt x="51448" y="34421"/>
                </a:cubicBezTo>
                <a:lnTo>
                  <a:pt x="54328" y="34421"/>
                </a:lnTo>
                <a:lnTo>
                  <a:pt x="53340" y="31115"/>
                </a:lnTo>
                <a:lnTo>
                  <a:pt x="53034" y="30005"/>
                </a:lnTo>
                <a:close/>
                <a:moveTo>
                  <a:pt x="63644" y="29532"/>
                </a:moveTo>
                <a:lnTo>
                  <a:pt x="63644" y="39170"/>
                </a:lnTo>
                <a:lnTo>
                  <a:pt x="61546" y="39170"/>
                </a:lnTo>
                <a:lnTo>
                  <a:pt x="61546" y="29532"/>
                </a:lnTo>
                <a:lnTo>
                  <a:pt x="58311" y="29532"/>
                </a:lnTo>
                <a:lnTo>
                  <a:pt x="58311" y="27671"/>
                </a:lnTo>
                <a:lnTo>
                  <a:pt x="66887" y="27671"/>
                </a:lnTo>
                <a:lnTo>
                  <a:pt x="66887" y="29532"/>
                </a:lnTo>
                <a:close/>
                <a:moveTo>
                  <a:pt x="77761" y="33368"/>
                </a:moveTo>
                <a:cubicBezTo>
                  <a:pt x="77761" y="34565"/>
                  <a:pt x="77555" y="35618"/>
                  <a:pt x="77142" y="36526"/>
                </a:cubicBezTo>
                <a:cubicBezTo>
                  <a:pt x="76730" y="37435"/>
                  <a:pt x="76140" y="38130"/>
                  <a:pt x="75372" y="38611"/>
                </a:cubicBezTo>
                <a:cubicBezTo>
                  <a:pt x="74603" y="39093"/>
                  <a:pt x="73707" y="39334"/>
                  <a:pt x="72683" y="39334"/>
                </a:cubicBezTo>
                <a:cubicBezTo>
                  <a:pt x="71109" y="39334"/>
                  <a:pt x="69875" y="38802"/>
                  <a:pt x="68982" y="37738"/>
                </a:cubicBezTo>
                <a:cubicBezTo>
                  <a:pt x="68088" y="36674"/>
                  <a:pt x="67641" y="35218"/>
                  <a:pt x="67641" y="33368"/>
                </a:cubicBezTo>
                <a:cubicBezTo>
                  <a:pt x="67641" y="31523"/>
                  <a:pt x="68087" y="30084"/>
                  <a:pt x="68978" y="29051"/>
                </a:cubicBezTo>
                <a:cubicBezTo>
                  <a:pt x="69869" y="28017"/>
                  <a:pt x="71109" y="27500"/>
                  <a:pt x="72698" y="27500"/>
                </a:cubicBezTo>
                <a:cubicBezTo>
                  <a:pt x="74286" y="27500"/>
                  <a:pt x="75527" y="28022"/>
                  <a:pt x="76421" y="29067"/>
                </a:cubicBezTo>
                <a:cubicBezTo>
                  <a:pt x="77314" y="30112"/>
                  <a:pt x="77761" y="31545"/>
                  <a:pt x="77761" y="33368"/>
                </a:cubicBezTo>
                <a:close/>
                <a:moveTo>
                  <a:pt x="75620" y="33368"/>
                </a:moveTo>
                <a:cubicBezTo>
                  <a:pt x="75620" y="32127"/>
                  <a:pt x="75364" y="31155"/>
                  <a:pt x="74852" y="30450"/>
                </a:cubicBezTo>
                <a:cubicBezTo>
                  <a:pt x="74340" y="29746"/>
                  <a:pt x="73622" y="29393"/>
                  <a:pt x="72698" y="29393"/>
                </a:cubicBezTo>
                <a:cubicBezTo>
                  <a:pt x="71759" y="29393"/>
                  <a:pt x="71033" y="29743"/>
                  <a:pt x="70521" y="30442"/>
                </a:cubicBezTo>
                <a:cubicBezTo>
                  <a:pt x="70009" y="31141"/>
                  <a:pt x="69753" y="32116"/>
                  <a:pt x="69753" y="33368"/>
                </a:cubicBezTo>
                <a:cubicBezTo>
                  <a:pt x="69753" y="34630"/>
                  <a:pt x="70015" y="35624"/>
                  <a:pt x="70539" y="36351"/>
                </a:cubicBezTo>
                <a:cubicBezTo>
                  <a:pt x="71063" y="37077"/>
                  <a:pt x="71778" y="37440"/>
                  <a:pt x="72683" y="37440"/>
                </a:cubicBezTo>
                <a:cubicBezTo>
                  <a:pt x="73622" y="37440"/>
                  <a:pt x="74346" y="37087"/>
                  <a:pt x="74856" y="36379"/>
                </a:cubicBezTo>
                <a:cubicBezTo>
                  <a:pt x="75366" y="35672"/>
                  <a:pt x="75620" y="34668"/>
                  <a:pt x="75620" y="33368"/>
                </a:cubicBezTo>
                <a:close/>
                <a:moveTo>
                  <a:pt x="87589" y="31311"/>
                </a:moveTo>
                <a:cubicBezTo>
                  <a:pt x="87589" y="32051"/>
                  <a:pt x="87442" y="32712"/>
                  <a:pt x="87148" y="33294"/>
                </a:cubicBezTo>
                <a:cubicBezTo>
                  <a:pt x="86855" y="33876"/>
                  <a:pt x="86434" y="34327"/>
                  <a:pt x="85886" y="34645"/>
                </a:cubicBezTo>
                <a:cubicBezTo>
                  <a:pt x="85339" y="34963"/>
                  <a:pt x="84688" y="35122"/>
                  <a:pt x="83934" y="35122"/>
                </a:cubicBezTo>
                <a:lnTo>
                  <a:pt x="81445" y="35122"/>
                </a:lnTo>
                <a:lnTo>
                  <a:pt x="81445" y="39170"/>
                </a:lnTo>
                <a:lnTo>
                  <a:pt x="79347" y="39170"/>
                </a:lnTo>
                <a:lnTo>
                  <a:pt x="79347" y="27671"/>
                </a:lnTo>
                <a:lnTo>
                  <a:pt x="83849" y="27671"/>
                </a:lnTo>
                <a:cubicBezTo>
                  <a:pt x="85048" y="27671"/>
                  <a:pt x="85971" y="27988"/>
                  <a:pt x="86619" y="28622"/>
                </a:cubicBezTo>
                <a:cubicBezTo>
                  <a:pt x="87266" y="29256"/>
                  <a:pt x="87589" y="30152"/>
                  <a:pt x="87589" y="31311"/>
                </a:cubicBezTo>
                <a:close/>
                <a:moveTo>
                  <a:pt x="85477" y="31352"/>
                </a:moveTo>
                <a:cubicBezTo>
                  <a:pt x="85477" y="30144"/>
                  <a:pt x="84856" y="29540"/>
                  <a:pt x="83614" y="29540"/>
                </a:cubicBezTo>
                <a:lnTo>
                  <a:pt x="81445" y="29540"/>
                </a:lnTo>
                <a:lnTo>
                  <a:pt x="81445" y="33270"/>
                </a:lnTo>
                <a:lnTo>
                  <a:pt x="83671" y="33270"/>
                </a:lnTo>
                <a:cubicBezTo>
                  <a:pt x="84249" y="33270"/>
                  <a:pt x="84695" y="33105"/>
                  <a:pt x="85008" y="32776"/>
                </a:cubicBezTo>
                <a:cubicBezTo>
                  <a:pt x="85321" y="32447"/>
                  <a:pt x="85477" y="31972"/>
                  <a:pt x="85477" y="31352"/>
                </a:cubicBezTo>
                <a:close/>
                <a:moveTo>
                  <a:pt x="100931" y="37179"/>
                </a:moveTo>
                <a:lnTo>
                  <a:pt x="100931" y="27671"/>
                </a:lnTo>
                <a:lnTo>
                  <a:pt x="95320" y="27671"/>
                </a:lnTo>
                <a:lnTo>
                  <a:pt x="94886" y="31303"/>
                </a:lnTo>
                <a:cubicBezTo>
                  <a:pt x="94748" y="32413"/>
                  <a:pt x="94547" y="33492"/>
                  <a:pt x="94281" y="34539"/>
                </a:cubicBezTo>
                <a:cubicBezTo>
                  <a:pt x="94016" y="35586"/>
                  <a:pt x="93713" y="36466"/>
                  <a:pt x="93371" y="37179"/>
                </a:cubicBezTo>
                <a:lnTo>
                  <a:pt x="92262" y="37179"/>
                </a:lnTo>
                <a:lnTo>
                  <a:pt x="92262" y="42500"/>
                </a:lnTo>
                <a:lnTo>
                  <a:pt x="94040" y="42500"/>
                </a:lnTo>
                <a:lnTo>
                  <a:pt x="94040" y="39170"/>
                </a:lnTo>
                <a:lnTo>
                  <a:pt x="100469" y="39170"/>
                </a:lnTo>
                <a:lnTo>
                  <a:pt x="100469" y="42500"/>
                </a:lnTo>
                <a:lnTo>
                  <a:pt x="102247" y="42500"/>
                </a:lnTo>
                <a:lnTo>
                  <a:pt x="102247" y="37179"/>
                </a:lnTo>
                <a:close/>
                <a:moveTo>
                  <a:pt x="98904" y="37179"/>
                </a:moveTo>
                <a:lnTo>
                  <a:pt x="95569" y="37179"/>
                </a:lnTo>
                <a:cubicBezTo>
                  <a:pt x="95815" y="36581"/>
                  <a:pt x="96051" y="35774"/>
                  <a:pt x="96276" y="34759"/>
                </a:cubicBezTo>
                <a:cubicBezTo>
                  <a:pt x="96501" y="33745"/>
                  <a:pt x="96683" y="32682"/>
                  <a:pt x="96820" y="31572"/>
                </a:cubicBezTo>
                <a:lnTo>
                  <a:pt x="97041" y="29663"/>
                </a:lnTo>
                <a:lnTo>
                  <a:pt x="98904" y="29663"/>
                </a:lnTo>
                <a:close/>
                <a:moveTo>
                  <a:pt x="109948" y="39170"/>
                </a:moveTo>
                <a:lnTo>
                  <a:pt x="109948" y="34241"/>
                </a:lnTo>
                <a:lnTo>
                  <a:pt x="105582" y="34241"/>
                </a:lnTo>
                <a:lnTo>
                  <a:pt x="105582" y="39170"/>
                </a:lnTo>
                <a:lnTo>
                  <a:pt x="103484" y="39170"/>
                </a:lnTo>
                <a:lnTo>
                  <a:pt x="103484" y="27671"/>
                </a:lnTo>
                <a:lnTo>
                  <a:pt x="105582" y="27671"/>
                </a:lnTo>
                <a:lnTo>
                  <a:pt x="105582" y="32250"/>
                </a:lnTo>
                <a:lnTo>
                  <a:pt x="109948" y="32250"/>
                </a:lnTo>
                <a:lnTo>
                  <a:pt x="109948" y="27671"/>
                </a:lnTo>
                <a:lnTo>
                  <a:pt x="112046" y="27671"/>
                </a:lnTo>
                <a:lnTo>
                  <a:pt x="112046" y="39170"/>
                </a:lnTo>
                <a:close/>
                <a:moveTo>
                  <a:pt x="121000" y="27671"/>
                </a:moveTo>
                <a:lnTo>
                  <a:pt x="114002" y="27671"/>
                </a:lnTo>
                <a:lnTo>
                  <a:pt x="114002" y="39162"/>
                </a:lnTo>
                <a:lnTo>
                  <a:pt x="116100" y="39162"/>
                </a:lnTo>
                <a:lnTo>
                  <a:pt x="116100" y="29532"/>
                </a:lnTo>
                <a:lnTo>
                  <a:pt x="121000" y="29532"/>
                </a:lnTo>
                <a:close/>
              </a:path>
            </a:pathLst>
          </a:cu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!!YellowRule"/>
          <p:cNvSpPr/>
          <p:nvPr/>
        </p:nvSpPr>
        <p:spPr>
          <a:xfrm>
            <a:off x="666750" y="590550"/>
            <a:ext cx="819150" cy="47625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IntroEyebrow"/>
          <p:cNvSpPr txBox="1"/>
          <p:nvPr/>
        </p:nvSpPr>
        <p:spPr>
          <a:xfrm>
            <a:off x="666750" y="838200"/>
            <a:ext cx="10858500" cy="4286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b="1" sz="1500">
                <a:solidFill>
                  <a:srgbClr val="FFCD00"/>
                </a:solidFill>
                <a:latin typeface="Arial"/>
              </a:defRPr>
            </a:pPr>
            <a:r>
              <a:t>ПРОЕКТ ЦИФРОВОГО ПОМОЩНИКА</a:t>
            </a:r>
          </a:p>
        </p:txBody>
      </p:sp>
      <p:sp>
        <p:nvSpPr>
          <p:cNvPr id="6" name="IntroCaption"/>
          <p:cNvSpPr txBox="1"/>
          <p:nvPr/>
        </p:nvSpPr>
        <p:spPr>
          <a:xfrm>
            <a:off x="695325" y="5286375"/>
            <a:ext cx="10763250" cy="571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b="1" sz="1800">
                <a:solidFill>
                  <a:srgbClr val="FFFFFF"/>
                </a:solidFill>
                <a:latin typeface="Arial"/>
              </a:defRPr>
            </a:pPr>
            <a:r>
              <a:t>ОПЕРАТОРУ ДОБЫЧИ НЕФТИ И ГАЗА</a:t>
            </a:r>
          </a:p>
        </p:txBody>
      </p:sp>
      <p:sp>
        <p:nvSpPr>
          <p:cNvPr id="7" name="!!Footer"/>
          <p:cNvSpPr txBox="1"/>
          <p:nvPr/>
        </p:nvSpPr>
        <p:spPr>
          <a:xfrm>
            <a:off x="685800" y="6343650"/>
            <a:ext cx="10858500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b="1" sz="1050">
                <a:solidFill>
                  <a:srgbClr val="FFFFFF"/>
                </a:solidFill>
                <a:latin typeface="Arial"/>
              </a:defRPr>
            </a:pPr>
            <a:r>
              <a:t>ООО «РН-Юганскнефтегаз» · проект для обсуждения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 xmlns:p14="http://schemas.microsoft.com/office/powerpoint/2010/main">
    <mc:Choice Requires="p159">
      <p:transition advClick="1" spd="slow" p14:dur="1800">
        <p159:morph option="byObject"/>
      </p:transition>
    </mc:Choice>
    <mc:Fallback>
      <p:transition advClick="1" spd="slow">
        <p:push dir="l"/>
      </p:transition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!!OilfieldImage" descr="oilfield_illustration.png"/>
          <p:cNvPicPr>
            <a:picLocks noChangeAspect="1"/>
          </p:cNvPicPr>
          <p:nvPr/>
        </p:nvPicPr>
        <p:blipFill>
          <a:blip r:embed="rId2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!!WordAperture"/>
          <p:cNvSpPr/>
          <p:nvPr/>
        </p:nvSpPr>
        <p:spPr>
          <a:xfrm>
            <a:off x="-307772774" y="-363283500"/>
            <a:ext cx="1341120000" cy="754380000"/>
          </a:xfrm>
          <a:solidFill>
            <a:srgbClr val="000000"/>
          </a:solidFill>
          <a:ln w="6985">
            <a:solidFill>
              <a:srgbClr val="8C7950"/>
            </a:solidFill>
          </a:ln>
          <a:custGeom>
            <a:avLst/>
            <a:gdLst/>
            <a:ahLst/>
            <a:cxnLst/>
            <a:rect l="0" t="0" r="w" b="h"/>
            <a:pathLst>
              <a:path w="128000" h="72000" fill="norm" stroke="false">
                <a:moveTo>
                  <a:pt x="0" y="0"/>
                </a:moveTo>
                <a:lnTo>
                  <a:pt x="128000" y="0"/>
                </a:lnTo>
                <a:lnTo>
                  <a:pt x="128000" y="72000"/>
                </a:lnTo>
                <a:lnTo>
                  <a:pt x="0" y="72000"/>
                </a:lnTo>
                <a:close/>
                <a:moveTo>
                  <a:pt x="17120" y="33368"/>
                </a:moveTo>
                <a:cubicBezTo>
                  <a:pt x="17120" y="34565"/>
                  <a:pt x="16914" y="35618"/>
                  <a:pt x="16501" y="36526"/>
                </a:cubicBezTo>
                <a:cubicBezTo>
                  <a:pt x="16089" y="37435"/>
                  <a:pt x="15498" y="38130"/>
                  <a:pt x="14730" y="38611"/>
                </a:cubicBezTo>
                <a:cubicBezTo>
                  <a:pt x="13962" y="39093"/>
                  <a:pt x="13066" y="39334"/>
                  <a:pt x="12042" y="39334"/>
                </a:cubicBezTo>
                <a:cubicBezTo>
                  <a:pt x="10468" y="39334"/>
                  <a:pt x="9234" y="38802"/>
                  <a:pt x="8341" y="37738"/>
                </a:cubicBezTo>
                <a:cubicBezTo>
                  <a:pt x="7447" y="36674"/>
                  <a:pt x="7000" y="35218"/>
                  <a:pt x="7000" y="33368"/>
                </a:cubicBezTo>
                <a:cubicBezTo>
                  <a:pt x="7000" y="31523"/>
                  <a:pt x="7446" y="30084"/>
                  <a:pt x="8337" y="29051"/>
                </a:cubicBezTo>
                <a:cubicBezTo>
                  <a:pt x="9228" y="28017"/>
                  <a:pt x="10468" y="27500"/>
                  <a:pt x="12056" y="27500"/>
                </a:cubicBezTo>
                <a:cubicBezTo>
                  <a:pt x="13645" y="27500"/>
                  <a:pt x="14886" y="28022"/>
                  <a:pt x="15779" y="29067"/>
                </a:cubicBezTo>
                <a:cubicBezTo>
                  <a:pt x="16673" y="30112"/>
                  <a:pt x="17120" y="31545"/>
                  <a:pt x="17120" y="33368"/>
                </a:cubicBezTo>
                <a:close/>
                <a:moveTo>
                  <a:pt x="14979" y="33368"/>
                </a:moveTo>
                <a:cubicBezTo>
                  <a:pt x="14979" y="32127"/>
                  <a:pt x="14723" y="31155"/>
                  <a:pt x="14211" y="30450"/>
                </a:cubicBezTo>
                <a:cubicBezTo>
                  <a:pt x="13699" y="29746"/>
                  <a:pt x="12981" y="29393"/>
                  <a:pt x="12056" y="29393"/>
                </a:cubicBezTo>
                <a:cubicBezTo>
                  <a:pt x="11118" y="29393"/>
                  <a:pt x="10392" y="29743"/>
                  <a:pt x="9880" y="30442"/>
                </a:cubicBezTo>
                <a:cubicBezTo>
                  <a:pt x="9368" y="31141"/>
                  <a:pt x="9112" y="32116"/>
                  <a:pt x="9112" y="33368"/>
                </a:cubicBezTo>
                <a:cubicBezTo>
                  <a:pt x="9112" y="34630"/>
                  <a:pt x="9374" y="35624"/>
                  <a:pt x="9898" y="36351"/>
                </a:cubicBezTo>
                <a:cubicBezTo>
                  <a:pt x="10422" y="37077"/>
                  <a:pt x="11137" y="37440"/>
                  <a:pt x="12042" y="37440"/>
                </a:cubicBezTo>
                <a:cubicBezTo>
                  <a:pt x="12981" y="37440"/>
                  <a:pt x="13705" y="37087"/>
                  <a:pt x="14215" y="36379"/>
                </a:cubicBezTo>
                <a:cubicBezTo>
                  <a:pt x="14724" y="35672"/>
                  <a:pt x="14979" y="34668"/>
                  <a:pt x="14979" y="33368"/>
                </a:cubicBezTo>
                <a:close/>
                <a:moveTo>
                  <a:pt x="25199" y="39170"/>
                </a:moveTo>
                <a:lnTo>
                  <a:pt x="27226" y="39170"/>
                </a:lnTo>
                <a:lnTo>
                  <a:pt x="27226" y="27671"/>
                </a:lnTo>
                <a:lnTo>
                  <a:pt x="18706" y="27671"/>
                </a:lnTo>
                <a:lnTo>
                  <a:pt x="18706" y="39170"/>
                </a:lnTo>
                <a:lnTo>
                  <a:pt x="20797" y="39170"/>
                </a:lnTo>
                <a:lnTo>
                  <a:pt x="20797" y="29663"/>
                </a:lnTo>
                <a:lnTo>
                  <a:pt x="25199" y="29663"/>
                </a:lnTo>
                <a:close/>
                <a:moveTo>
                  <a:pt x="29174" y="39170"/>
                </a:moveTo>
                <a:lnTo>
                  <a:pt x="29174" y="27671"/>
                </a:lnTo>
                <a:lnTo>
                  <a:pt x="37054" y="27671"/>
                </a:lnTo>
                <a:lnTo>
                  <a:pt x="37054" y="29532"/>
                </a:lnTo>
                <a:lnTo>
                  <a:pt x="31272" y="29532"/>
                </a:lnTo>
                <a:lnTo>
                  <a:pt x="31272" y="32421"/>
                </a:lnTo>
                <a:lnTo>
                  <a:pt x="36620" y="32421"/>
                </a:lnTo>
                <a:lnTo>
                  <a:pt x="36620" y="34282"/>
                </a:lnTo>
                <a:lnTo>
                  <a:pt x="31272" y="34282"/>
                </a:lnTo>
                <a:lnTo>
                  <a:pt x="31272" y="37310"/>
                </a:lnTo>
                <a:lnTo>
                  <a:pt x="37345" y="37310"/>
                </a:lnTo>
                <a:lnTo>
                  <a:pt x="37345" y="39170"/>
                </a:lnTo>
                <a:close/>
                <a:moveTo>
                  <a:pt x="47131" y="31311"/>
                </a:moveTo>
                <a:cubicBezTo>
                  <a:pt x="47131" y="32051"/>
                  <a:pt x="46984" y="32712"/>
                  <a:pt x="46690" y="33294"/>
                </a:cubicBezTo>
                <a:cubicBezTo>
                  <a:pt x="46396" y="33876"/>
                  <a:pt x="45975" y="34327"/>
                  <a:pt x="45428" y="34645"/>
                </a:cubicBezTo>
                <a:cubicBezTo>
                  <a:pt x="44880" y="34963"/>
                  <a:pt x="44230" y="35122"/>
                  <a:pt x="43476" y="35122"/>
                </a:cubicBezTo>
                <a:lnTo>
                  <a:pt x="40987" y="35122"/>
                </a:lnTo>
                <a:lnTo>
                  <a:pt x="40987" y="39170"/>
                </a:lnTo>
                <a:lnTo>
                  <a:pt x="38889" y="39170"/>
                </a:lnTo>
                <a:lnTo>
                  <a:pt x="38889" y="27671"/>
                </a:lnTo>
                <a:lnTo>
                  <a:pt x="43390" y="27671"/>
                </a:lnTo>
                <a:cubicBezTo>
                  <a:pt x="44590" y="27671"/>
                  <a:pt x="45513" y="27988"/>
                  <a:pt x="46160" y="28622"/>
                </a:cubicBezTo>
                <a:cubicBezTo>
                  <a:pt x="46808" y="29256"/>
                  <a:pt x="47131" y="30152"/>
                  <a:pt x="47131" y="31311"/>
                </a:cubicBezTo>
                <a:close/>
                <a:moveTo>
                  <a:pt x="45019" y="31352"/>
                </a:moveTo>
                <a:cubicBezTo>
                  <a:pt x="45019" y="30144"/>
                  <a:pt x="44398" y="29540"/>
                  <a:pt x="43156" y="29540"/>
                </a:cubicBezTo>
                <a:lnTo>
                  <a:pt x="40987" y="29540"/>
                </a:lnTo>
                <a:lnTo>
                  <a:pt x="40987" y="33270"/>
                </a:lnTo>
                <a:lnTo>
                  <a:pt x="43213" y="33270"/>
                </a:lnTo>
                <a:cubicBezTo>
                  <a:pt x="43791" y="33270"/>
                  <a:pt x="44237" y="33105"/>
                  <a:pt x="44550" y="32776"/>
                </a:cubicBezTo>
                <a:cubicBezTo>
                  <a:pt x="44863" y="32447"/>
                  <a:pt x="45019" y="31972"/>
                  <a:pt x="45019" y="31352"/>
                </a:cubicBezTo>
                <a:close/>
                <a:moveTo>
                  <a:pt x="55686" y="39170"/>
                </a:moveTo>
                <a:lnTo>
                  <a:pt x="54798" y="36232"/>
                </a:lnTo>
                <a:lnTo>
                  <a:pt x="50979" y="36232"/>
                </a:lnTo>
                <a:lnTo>
                  <a:pt x="50090" y="39170"/>
                </a:lnTo>
                <a:lnTo>
                  <a:pt x="47992" y="39170"/>
                </a:lnTo>
                <a:lnTo>
                  <a:pt x="51647" y="27671"/>
                </a:lnTo>
                <a:lnTo>
                  <a:pt x="54122" y="27671"/>
                </a:lnTo>
                <a:lnTo>
                  <a:pt x="57763" y="39170"/>
                </a:lnTo>
                <a:close/>
                <a:moveTo>
                  <a:pt x="52884" y="29442"/>
                </a:moveTo>
                <a:lnTo>
                  <a:pt x="52842" y="29622"/>
                </a:lnTo>
                <a:cubicBezTo>
                  <a:pt x="52794" y="29818"/>
                  <a:pt x="52737" y="30041"/>
                  <a:pt x="52671" y="30291"/>
                </a:cubicBezTo>
                <a:cubicBezTo>
                  <a:pt x="52605" y="30541"/>
                  <a:pt x="52197" y="31918"/>
                  <a:pt x="51448" y="34421"/>
                </a:cubicBezTo>
                <a:lnTo>
                  <a:pt x="54328" y="34421"/>
                </a:lnTo>
                <a:lnTo>
                  <a:pt x="53340" y="31115"/>
                </a:lnTo>
                <a:lnTo>
                  <a:pt x="53034" y="30005"/>
                </a:lnTo>
                <a:close/>
                <a:moveTo>
                  <a:pt x="63644" y="29532"/>
                </a:moveTo>
                <a:lnTo>
                  <a:pt x="63644" y="39170"/>
                </a:lnTo>
                <a:lnTo>
                  <a:pt x="61546" y="39170"/>
                </a:lnTo>
                <a:lnTo>
                  <a:pt x="61546" y="29532"/>
                </a:lnTo>
                <a:lnTo>
                  <a:pt x="58311" y="29532"/>
                </a:lnTo>
                <a:lnTo>
                  <a:pt x="58311" y="27671"/>
                </a:lnTo>
                <a:lnTo>
                  <a:pt x="66887" y="27671"/>
                </a:lnTo>
                <a:lnTo>
                  <a:pt x="66887" y="29532"/>
                </a:lnTo>
                <a:close/>
                <a:moveTo>
                  <a:pt x="77761" y="33368"/>
                </a:moveTo>
                <a:cubicBezTo>
                  <a:pt x="77761" y="34565"/>
                  <a:pt x="77555" y="35618"/>
                  <a:pt x="77142" y="36526"/>
                </a:cubicBezTo>
                <a:cubicBezTo>
                  <a:pt x="76730" y="37435"/>
                  <a:pt x="76140" y="38130"/>
                  <a:pt x="75372" y="38611"/>
                </a:cubicBezTo>
                <a:cubicBezTo>
                  <a:pt x="74603" y="39093"/>
                  <a:pt x="73707" y="39334"/>
                  <a:pt x="72683" y="39334"/>
                </a:cubicBezTo>
                <a:cubicBezTo>
                  <a:pt x="71109" y="39334"/>
                  <a:pt x="69875" y="38802"/>
                  <a:pt x="68982" y="37738"/>
                </a:cubicBezTo>
                <a:cubicBezTo>
                  <a:pt x="68088" y="36674"/>
                  <a:pt x="67641" y="35218"/>
                  <a:pt x="67641" y="33368"/>
                </a:cubicBezTo>
                <a:cubicBezTo>
                  <a:pt x="67641" y="31523"/>
                  <a:pt x="68087" y="30084"/>
                  <a:pt x="68978" y="29051"/>
                </a:cubicBezTo>
                <a:cubicBezTo>
                  <a:pt x="69869" y="28017"/>
                  <a:pt x="71109" y="27500"/>
                  <a:pt x="72698" y="27500"/>
                </a:cubicBezTo>
                <a:cubicBezTo>
                  <a:pt x="74286" y="27500"/>
                  <a:pt x="75527" y="28022"/>
                  <a:pt x="76421" y="29067"/>
                </a:cubicBezTo>
                <a:cubicBezTo>
                  <a:pt x="77314" y="30112"/>
                  <a:pt x="77761" y="31545"/>
                  <a:pt x="77761" y="33368"/>
                </a:cubicBezTo>
                <a:close/>
                <a:moveTo>
                  <a:pt x="75620" y="33368"/>
                </a:moveTo>
                <a:cubicBezTo>
                  <a:pt x="75620" y="32127"/>
                  <a:pt x="75364" y="31155"/>
                  <a:pt x="74852" y="30450"/>
                </a:cubicBezTo>
                <a:cubicBezTo>
                  <a:pt x="74340" y="29746"/>
                  <a:pt x="73622" y="29393"/>
                  <a:pt x="72698" y="29393"/>
                </a:cubicBezTo>
                <a:cubicBezTo>
                  <a:pt x="71759" y="29393"/>
                  <a:pt x="71033" y="29743"/>
                  <a:pt x="70521" y="30442"/>
                </a:cubicBezTo>
                <a:cubicBezTo>
                  <a:pt x="70009" y="31141"/>
                  <a:pt x="69753" y="32116"/>
                  <a:pt x="69753" y="33368"/>
                </a:cubicBezTo>
                <a:cubicBezTo>
                  <a:pt x="69753" y="34630"/>
                  <a:pt x="70015" y="35624"/>
                  <a:pt x="70539" y="36351"/>
                </a:cubicBezTo>
                <a:cubicBezTo>
                  <a:pt x="71063" y="37077"/>
                  <a:pt x="71778" y="37440"/>
                  <a:pt x="72683" y="37440"/>
                </a:cubicBezTo>
                <a:cubicBezTo>
                  <a:pt x="73622" y="37440"/>
                  <a:pt x="74346" y="37087"/>
                  <a:pt x="74856" y="36379"/>
                </a:cubicBezTo>
                <a:cubicBezTo>
                  <a:pt x="75366" y="35672"/>
                  <a:pt x="75620" y="34668"/>
                  <a:pt x="75620" y="33368"/>
                </a:cubicBezTo>
                <a:close/>
                <a:moveTo>
                  <a:pt x="87589" y="31311"/>
                </a:moveTo>
                <a:cubicBezTo>
                  <a:pt x="87589" y="32051"/>
                  <a:pt x="87442" y="32712"/>
                  <a:pt x="87148" y="33294"/>
                </a:cubicBezTo>
                <a:cubicBezTo>
                  <a:pt x="86855" y="33876"/>
                  <a:pt x="86434" y="34327"/>
                  <a:pt x="85886" y="34645"/>
                </a:cubicBezTo>
                <a:cubicBezTo>
                  <a:pt x="85339" y="34963"/>
                  <a:pt x="84688" y="35122"/>
                  <a:pt x="83934" y="35122"/>
                </a:cubicBezTo>
                <a:lnTo>
                  <a:pt x="81445" y="35122"/>
                </a:lnTo>
                <a:lnTo>
                  <a:pt x="81445" y="39170"/>
                </a:lnTo>
                <a:lnTo>
                  <a:pt x="79347" y="39170"/>
                </a:lnTo>
                <a:lnTo>
                  <a:pt x="79347" y="27671"/>
                </a:lnTo>
                <a:lnTo>
                  <a:pt x="83849" y="27671"/>
                </a:lnTo>
                <a:cubicBezTo>
                  <a:pt x="85048" y="27671"/>
                  <a:pt x="85971" y="27988"/>
                  <a:pt x="86619" y="28622"/>
                </a:cubicBezTo>
                <a:cubicBezTo>
                  <a:pt x="87266" y="29256"/>
                  <a:pt x="87589" y="30152"/>
                  <a:pt x="87589" y="31311"/>
                </a:cubicBezTo>
                <a:close/>
                <a:moveTo>
                  <a:pt x="85477" y="31352"/>
                </a:moveTo>
                <a:cubicBezTo>
                  <a:pt x="85477" y="30144"/>
                  <a:pt x="84856" y="29540"/>
                  <a:pt x="83614" y="29540"/>
                </a:cubicBezTo>
                <a:lnTo>
                  <a:pt x="81445" y="29540"/>
                </a:lnTo>
                <a:lnTo>
                  <a:pt x="81445" y="33270"/>
                </a:lnTo>
                <a:lnTo>
                  <a:pt x="83671" y="33270"/>
                </a:lnTo>
                <a:cubicBezTo>
                  <a:pt x="84249" y="33270"/>
                  <a:pt x="84695" y="33105"/>
                  <a:pt x="85008" y="32776"/>
                </a:cubicBezTo>
                <a:cubicBezTo>
                  <a:pt x="85321" y="32447"/>
                  <a:pt x="85477" y="31972"/>
                  <a:pt x="85477" y="31352"/>
                </a:cubicBezTo>
                <a:close/>
                <a:moveTo>
                  <a:pt x="100931" y="37179"/>
                </a:moveTo>
                <a:lnTo>
                  <a:pt x="100931" y="27671"/>
                </a:lnTo>
                <a:lnTo>
                  <a:pt x="95320" y="27671"/>
                </a:lnTo>
                <a:lnTo>
                  <a:pt x="94886" y="31303"/>
                </a:lnTo>
                <a:cubicBezTo>
                  <a:pt x="94748" y="32413"/>
                  <a:pt x="94547" y="33492"/>
                  <a:pt x="94281" y="34539"/>
                </a:cubicBezTo>
                <a:cubicBezTo>
                  <a:pt x="94016" y="35586"/>
                  <a:pt x="93713" y="36466"/>
                  <a:pt x="93371" y="37179"/>
                </a:cubicBezTo>
                <a:lnTo>
                  <a:pt x="92262" y="37179"/>
                </a:lnTo>
                <a:lnTo>
                  <a:pt x="92262" y="42500"/>
                </a:lnTo>
                <a:lnTo>
                  <a:pt x="94040" y="42500"/>
                </a:lnTo>
                <a:lnTo>
                  <a:pt x="94040" y="39170"/>
                </a:lnTo>
                <a:lnTo>
                  <a:pt x="100469" y="39170"/>
                </a:lnTo>
                <a:lnTo>
                  <a:pt x="100469" y="42500"/>
                </a:lnTo>
                <a:lnTo>
                  <a:pt x="102247" y="42500"/>
                </a:lnTo>
                <a:lnTo>
                  <a:pt x="102247" y="37179"/>
                </a:lnTo>
                <a:close/>
                <a:moveTo>
                  <a:pt x="98904" y="37179"/>
                </a:moveTo>
                <a:lnTo>
                  <a:pt x="95569" y="37179"/>
                </a:lnTo>
                <a:cubicBezTo>
                  <a:pt x="95815" y="36581"/>
                  <a:pt x="96051" y="35774"/>
                  <a:pt x="96276" y="34759"/>
                </a:cubicBezTo>
                <a:cubicBezTo>
                  <a:pt x="96501" y="33745"/>
                  <a:pt x="96683" y="32682"/>
                  <a:pt x="96820" y="31572"/>
                </a:cubicBezTo>
                <a:lnTo>
                  <a:pt x="97041" y="29663"/>
                </a:lnTo>
                <a:lnTo>
                  <a:pt x="98904" y="29663"/>
                </a:lnTo>
                <a:close/>
                <a:moveTo>
                  <a:pt x="109948" y="39170"/>
                </a:moveTo>
                <a:lnTo>
                  <a:pt x="109948" y="34241"/>
                </a:lnTo>
                <a:lnTo>
                  <a:pt x="105582" y="34241"/>
                </a:lnTo>
                <a:lnTo>
                  <a:pt x="105582" y="39170"/>
                </a:lnTo>
                <a:lnTo>
                  <a:pt x="103484" y="39170"/>
                </a:lnTo>
                <a:lnTo>
                  <a:pt x="103484" y="27671"/>
                </a:lnTo>
                <a:lnTo>
                  <a:pt x="105582" y="27671"/>
                </a:lnTo>
                <a:lnTo>
                  <a:pt x="105582" y="32250"/>
                </a:lnTo>
                <a:lnTo>
                  <a:pt x="109948" y="32250"/>
                </a:lnTo>
                <a:lnTo>
                  <a:pt x="109948" y="27671"/>
                </a:lnTo>
                <a:lnTo>
                  <a:pt x="112046" y="27671"/>
                </a:lnTo>
                <a:lnTo>
                  <a:pt x="112046" y="39170"/>
                </a:lnTo>
                <a:close/>
                <a:moveTo>
                  <a:pt x="121000" y="27671"/>
                </a:moveTo>
                <a:lnTo>
                  <a:pt x="114002" y="27671"/>
                </a:lnTo>
                <a:lnTo>
                  <a:pt x="114002" y="39162"/>
                </a:lnTo>
                <a:lnTo>
                  <a:pt x="116100" y="39162"/>
                </a:lnTo>
                <a:lnTo>
                  <a:pt x="116100" y="29532"/>
                </a:lnTo>
                <a:lnTo>
                  <a:pt x="121000" y="29532"/>
                </a:lnTo>
                <a:close/>
              </a:path>
              <a:path w="128000" h="72000" fill="none" stroke="true">
                <a:moveTo>
                  <a:pt x="17120" y="33368"/>
                </a:moveTo>
                <a:cubicBezTo>
                  <a:pt x="17120" y="34565"/>
                  <a:pt x="16914" y="35618"/>
                  <a:pt x="16501" y="36526"/>
                </a:cubicBezTo>
                <a:cubicBezTo>
                  <a:pt x="16089" y="37435"/>
                  <a:pt x="15498" y="38130"/>
                  <a:pt x="14730" y="38611"/>
                </a:cubicBezTo>
                <a:cubicBezTo>
                  <a:pt x="13962" y="39093"/>
                  <a:pt x="13066" y="39334"/>
                  <a:pt x="12042" y="39334"/>
                </a:cubicBezTo>
                <a:cubicBezTo>
                  <a:pt x="10468" y="39334"/>
                  <a:pt x="9234" y="38802"/>
                  <a:pt x="8341" y="37738"/>
                </a:cubicBezTo>
                <a:cubicBezTo>
                  <a:pt x="7447" y="36674"/>
                  <a:pt x="7000" y="35218"/>
                  <a:pt x="7000" y="33368"/>
                </a:cubicBezTo>
                <a:cubicBezTo>
                  <a:pt x="7000" y="31523"/>
                  <a:pt x="7446" y="30084"/>
                  <a:pt x="8337" y="29051"/>
                </a:cubicBezTo>
                <a:cubicBezTo>
                  <a:pt x="9228" y="28017"/>
                  <a:pt x="10468" y="27500"/>
                  <a:pt x="12056" y="27500"/>
                </a:cubicBezTo>
                <a:cubicBezTo>
                  <a:pt x="13645" y="27500"/>
                  <a:pt x="14886" y="28022"/>
                  <a:pt x="15779" y="29067"/>
                </a:cubicBezTo>
                <a:cubicBezTo>
                  <a:pt x="16673" y="30112"/>
                  <a:pt x="17120" y="31545"/>
                  <a:pt x="17120" y="33368"/>
                </a:cubicBezTo>
                <a:close/>
                <a:moveTo>
                  <a:pt x="14979" y="33368"/>
                </a:moveTo>
                <a:cubicBezTo>
                  <a:pt x="14979" y="32127"/>
                  <a:pt x="14723" y="31155"/>
                  <a:pt x="14211" y="30450"/>
                </a:cubicBezTo>
                <a:cubicBezTo>
                  <a:pt x="13699" y="29746"/>
                  <a:pt x="12981" y="29393"/>
                  <a:pt x="12056" y="29393"/>
                </a:cubicBezTo>
                <a:cubicBezTo>
                  <a:pt x="11118" y="29393"/>
                  <a:pt x="10392" y="29743"/>
                  <a:pt x="9880" y="30442"/>
                </a:cubicBezTo>
                <a:cubicBezTo>
                  <a:pt x="9368" y="31141"/>
                  <a:pt x="9112" y="32116"/>
                  <a:pt x="9112" y="33368"/>
                </a:cubicBezTo>
                <a:cubicBezTo>
                  <a:pt x="9112" y="34630"/>
                  <a:pt x="9374" y="35624"/>
                  <a:pt x="9898" y="36351"/>
                </a:cubicBezTo>
                <a:cubicBezTo>
                  <a:pt x="10422" y="37077"/>
                  <a:pt x="11137" y="37440"/>
                  <a:pt x="12042" y="37440"/>
                </a:cubicBezTo>
                <a:cubicBezTo>
                  <a:pt x="12981" y="37440"/>
                  <a:pt x="13705" y="37087"/>
                  <a:pt x="14215" y="36379"/>
                </a:cubicBezTo>
                <a:cubicBezTo>
                  <a:pt x="14724" y="35672"/>
                  <a:pt x="14979" y="34668"/>
                  <a:pt x="14979" y="33368"/>
                </a:cubicBezTo>
                <a:close/>
                <a:moveTo>
                  <a:pt x="25199" y="39170"/>
                </a:moveTo>
                <a:lnTo>
                  <a:pt x="27226" y="39170"/>
                </a:lnTo>
                <a:lnTo>
                  <a:pt x="27226" y="27671"/>
                </a:lnTo>
                <a:lnTo>
                  <a:pt x="18706" y="27671"/>
                </a:lnTo>
                <a:lnTo>
                  <a:pt x="18706" y="39170"/>
                </a:lnTo>
                <a:lnTo>
                  <a:pt x="20797" y="39170"/>
                </a:lnTo>
                <a:lnTo>
                  <a:pt x="20797" y="29663"/>
                </a:lnTo>
                <a:lnTo>
                  <a:pt x="25199" y="29663"/>
                </a:lnTo>
                <a:close/>
                <a:moveTo>
                  <a:pt x="29174" y="39170"/>
                </a:moveTo>
                <a:lnTo>
                  <a:pt x="29174" y="27671"/>
                </a:lnTo>
                <a:lnTo>
                  <a:pt x="37054" y="27671"/>
                </a:lnTo>
                <a:lnTo>
                  <a:pt x="37054" y="29532"/>
                </a:lnTo>
                <a:lnTo>
                  <a:pt x="31272" y="29532"/>
                </a:lnTo>
                <a:lnTo>
                  <a:pt x="31272" y="32421"/>
                </a:lnTo>
                <a:lnTo>
                  <a:pt x="36620" y="32421"/>
                </a:lnTo>
                <a:lnTo>
                  <a:pt x="36620" y="34282"/>
                </a:lnTo>
                <a:lnTo>
                  <a:pt x="31272" y="34282"/>
                </a:lnTo>
                <a:lnTo>
                  <a:pt x="31272" y="37310"/>
                </a:lnTo>
                <a:lnTo>
                  <a:pt x="37345" y="37310"/>
                </a:lnTo>
                <a:lnTo>
                  <a:pt x="37345" y="39170"/>
                </a:lnTo>
                <a:close/>
                <a:moveTo>
                  <a:pt x="47131" y="31311"/>
                </a:moveTo>
                <a:cubicBezTo>
                  <a:pt x="47131" y="32051"/>
                  <a:pt x="46984" y="32712"/>
                  <a:pt x="46690" y="33294"/>
                </a:cubicBezTo>
                <a:cubicBezTo>
                  <a:pt x="46396" y="33876"/>
                  <a:pt x="45975" y="34327"/>
                  <a:pt x="45428" y="34645"/>
                </a:cubicBezTo>
                <a:cubicBezTo>
                  <a:pt x="44880" y="34963"/>
                  <a:pt x="44230" y="35122"/>
                  <a:pt x="43476" y="35122"/>
                </a:cubicBezTo>
                <a:lnTo>
                  <a:pt x="40987" y="35122"/>
                </a:lnTo>
                <a:lnTo>
                  <a:pt x="40987" y="39170"/>
                </a:lnTo>
                <a:lnTo>
                  <a:pt x="38889" y="39170"/>
                </a:lnTo>
                <a:lnTo>
                  <a:pt x="38889" y="27671"/>
                </a:lnTo>
                <a:lnTo>
                  <a:pt x="43390" y="27671"/>
                </a:lnTo>
                <a:cubicBezTo>
                  <a:pt x="44590" y="27671"/>
                  <a:pt x="45513" y="27988"/>
                  <a:pt x="46160" y="28622"/>
                </a:cubicBezTo>
                <a:cubicBezTo>
                  <a:pt x="46808" y="29256"/>
                  <a:pt x="47131" y="30152"/>
                  <a:pt x="47131" y="31311"/>
                </a:cubicBezTo>
                <a:close/>
                <a:moveTo>
                  <a:pt x="45019" y="31352"/>
                </a:moveTo>
                <a:cubicBezTo>
                  <a:pt x="45019" y="30144"/>
                  <a:pt x="44398" y="29540"/>
                  <a:pt x="43156" y="29540"/>
                </a:cubicBezTo>
                <a:lnTo>
                  <a:pt x="40987" y="29540"/>
                </a:lnTo>
                <a:lnTo>
                  <a:pt x="40987" y="33270"/>
                </a:lnTo>
                <a:lnTo>
                  <a:pt x="43213" y="33270"/>
                </a:lnTo>
                <a:cubicBezTo>
                  <a:pt x="43791" y="33270"/>
                  <a:pt x="44237" y="33105"/>
                  <a:pt x="44550" y="32776"/>
                </a:cubicBezTo>
                <a:cubicBezTo>
                  <a:pt x="44863" y="32447"/>
                  <a:pt x="45019" y="31972"/>
                  <a:pt x="45019" y="31352"/>
                </a:cubicBezTo>
                <a:close/>
                <a:moveTo>
                  <a:pt x="55686" y="39170"/>
                </a:moveTo>
                <a:lnTo>
                  <a:pt x="54798" y="36232"/>
                </a:lnTo>
                <a:lnTo>
                  <a:pt x="50979" y="36232"/>
                </a:lnTo>
                <a:lnTo>
                  <a:pt x="50090" y="39170"/>
                </a:lnTo>
                <a:lnTo>
                  <a:pt x="47992" y="39170"/>
                </a:lnTo>
                <a:lnTo>
                  <a:pt x="51647" y="27671"/>
                </a:lnTo>
                <a:lnTo>
                  <a:pt x="54122" y="27671"/>
                </a:lnTo>
                <a:lnTo>
                  <a:pt x="57763" y="39170"/>
                </a:lnTo>
                <a:close/>
                <a:moveTo>
                  <a:pt x="52884" y="29442"/>
                </a:moveTo>
                <a:lnTo>
                  <a:pt x="52842" y="29622"/>
                </a:lnTo>
                <a:cubicBezTo>
                  <a:pt x="52794" y="29818"/>
                  <a:pt x="52737" y="30041"/>
                  <a:pt x="52671" y="30291"/>
                </a:cubicBezTo>
                <a:cubicBezTo>
                  <a:pt x="52605" y="30541"/>
                  <a:pt x="52197" y="31918"/>
                  <a:pt x="51448" y="34421"/>
                </a:cubicBezTo>
                <a:lnTo>
                  <a:pt x="54328" y="34421"/>
                </a:lnTo>
                <a:lnTo>
                  <a:pt x="53340" y="31115"/>
                </a:lnTo>
                <a:lnTo>
                  <a:pt x="53034" y="30005"/>
                </a:lnTo>
                <a:close/>
                <a:moveTo>
                  <a:pt x="63644" y="29532"/>
                </a:moveTo>
                <a:lnTo>
                  <a:pt x="63644" y="39170"/>
                </a:lnTo>
                <a:lnTo>
                  <a:pt x="61546" y="39170"/>
                </a:lnTo>
                <a:lnTo>
                  <a:pt x="61546" y="29532"/>
                </a:lnTo>
                <a:lnTo>
                  <a:pt x="58311" y="29532"/>
                </a:lnTo>
                <a:lnTo>
                  <a:pt x="58311" y="27671"/>
                </a:lnTo>
                <a:lnTo>
                  <a:pt x="66887" y="27671"/>
                </a:lnTo>
                <a:lnTo>
                  <a:pt x="66887" y="29532"/>
                </a:lnTo>
                <a:close/>
                <a:moveTo>
                  <a:pt x="77761" y="33368"/>
                </a:moveTo>
                <a:cubicBezTo>
                  <a:pt x="77761" y="34565"/>
                  <a:pt x="77555" y="35618"/>
                  <a:pt x="77142" y="36526"/>
                </a:cubicBezTo>
                <a:cubicBezTo>
                  <a:pt x="76730" y="37435"/>
                  <a:pt x="76140" y="38130"/>
                  <a:pt x="75372" y="38611"/>
                </a:cubicBezTo>
                <a:cubicBezTo>
                  <a:pt x="74603" y="39093"/>
                  <a:pt x="73707" y="39334"/>
                  <a:pt x="72683" y="39334"/>
                </a:cubicBezTo>
                <a:cubicBezTo>
                  <a:pt x="71109" y="39334"/>
                  <a:pt x="69875" y="38802"/>
                  <a:pt x="68982" y="37738"/>
                </a:cubicBezTo>
                <a:cubicBezTo>
                  <a:pt x="68088" y="36674"/>
                  <a:pt x="67641" y="35218"/>
                  <a:pt x="67641" y="33368"/>
                </a:cubicBezTo>
                <a:cubicBezTo>
                  <a:pt x="67641" y="31523"/>
                  <a:pt x="68087" y="30084"/>
                  <a:pt x="68978" y="29051"/>
                </a:cubicBezTo>
                <a:cubicBezTo>
                  <a:pt x="69869" y="28017"/>
                  <a:pt x="71109" y="27500"/>
                  <a:pt x="72698" y="27500"/>
                </a:cubicBezTo>
                <a:cubicBezTo>
                  <a:pt x="74286" y="27500"/>
                  <a:pt x="75527" y="28022"/>
                  <a:pt x="76421" y="29067"/>
                </a:cubicBezTo>
                <a:cubicBezTo>
                  <a:pt x="77314" y="30112"/>
                  <a:pt x="77761" y="31545"/>
                  <a:pt x="77761" y="33368"/>
                </a:cubicBezTo>
                <a:close/>
                <a:moveTo>
                  <a:pt x="75620" y="33368"/>
                </a:moveTo>
                <a:cubicBezTo>
                  <a:pt x="75620" y="32127"/>
                  <a:pt x="75364" y="31155"/>
                  <a:pt x="74852" y="30450"/>
                </a:cubicBezTo>
                <a:cubicBezTo>
                  <a:pt x="74340" y="29746"/>
                  <a:pt x="73622" y="29393"/>
                  <a:pt x="72698" y="29393"/>
                </a:cubicBezTo>
                <a:cubicBezTo>
                  <a:pt x="71759" y="29393"/>
                  <a:pt x="71033" y="29743"/>
                  <a:pt x="70521" y="30442"/>
                </a:cubicBezTo>
                <a:cubicBezTo>
                  <a:pt x="70009" y="31141"/>
                  <a:pt x="69753" y="32116"/>
                  <a:pt x="69753" y="33368"/>
                </a:cubicBezTo>
                <a:cubicBezTo>
                  <a:pt x="69753" y="34630"/>
                  <a:pt x="70015" y="35624"/>
                  <a:pt x="70539" y="36351"/>
                </a:cubicBezTo>
                <a:cubicBezTo>
                  <a:pt x="71063" y="37077"/>
                  <a:pt x="71778" y="37440"/>
                  <a:pt x="72683" y="37440"/>
                </a:cubicBezTo>
                <a:cubicBezTo>
                  <a:pt x="73622" y="37440"/>
                  <a:pt x="74346" y="37087"/>
                  <a:pt x="74856" y="36379"/>
                </a:cubicBezTo>
                <a:cubicBezTo>
                  <a:pt x="75366" y="35672"/>
                  <a:pt x="75620" y="34668"/>
                  <a:pt x="75620" y="33368"/>
                </a:cubicBezTo>
                <a:close/>
                <a:moveTo>
                  <a:pt x="87589" y="31311"/>
                </a:moveTo>
                <a:cubicBezTo>
                  <a:pt x="87589" y="32051"/>
                  <a:pt x="87442" y="32712"/>
                  <a:pt x="87148" y="33294"/>
                </a:cubicBezTo>
                <a:cubicBezTo>
                  <a:pt x="86855" y="33876"/>
                  <a:pt x="86434" y="34327"/>
                  <a:pt x="85886" y="34645"/>
                </a:cubicBezTo>
                <a:cubicBezTo>
                  <a:pt x="85339" y="34963"/>
                  <a:pt x="84688" y="35122"/>
                  <a:pt x="83934" y="35122"/>
                </a:cubicBezTo>
                <a:lnTo>
                  <a:pt x="81445" y="35122"/>
                </a:lnTo>
                <a:lnTo>
                  <a:pt x="81445" y="39170"/>
                </a:lnTo>
                <a:lnTo>
                  <a:pt x="79347" y="39170"/>
                </a:lnTo>
                <a:lnTo>
                  <a:pt x="79347" y="27671"/>
                </a:lnTo>
                <a:lnTo>
                  <a:pt x="83849" y="27671"/>
                </a:lnTo>
                <a:cubicBezTo>
                  <a:pt x="85048" y="27671"/>
                  <a:pt x="85971" y="27988"/>
                  <a:pt x="86619" y="28622"/>
                </a:cubicBezTo>
                <a:cubicBezTo>
                  <a:pt x="87266" y="29256"/>
                  <a:pt x="87589" y="30152"/>
                  <a:pt x="87589" y="31311"/>
                </a:cubicBezTo>
                <a:close/>
                <a:moveTo>
                  <a:pt x="85477" y="31352"/>
                </a:moveTo>
                <a:cubicBezTo>
                  <a:pt x="85477" y="30144"/>
                  <a:pt x="84856" y="29540"/>
                  <a:pt x="83614" y="29540"/>
                </a:cubicBezTo>
                <a:lnTo>
                  <a:pt x="81445" y="29540"/>
                </a:lnTo>
                <a:lnTo>
                  <a:pt x="81445" y="33270"/>
                </a:lnTo>
                <a:lnTo>
                  <a:pt x="83671" y="33270"/>
                </a:lnTo>
                <a:cubicBezTo>
                  <a:pt x="84249" y="33270"/>
                  <a:pt x="84695" y="33105"/>
                  <a:pt x="85008" y="32776"/>
                </a:cubicBezTo>
                <a:cubicBezTo>
                  <a:pt x="85321" y="32447"/>
                  <a:pt x="85477" y="31972"/>
                  <a:pt x="85477" y="31352"/>
                </a:cubicBezTo>
                <a:close/>
                <a:moveTo>
                  <a:pt x="100931" y="37179"/>
                </a:moveTo>
                <a:lnTo>
                  <a:pt x="100931" y="27671"/>
                </a:lnTo>
                <a:lnTo>
                  <a:pt x="95320" y="27671"/>
                </a:lnTo>
                <a:lnTo>
                  <a:pt x="94886" y="31303"/>
                </a:lnTo>
                <a:cubicBezTo>
                  <a:pt x="94748" y="32413"/>
                  <a:pt x="94547" y="33492"/>
                  <a:pt x="94281" y="34539"/>
                </a:cubicBezTo>
                <a:cubicBezTo>
                  <a:pt x="94016" y="35586"/>
                  <a:pt x="93713" y="36466"/>
                  <a:pt x="93371" y="37179"/>
                </a:cubicBezTo>
                <a:lnTo>
                  <a:pt x="92262" y="37179"/>
                </a:lnTo>
                <a:lnTo>
                  <a:pt x="92262" y="42500"/>
                </a:lnTo>
                <a:lnTo>
                  <a:pt x="94040" y="42500"/>
                </a:lnTo>
                <a:lnTo>
                  <a:pt x="94040" y="39170"/>
                </a:lnTo>
                <a:lnTo>
                  <a:pt x="100469" y="39170"/>
                </a:lnTo>
                <a:lnTo>
                  <a:pt x="100469" y="42500"/>
                </a:lnTo>
                <a:lnTo>
                  <a:pt x="102247" y="42500"/>
                </a:lnTo>
                <a:lnTo>
                  <a:pt x="102247" y="37179"/>
                </a:lnTo>
                <a:close/>
                <a:moveTo>
                  <a:pt x="98904" y="37179"/>
                </a:moveTo>
                <a:lnTo>
                  <a:pt x="95569" y="37179"/>
                </a:lnTo>
                <a:cubicBezTo>
                  <a:pt x="95815" y="36581"/>
                  <a:pt x="96051" y="35774"/>
                  <a:pt x="96276" y="34759"/>
                </a:cubicBezTo>
                <a:cubicBezTo>
                  <a:pt x="96501" y="33745"/>
                  <a:pt x="96683" y="32682"/>
                  <a:pt x="96820" y="31572"/>
                </a:cubicBezTo>
                <a:lnTo>
                  <a:pt x="97041" y="29663"/>
                </a:lnTo>
                <a:lnTo>
                  <a:pt x="98904" y="29663"/>
                </a:lnTo>
                <a:close/>
                <a:moveTo>
                  <a:pt x="109948" y="39170"/>
                </a:moveTo>
                <a:lnTo>
                  <a:pt x="109948" y="34241"/>
                </a:lnTo>
                <a:lnTo>
                  <a:pt x="105582" y="34241"/>
                </a:lnTo>
                <a:lnTo>
                  <a:pt x="105582" y="39170"/>
                </a:lnTo>
                <a:lnTo>
                  <a:pt x="103484" y="39170"/>
                </a:lnTo>
                <a:lnTo>
                  <a:pt x="103484" y="27671"/>
                </a:lnTo>
                <a:lnTo>
                  <a:pt x="105582" y="27671"/>
                </a:lnTo>
                <a:lnTo>
                  <a:pt x="105582" y="32250"/>
                </a:lnTo>
                <a:lnTo>
                  <a:pt x="109948" y="32250"/>
                </a:lnTo>
                <a:lnTo>
                  <a:pt x="109948" y="27671"/>
                </a:lnTo>
                <a:lnTo>
                  <a:pt x="112046" y="27671"/>
                </a:lnTo>
                <a:lnTo>
                  <a:pt x="112046" y="39170"/>
                </a:lnTo>
                <a:close/>
                <a:moveTo>
                  <a:pt x="121000" y="27671"/>
                </a:moveTo>
                <a:lnTo>
                  <a:pt x="114002" y="27671"/>
                </a:lnTo>
                <a:lnTo>
                  <a:pt x="114002" y="39162"/>
                </a:lnTo>
                <a:lnTo>
                  <a:pt x="116100" y="39162"/>
                </a:lnTo>
                <a:lnTo>
                  <a:pt x="116100" y="29532"/>
                </a:lnTo>
                <a:lnTo>
                  <a:pt x="121000" y="29532"/>
                </a:lnTo>
                <a:close/>
              </a:path>
            </a:pathLst>
          </a:cu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!!YellowRule"/>
          <p:cNvSpPr/>
          <p:nvPr/>
        </p:nvSpPr>
        <p:spPr>
          <a:xfrm>
            <a:off x="666750" y="590550"/>
            <a:ext cx="819150" cy="47625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!!ProductTitle"/>
          <p:cNvSpPr txBox="1"/>
          <p:nvPr/>
        </p:nvSpPr>
        <p:spPr>
          <a:xfrm>
            <a:off x="666750" y="1381125"/>
            <a:ext cx="8096249" cy="8096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b="1" sz="4500">
                <a:solidFill>
                  <a:srgbClr val="FFFFFF"/>
                </a:solidFill>
                <a:latin typeface="Arial"/>
              </a:defRPr>
            </a:pPr>
            <a:r>
              <a:t>ОПЕРАТОР ДНГ</a:t>
            </a:r>
          </a:p>
        </p:txBody>
      </p:sp>
      <p:sp>
        <p:nvSpPr>
          <p:cNvPr id="6" name="!!ProductSubtitle"/>
          <p:cNvSpPr txBox="1"/>
          <p:nvPr/>
        </p:nvSpPr>
        <p:spPr>
          <a:xfrm>
            <a:off x="704850" y="2714625"/>
            <a:ext cx="6286500" cy="20954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b="1" sz="3900">
                <a:solidFill>
                  <a:srgbClr val="FFCD00"/>
                </a:solidFill>
                <a:latin typeface="Arial"/>
              </a:defRPr>
            </a:pPr>
            <a:r>
              <a:t>Рабочие инструменты.</a:t>
            </a:r>
          </a:p>
          <a:p>
            <a:pPr>
              <a:spcAft>
                <a:spcPts val="1000"/>
              </a:spcAft>
              <a:defRPr b="1" sz="3900">
                <a:solidFill>
                  <a:srgbClr val="FFCD00"/>
                </a:solidFill>
                <a:latin typeface="Arial"/>
              </a:defRPr>
            </a:pPr>
            <a:r>
              <a:t>Всегда рядом.</a:t>
            </a:r>
          </a:p>
        </p:txBody>
      </p:sp>
      <p:sp>
        <p:nvSpPr>
          <p:cNvPr id="7" name="!!Footer"/>
          <p:cNvSpPr txBox="1"/>
          <p:nvPr/>
        </p:nvSpPr>
        <p:spPr>
          <a:xfrm>
            <a:off x="685800" y="6343650"/>
            <a:ext cx="10858500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b="1" sz="1050">
                <a:solidFill>
                  <a:srgbClr val="FFFFFF"/>
                </a:solidFill>
                <a:latin typeface="Arial"/>
              </a:defRPr>
            </a:pPr>
            <a:r>
              <a:t>ООО «РН-Юганскнефтегаз» · проект для обсуждения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 xmlns:p14="http://schemas.microsoft.com/office/powerpoint/2010/main">
    <mc:Choice Requires="p159">
      <p:transition advClick="1" spd="slow" p14:dur="1800">
        <p159:morph option="byObject"/>
      </p:transition>
    </mc:Choice>
    <mc:Fallback>
      <p:transition advClick="1" spd="slow">
        <p:push dir="l"/>
      </p:transition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!!OilfieldImage" descr="oilfield_illustration.png"/>
          <p:cNvPicPr>
            <a:picLocks noChangeAspect="1"/>
          </p:cNvPicPr>
          <p:nvPr/>
        </p:nvPicPr>
        <p:blipFill>
          <a:blip r:embed="rId2"/>
          <a:srcRect l="37099"/>
          <a:stretch>
            <a:fillRect/>
          </a:stretch>
        </p:blipFill>
        <p:spPr>
          <a:xfrm>
            <a:off x="6191250" y="952500"/>
            <a:ext cx="5429250" cy="4857750"/>
          </a:xfrm>
          <a:prstGeom prst="rect">
            <a:avLst/>
          </a:prstGeom>
        </p:spPr>
      </p:pic>
      <p:sp>
        <p:nvSpPr>
          <p:cNvPr id="3" name="!!WordAperture"/>
          <p:cNvSpPr/>
          <p:nvPr/>
        </p:nvSpPr>
        <p:spPr>
          <a:xfrm>
            <a:off x="-307772774" y="-363283500"/>
            <a:ext cx="1341120000" cy="754380000"/>
          </a:xfrm>
          <a:solidFill>
            <a:srgbClr val="000000"/>
          </a:solidFill>
          <a:ln w="6985">
            <a:solidFill>
              <a:srgbClr val="8C7950"/>
            </a:solidFill>
          </a:ln>
          <a:custGeom>
            <a:avLst/>
            <a:gdLst/>
            <a:ahLst/>
            <a:cxnLst/>
            <a:rect l="0" t="0" r="w" b="h"/>
            <a:pathLst>
              <a:path w="128000" h="72000" fill="norm" stroke="false">
                <a:moveTo>
                  <a:pt x="0" y="0"/>
                </a:moveTo>
                <a:lnTo>
                  <a:pt x="128000" y="0"/>
                </a:lnTo>
                <a:lnTo>
                  <a:pt x="128000" y="72000"/>
                </a:lnTo>
                <a:lnTo>
                  <a:pt x="0" y="72000"/>
                </a:lnTo>
                <a:close/>
                <a:moveTo>
                  <a:pt x="17120" y="33368"/>
                </a:moveTo>
                <a:cubicBezTo>
                  <a:pt x="17120" y="34565"/>
                  <a:pt x="16914" y="35618"/>
                  <a:pt x="16501" y="36526"/>
                </a:cubicBezTo>
                <a:cubicBezTo>
                  <a:pt x="16089" y="37435"/>
                  <a:pt x="15498" y="38130"/>
                  <a:pt x="14730" y="38611"/>
                </a:cubicBezTo>
                <a:cubicBezTo>
                  <a:pt x="13962" y="39093"/>
                  <a:pt x="13066" y="39334"/>
                  <a:pt x="12042" y="39334"/>
                </a:cubicBezTo>
                <a:cubicBezTo>
                  <a:pt x="10468" y="39334"/>
                  <a:pt x="9234" y="38802"/>
                  <a:pt x="8341" y="37738"/>
                </a:cubicBezTo>
                <a:cubicBezTo>
                  <a:pt x="7447" y="36674"/>
                  <a:pt x="7000" y="35218"/>
                  <a:pt x="7000" y="33368"/>
                </a:cubicBezTo>
                <a:cubicBezTo>
                  <a:pt x="7000" y="31523"/>
                  <a:pt x="7446" y="30084"/>
                  <a:pt x="8337" y="29051"/>
                </a:cubicBezTo>
                <a:cubicBezTo>
                  <a:pt x="9228" y="28017"/>
                  <a:pt x="10468" y="27500"/>
                  <a:pt x="12056" y="27500"/>
                </a:cubicBezTo>
                <a:cubicBezTo>
                  <a:pt x="13645" y="27500"/>
                  <a:pt x="14886" y="28022"/>
                  <a:pt x="15779" y="29067"/>
                </a:cubicBezTo>
                <a:cubicBezTo>
                  <a:pt x="16673" y="30112"/>
                  <a:pt x="17120" y="31545"/>
                  <a:pt x="17120" y="33368"/>
                </a:cubicBezTo>
                <a:close/>
                <a:moveTo>
                  <a:pt x="14979" y="33368"/>
                </a:moveTo>
                <a:cubicBezTo>
                  <a:pt x="14979" y="32127"/>
                  <a:pt x="14723" y="31155"/>
                  <a:pt x="14211" y="30450"/>
                </a:cubicBezTo>
                <a:cubicBezTo>
                  <a:pt x="13699" y="29746"/>
                  <a:pt x="12981" y="29393"/>
                  <a:pt x="12056" y="29393"/>
                </a:cubicBezTo>
                <a:cubicBezTo>
                  <a:pt x="11118" y="29393"/>
                  <a:pt x="10392" y="29743"/>
                  <a:pt x="9880" y="30442"/>
                </a:cubicBezTo>
                <a:cubicBezTo>
                  <a:pt x="9368" y="31141"/>
                  <a:pt x="9112" y="32116"/>
                  <a:pt x="9112" y="33368"/>
                </a:cubicBezTo>
                <a:cubicBezTo>
                  <a:pt x="9112" y="34630"/>
                  <a:pt x="9374" y="35624"/>
                  <a:pt x="9898" y="36351"/>
                </a:cubicBezTo>
                <a:cubicBezTo>
                  <a:pt x="10422" y="37077"/>
                  <a:pt x="11137" y="37440"/>
                  <a:pt x="12042" y="37440"/>
                </a:cubicBezTo>
                <a:cubicBezTo>
                  <a:pt x="12981" y="37440"/>
                  <a:pt x="13705" y="37087"/>
                  <a:pt x="14215" y="36379"/>
                </a:cubicBezTo>
                <a:cubicBezTo>
                  <a:pt x="14724" y="35672"/>
                  <a:pt x="14979" y="34668"/>
                  <a:pt x="14979" y="33368"/>
                </a:cubicBezTo>
                <a:close/>
                <a:moveTo>
                  <a:pt x="25199" y="39170"/>
                </a:moveTo>
                <a:lnTo>
                  <a:pt x="27226" y="39170"/>
                </a:lnTo>
                <a:lnTo>
                  <a:pt x="27226" y="27671"/>
                </a:lnTo>
                <a:lnTo>
                  <a:pt x="18706" y="27671"/>
                </a:lnTo>
                <a:lnTo>
                  <a:pt x="18706" y="39170"/>
                </a:lnTo>
                <a:lnTo>
                  <a:pt x="20797" y="39170"/>
                </a:lnTo>
                <a:lnTo>
                  <a:pt x="20797" y="29663"/>
                </a:lnTo>
                <a:lnTo>
                  <a:pt x="25199" y="29663"/>
                </a:lnTo>
                <a:close/>
                <a:moveTo>
                  <a:pt x="29174" y="39170"/>
                </a:moveTo>
                <a:lnTo>
                  <a:pt x="29174" y="27671"/>
                </a:lnTo>
                <a:lnTo>
                  <a:pt x="37054" y="27671"/>
                </a:lnTo>
                <a:lnTo>
                  <a:pt x="37054" y="29532"/>
                </a:lnTo>
                <a:lnTo>
                  <a:pt x="31272" y="29532"/>
                </a:lnTo>
                <a:lnTo>
                  <a:pt x="31272" y="32421"/>
                </a:lnTo>
                <a:lnTo>
                  <a:pt x="36620" y="32421"/>
                </a:lnTo>
                <a:lnTo>
                  <a:pt x="36620" y="34282"/>
                </a:lnTo>
                <a:lnTo>
                  <a:pt x="31272" y="34282"/>
                </a:lnTo>
                <a:lnTo>
                  <a:pt x="31272" y="37310"/>
                </a:lnTo>
                <a:lnTo>
                  <a:pt x="37345" y="37310"/>
                </a:lnTo>
                <a:lnTo>
                  <a:pt x="37345" y="39170"/>
                </a:lnTo>
                <a:close/>
                <a:moveTo>
                  <a:pt x="47131" y="31311"/>
                </a:moveTo>
                <a:cubicBezTo>
                  <a:pt x="47131" y="32051"/>
                  <a:pt x="46984" y="32712"/>
                  <a:pt x="46690" y="33294"/>
                </a:cubicBezTo>
                <a:cubicBezTo>
                  <a:pt x="46396" y="33876"/>
                  <a:pt x="45975" y="34327"/>
                  <a:pt x="45428" y="34645"/>
                </a:cubicBezTo>
                <a:cubicBezTo>
                  <a:pt x="44880" y="34963"/>
                  <a:pt x="44230" y="35122"/>
                  <a:pt x="43476" y="35122"/>
                </a:cubicBezTo>
                <a:lnTo>
                  <a:pt x="40987" y="35122"/>
                </a:lnTo>
                <a:lnTo>
                  <a:pt x="40987" y="39170"/>
                </a:lnTo>
                <a:lnTo>
                  <a:pt x="38889" y="39170"/>
                </a:lnTo>
                <a:lnTo>
                  <a:pt x="38889" y="27671"/>
                </a:lnTo>
                <a:lnTo>
                  <a:pt x="43390" y="27671"/>
                </a:lnTo>
                <a:cubicBezTo>
                  <a:pt x="44590" y="27671"/>
                  <a:pt x="45513" y="27988"/>
                  <a:pt x="46160" y="28622"/>
                </a:cubicBezTo>
                <a:cubicBezTo>
                  <a:pt x="46808" y="29256"/>
                  <a:pt x="47131" y="30152"/>
                  <a:pt x="47131" y="31311"/>
                </a:cubicBezTo>
                <a:close/>
                <a:moveTo>
                  <a:pt x="45019" y="31352"/>
                </a:moveTo>
                <a:cubicBezTo>
                  <a:pt x="45019" y="30144"/>
                  <a:pt x="44398" y="29540"/>
                  <a:pt x="43156" y="29540"/>
                </a:cubicBezTo>
                <a:lnTo>
                  <a:pt x="40987" y="29540"/>
                </a:lnTo>
                <a:lnTo>
                  <a:pt x="40987" y="33270"/>
                </a:lnTo>
                <a:lnTo>
                  <a:pt x="43213" y="33270"/>
                </a:lnTo>
                <a:cubicBezTo>
                  <a:pt x="43791" y="33270"/>
                  <a:pt x="44237" y="33105"/>
                  <a:pt x="44550" y="32776"/>
                </a:cubicBezTo>
                <a:cubicBezTo>
                  <a:pt x="44863" y="32447"/>
                  <a:pt x="45019" y="31972"/>
                  <a:pt x="45019" y="31352"/>
                </a:cubicBezTo>
                <a:close/>
                <a:moveTo>
                  <a:pt x="55686" y="39170"/>
                </a:moveTo>
                <a:lnTo>
                  <a:pt x="54798" y="36232"/>
                </a:lnTo>
                <a:lnTo>
                  <a:pt x="50979" y="36232"/>
                </a:lnTo>
                <a:lnTo>
                  <a:pt x="50090" y="39170"/>
                </a:lnTo>
                <a:lnTo>
                  <a:pt x="47992" y="39170"/>
                </a:lnTo>
                <a:lnTo>
                  <a:pt x="51647" y="27671"/>
                </a:lnTo>
                <a:lnTo>
                  <a:pt x="54122" y="27671"/>
                </a:lnTo>
                <a:lnTo>
                  <a:pt x="57763" y="39170"/>
                </a:lnTo>
                <a:close/>
                <a:moveTo>
                  <a:pt x="52884" y="29442"/>
                </a:moveTo>
                <a:lnTo>
                  <a:pt x="52842" y="29622"/>
                </a:lnTo>
                <a:cubicBezTo>
                  <a:pt x="52794" y="29818"/>
                  <a:pt x="52737" y="30041"/>
                  <a:pt x="52671" y="30291"/>
                </a:cubicBezTo>
                <a:cubicBezTo>
                  <a:pt x="52605" y="30541"/>
                  <a:pt x="52197" y="31918"/>
                  <a:pt x="51448" y="34421"/>
                </a:cubicBezTo>
                <a:lnTo>
                  <a:pt x="54328" y="34421"/>
                </a:lnTo>
                <a:lnTo>
                  <a:pt x="53340" y="31115"/>
                </a:lnTo>
                <a:lnTo>
                  <a:pt x="53034" y="30005"/>
                </a:lnTo>
                <a:close/>
                <a:moveTo>
                  <a:pt x="63644" y="29532"/>
                </a:moveTo>
                <a:lnTo>
                  <a:pt x="63644" y="39170"/>
                </a:lnTo>
                <a:lnTo>
                  <a:pt x="61546" y="39170"/>
                </a:lnTo>
                <a:lnTo>
                  <a:pt x="61546" y="29532"/>
                </a:lnTo>
                <a:lnTo>
                  <a:pt x="58311" y="29532"/>
                </a:lnTo>
                <a:lnTo>
                  <a:pt x="58311" y="27671"/>
                </a:lnTo>
                <a:lnTo>
                  <a:pt x="66887" y="27671"/>
                </a:lnTo>
                <a:lnTo>
                  <a:pt x="66887" y="29532"/>
                </a:lnTo>
                <a:close/>
                <a:moveTo>
                  <a:pt x="77761" y="33368"/>
                </a:moveTo>
                <a:cubicBezTo>
                  <a:pt x="77761" y="34565"/>
                  <a:pt x="77555" y="35618"/>
                  <a:pt x="77142" y="36526"/>
                </a:cubicBezTo>
                <a:cubicBezTo>
                  <a:pt x="76730" y="37435"/>
                  <a:pt x="76140" y="38130"/>
                  <a:pt x="75372" y="38611"/>
                </a:cubicBezTo>
                <a:cubicBezTo>
                  <a:pt x="74603" y="39093"/>
                  <a:pt x="73707" y="39334"/>
                  <a:pt x="72683" y="39334"/>
                </a:cubicBezTo>
                <a:cubicBezTo>
                  <a:pt x="71109" y="39334"/>
                  <a:pt x="69875" y="38802"/>
                  <a:pt x="68982" y="37738"/>
                </a:cubicBezTo>
                <a:cubicBezTo>
                  <a:pt x="68088" y="36674"/>
                  <a:pt x="67641" y="35218"/>
                  <a:pt x="67641" y="33368"/>
                </a:cubicBezTo>
                <a:cubicBezTo>
                  <a:pt x="67641" y="31523"/>
                  <a:pt x="68087" y="30084"/>
                  <a:pt x="68978" y="29051"/>
                </a:cubicBezTo>
                <a:cubicBezTo>
                  <a:pt x="69869" y="28017"/>
                  <a:pt x="71109" y="27500"/>
                  <a:pt x="72698" y="27500"/>
                </a:cubicBezTo>
                <a:cubicBezTo>
                  <a:pt x="74286" y="27500"/>
                  <a:pt x="75527" y="28022"/>
                  <a:pt x="76421" y="29067"/>
                </a:cubicBezTo>
                <a:cubicBezTo>
                  <a:pt x="77314" y="30112"/>
                  <a:pt x="77761" y="31545"/>
                  <a:pt x="77761" y="33368"/>
                </a:cubicBezTo>
                <a:close/>
                <a:moveTo>
                  <a:pt x="75620" y="33368"/>
                </a:moveTo>
                <a:cubicBezTo>
                  <a:pt x="75620" y="32127"/>
                  <a:pt x="75364" y="31155"/>
                  <a:pt x="74852" y="30450"/>
                </a:cubicBezTo>
                <a:cubicBezTo>
                  <a:pt x="74340" y="29746"/>
                  <a:pt x="73622" y="29393"/>
                  <a:pt x="72698" y="29393"/>
                </a:cubicBezTo>
                <a:cubicBezTo>
                  <a:pt x="71759" y="29393"/>
                  <a:pt x="71033" y="29743"/>
                  <a:pt x="70521" y="30442"/>
                </a:cubicBezTo>
                <a:cubicBezTo>
                  <a:pt x="70009" y="31141"/>
                  <a:pt x="69753" y="32116"/>
                  <a:pt x="69753" y="33368"/>
                </a:cubicBezTo>
                <a:cubicBezTo>
                  <a:pt x="69753" y="34630"/>
                  <a:pt x="70015" y="35624"/>
                  <a:pt x="70539" y="36351"/>
                </a:cubicBezTo>
                <a:cubicBezTo>
                  <a:pt x="71063" y="37077"/>
                  <a:pt x="71778" y="37440"/>
                  <a:pt x="72683" y="37440"/>
                </a:cubicBezTo>
                <a:cubicBezTo>
                  <a:pt x="73622" y="37440"/>
                  <a:pt x="74346" y="37087"/>
                  <a:pt x="74856" y="36379"/>
                </a:cubicBezTo>
                <a:cubicBezTo>
                  <a:pt x="75366" y="35672"/>
                  <a:pt x="75620" y="34668"/>
                  <a:pt x="75620" y="33368"/>
                </a:cubicBezTo>
                <a:close/>
                <a:moveTo>
                  <a:pt x="87589" y="31311"/>
                </a:moveTo>
                <a:cubicBezTo>
                  <a:pt x="87589" y="32051"/>
                  <a:pt x="87442" y="32712"/>
                  <a:pt x="87148" y="33294"/>
                </a:cubicBezTo>
                <a:cubicBezTo>
                  <a:pt x="86855" y="33876"/>
                  <a:pt x="86434" y="34327"/>
                  <a:pt x="85886" y="34645"/>
                </a:cubicBezTo>
                <a:cubicBezTo>
                  <a:pt x="85339" y="34963"/>
                  <a:pt x="84688" y="35122"/>
                  <a:pt x="83934" y="35122"/>
                </a:cubicBezTo>
                <a:lnTo>
                  <a:pt x="81445" y="35122"/>
                </a:lnTo>
                <a:lnTo>
                  <a:pt x="81445" y="39170"/>
                </a:lnTo>
                <a:lnTo>
                  <a:pt x="79347" y="39170"/>
                </a:lnTo>
                <a:lnTo>
                  <a:pt x="79347" y="27671"/>
                </a:lnTo>
                <a:lnTo>
                  <a:pt x="83849" y="27671"/>
                </a:lnTo>
                <a:cubicBezTo>
                  <a:pt x="85048" y="27671"/>
                  <a:pt x="85971" y="27988"/>
                  <a:pt x="86619" y="28622"/>
                </a:cubicBezTo>
                <a:cubicBezTo>
                  <a:pt x="87266" y="29256"/>
                  <a:pt x="87589" y="30152"/>
                  <a:pt x="87589" y="31311"/>
                </a:cubicBezTo>
                <a:close/>
                <a:moveTo>
                  <a:pt x="85477" y="31352"/>
                </a:moveTo>
                <a:cubicBezTo>
                  <a:pt x="85477" y="30144"/>
                  <a:pt x="84856" y="29540"/>
                  <a:pt x="83614" y="29540"/>
                </a:cubicBezTo>
                <a:lnTo>
                  <a:pt x="81445" y="29540"/>
                </a:lnTo>
                <a:lnTo>
                  <a:pt x="81445" y="33270"/>
                </a:lnTo>
                <a:lnTo>
                  <a:pt x="83671" y="33270"/>
                </a:lnTo>
                <a:cubicBezTo>
                  <a:pt x="84249" y="33270"/>
                  <a:pt x="84695" y="33105"/>
                  <a:pt x="85008" y="32776"/>
                </a:cubicBezTo>
                <a:cubicBezTo>
                  <a:pt x="85321" y="32447"/>
                  <a:pt x="85477" y="31972"/>
                  <a:pt x="85477" y="31352"/>
                </a:cubicBezTo>
                <a:close/>
                <a:moveTo>
                  <a:pt x="100931" y="37179"/>
                </a:moveTo>
                <a:lnTo>
                  <a:pt x="100931" y="27671"/>
                </a:lnTo>
                <a:lnTo>
                  <a:pt x="95320" y="27671"/>
                </a:lnTo>
                <a:lnTo>
                  <a:pt x="94886" y="31303"/>
                </a:lnTo>
                <a:cubicBezTo>
                  <a:pt x="94748" y="32413"/>
                  <a:pt x="94547" y="33492"/>
                  <a:pt x="94281" y="34539"/>
                </a:cubicBezTo>
                <a:cubicBezTo>
                  <a:pt x="94016" y="35586"/>
                  <a:pt x="93713" y="36466"/>
                  <a:pt x="93371" y="37179"/>
                </a:cubicBezTo>
                <a:lnTo>
                  <a:pt x="92262" y="37179"/>
                </a:lnTo>
                <a:lnTo>
                  <a:pt x="92262" y="42500"/>
                </a:lnTo>
                <a:lnTo>
                  <a:pt x="94040" y="42500"/>
                </a:lnTo>
                <a:lnTo>
                  <a:pt x="94040" y="39170"/>
                </a:lnTo>
                <a:lnTo>
                  <a:pt x="100469" y="39170"/>
                </a:lnTo>
                <a:lnTo>
                  <a:pt x="100469" y="42500"/>
                </a:lnTo>
                <a:lnTo>
                  <a:pt x="102247" y="42500"/>
                </a:lnTo>
                <a:lnTo>
                  <a:pt x="102247" y="37179"/>
                </a:lnTo>
                <a:close/>
                <a:moveTo>
                  <a:pt x="98904" y="37179"/>
                </a:moveTo>
                <a:lnTo>
                  <a:pt x="95569" y="37179"/>
                </a:lnTo>
                <a:cubicBezTo>
                  <a:pt x="95815" y="36581"/>
                  <a:pt x="96051" y="35774"/>
                  <a:pt x="96276" y="34759"/>
                </a:cubicBezTo>
                <a:cubicBezTo>
                  <a:pt x="96501" y="33745"/>
                  <a:pt x="96683" y="32682"/>
                  <a:pt x="96820" y="31572"/>
                </a:cubicBezTo>
                <a:lnTo>
                  <a:pt x="97041" y="29663"/>
                </a:lnTo>
                <a:lnTo>
                  <a:pt x="98904" y="29663"/>
                </a:lnTo>
                <a:close/>
                <a:moveTo>
                  <a:pt x="109948" y="39170"/>
                </a:moveTo>
                <a:lnTo>
                  <a:pt x="109948" y="34241"/>
                </a:lnTo>
                <a:lnTo>
                  <a:pt x="105582" y="34241"/>
                </a:lnTo>
                <a:lnTo>
                  <a:pt x="105582" y="39170"/>
                </a:lnTo>
                <a:lnTo>
                  <a:pt x="103484" y="39170"/>
                </a:lnTo>
                <a:lnTo>
                  <a:pt x="103484" y="27671"/>
                </a:lnTo>
                <a:lnTo>
                  <a:pt x="105582" y="27671"/>
                </a:lnTo>
                <a:lnTo>
                  <a:pt x="105582" y="32250"/>
                </a:lnTo>
                <a:lnTo>
                  <a:pt x="109948" y="32250"/>
                </a:lnTo>
                <a:lnTo>
                  <a:pt x="109948" y="27671"/>
                </a:lnTo>
                <a:lnTo>
                  <a:pt x="112046" y="27671"/>
                </a:lnTo>
                <a:lnTo>
                  <a:pt x="112046" y="39170"/>
                </a:lnTo>
                <a:close/>
                <a:moveTo>
                  <a:pt x="121000" y="27671"/>
                </a:moveTo>
                <a:lnTo>
                  <a:pt x="114002" y="27671"/>
                </a:lnTo>
                <a:lnTo>
                  <a:pt x="114002" y="39162"/>
                </a:lnTo>
                <a:lnTo>
                  <a:pt x="116100" y="39162"/>
                </a:lnTo>
                <a:lnTo>
                  <a:pt x="116100" y="29532"/>
                </a:lnTo>
                <a:lnTo>
                  <a:pt x="121000" y="29532"/>
                </a:lnTo>
                <a:close/>
              </a:path>
              <a:path w="128000" h="72000" fill="none" stroke="true">
                <a:moveTo>
                  <a:pt x="17120" y="33368"/>
                </a:moveTo>
                <a:cubicBezTo>
                  <a:pt x="17120" y="34565"/>
                  <a:pt x="16914" y="35618"/>
                  <a:pt x="16501" y="36526"/>
                </a:cubicBezTo>
                <a:cubicBezTo>
                  <a:pt x="16089" y="37435"/>
                  <a:pt x="15498" y="38130"/>
                  <a:pt x="14730" y="38611"/>
                </a:cubicBezTo>
                <a:cubicBezTo>
                  <a:pt x="13962" y="39093"/>
                  <a:pt x="13066" y="39334"/>
                  <a:pt x="12042" y="39334"/>
                </a:cubicBezTo>
                <a:cubicBezTo>
                  <a:pt x="10468" y="39334"/>
                  <a:pt x="9234" y="38802"/>
                  <a:pt x="8341" y="37738"/>
                </a:cubicBezTo>
                <a:cubicBezTo>
                  <a:pt x="7447" y="36674"/>
                  <a:pt x="7000" y="35218"/>
                  <a:pt x="7000" y="33368"/>
                </a:cubicBezTo>
                <a:cubicBezTo>
                  <a:pt x="7000" y="31523"/>
                  <a:pt x="7446" y="30084"/>
                  <a:pt x="8337" y="29051"/>
                </a:cubicBezTo>
                <a:cubicBezTo>
                  <a:pt x="9228" y="28017"/>
                  <a:pt x="10468" y="27500"/>
                  <a:pt x="12056" y="27500"/>
                </a:cubicBezTo>
                <a:cubicBezTo>
                  <a:pt x="13645" y="27500"/>
                  <a:pt x="14886" y="28022"/>
                  <a:pt x="15779" y="29067"/>
                </a:cubicBezTo>
                <a:cubicBezTo>
                  <a:pt x="16673" y="30112"/>
                  <a:pt x="17120" y="31545"/>
                  <a:pt x="17120" y="33368"/>
                </a:cubicBezTo>
                <a:close/>
                <a:moveTo>
                  <a:pt x="14979" y="33368"/>
                </a:moveTo>
                <a:cubicBezTo>
                  <a:pt x="14979" y="32127"/>
                  <a:pt x="14723" y="31155"/>
                  <a:pt x="14211" y="30450"/>
                </a:cubicBezTo>
                <a:cubicBezTo>
                  <a:pt x="13699" y="29746"/>
                  <a:pt x="12981" y="29393"/>
                  <a:pt x="12056" y="29393"/>
                </a:cubicBezTo>
                <a:cubicBezTo>
                  <a:pt x="11118" y="29393"/>
                  <a:pt x="10392" y="29743"/>
                  <a:pt x="9880" y="30442"/>
                </a:cubicBezTo>
                <a:cubicBezTo>
                  <a:pt x="9368" y="31141"/>
                  <a:pt x="9112" y="32116"/>
                  <a:pt x="9112" y="33368"/>
                </a:cubicBezTo>
                <a:cubicBezTo>
                  <a:pt x="9112" y="34630"/>
                  <a:pt x="9374" y="35624"/>
                  <a:pt x="9898" y="36351"/>
                </a:cubicBezTo>
                <a:cubicBezTo>
                  <a:pt x="10422" y="37077"/>
                  <a:pt x="11137" y="37440"/>
                  <a:pt x="12042" y="37440"/>
                </a:cubicBezTo>
                <a:cubicBezTo>
                  <a:pt x="12981" y="37440"/>
                  <a:pt x="13705" y="37087"/>
                  <a:pt x="14215" y="36379"/>
                </a:cubicBezTo>
                <a:cubicBezTo>
                  <a:pt x="14724" y="35672"/>
                  <a:pt x="14979" y="34668"/>
                  <a:pt x="14979" y="33368"/>
                </a:cubicBezTo>
                <a:close/>
                <a:moveTo>
                  <a:pt x="25199" y="39170"/>
                </a:moveTo>
                <a:lnTo>
                  <a:pt x="27226" y="39170"/>
                </a:lnTo>
                <a:lnTo>
                  <a:pt x="27226" y="27671"/>
                </a:lnTo>
                <a:lnTo>
                  <a:pt x="18706" y="27671"/>
                </a:lnTo>
                <a:lnTo>
                  <a:pt x="18706" y="39170"/>
                </a:lnTo>
                <a:lnTo>
                  <a:pt x="20797" y="39170"/>
                </a:lnTo>
                <a:lnTo>
                  <a:pt x="20797" y="29663"/>
                </a:lnTo>
                <a:lnTo>
                  <a:pt x="25199" y="29663"/>
                </a:lnTo>
                <a:close/>
                <a:moveTo>
                  <a:pt x="29174" y="39170"/>
                </a:moveTo>
                <a:lnTo>
                  <a:pt x="29174" y="27671"/>
                </a:lnTo>
                <a:lnTo>
                  <a:pt x="37054" y="27671"/>
                </a:lnTo>
                <a:lnTo>
                  <a:pt x="37054" y="29532"/>
                </a:lnTo>
                <a:lnTo>
                  <a:pt x="31272" y="29532"/>
                </a:lnTo>
                <a:lnTo>
                  <a:pt x="31272" y="32421"/>
                </a:lnTo>
                <a:lnTo>
                  <a:pt x="36620" y="32421"/>
                </a:lnTo>
                <a:lnTo>
                  <a:pt x="36620" y="34282"/>
                </a:lnTo>
                <a:lnTo>
                  <a:pt x="31272" y="34282"/>
                </a:lnTo>
                <a:lnTo>
                  <a:pt x="31272" y="37310"/>
                </a:lnTo>
                <a:lnTo>
                  <a:pt x="37345" y="37310"/>
                </a:lnTo>
                <a:lnTo>
                  <a:pt x="37345" y="39170"/>
                </a:lnTo>
                <a:close/>
                <a:moveTo>
                  <a:pt x="47131" y="31311"/>
                </a:moveTo>
                <a:cubicBezTo>
                  <a:pt x="47131" y="32051"/>
                  <a:pt x="46984" y="32712"/>
                  <a:pt x="46690" y="33294"/>
                </a:cubicBezTo>
                <a:cubicBezTo>
                  <a:pt x="46396" y="33876"/>
                  <a:pt x="45975" y="34327"/>
                  <a:pt x="45428" y="34645"/>
                </a:cubicBezTo>
                <a:cubicBezTo>
                  <a:pt x="44880" y="34963"/>
                  <a:pt x="44230" y="35122"/>
                  <a:pt x="43476" y="35122"/>
                </a:cubicBezTo>
                <a:lnTo>
                  <a:pt x="40987" y="35122"/>
                </a:lnTo>
                <a:lnTo>
                  <a:pt x="40987" y="39170"/>
                </a:lnTo>
                <a:lnTo>
                  <a:pt x="38889" y="39170"/>
                </a:lnTo>
                <a:lnTo>
                  <a:pt x="38889" y="27671"/>
                </a:lnTo>
                <a:lnTo>
                  <a:pt x="43390" y="27671"/>
                </a:lnTo>
                <a:cubicBezTo>
                  <a:pt x="44590" y="27671"/>
                  <a:pt x="45513" y="27988"/>
                  <a:pt x="46160" y="28622"/>
                </a:cubicBezTo>
                <a:cubicBezTo>
                  <a:pt x="46808" y="29256"/>
                  <a:pt x="47131" y="30152"/>
                  <a:pt x="47131" y="31311"/>
                </a:cubicBezTo>
                <a:close/>
                <a:moveTo>
                  <a:pt x="45019" y="31352"/>
                </a:moveTo>
                <a:cubicBezTo>
                  <a:pt x="45019" y="30144"/>
                  <a:pt x="44398" y="29540"/>
                  <a:pt x="43156" y="29540"/>
                </a:cubicBezTo>
                <a:lnTo>
                  <a:pt x="40987" y="29540"/>
                </a:lnTo>
                <a:lnTo>
                  <a:pt x="40987" y="33270"/>
                </a:lnTo>
                <a:lnTo>
                  <a:pt x="43213" y="33270"/>
                </a:lnTo>
                <a:cubicBezTo>
                  <a:pt x="43791" y="33270"/>
                  <a:pt x="44237" y="33105"/>
                  <a:pt x="44550" y="32776"/>
                </a:cubicBezTo>
                <a:cubicBezTo>
                  <a:pt x="44863" y="32447"/>
                  <a:pt x="45019" y="31972"/>
                  <a:pt x="45019" y="31352"/>
                </a:cubicBezTo>
                <a:close/>
                <a:moveTo>
                  <a:pt x="55686" y="39170"/>
                </a:moveTo>
                <a:lnTo>
                  <a:pt x="54798" y="36232"/>
                </a:lnTo>
                <a:lnTo>
                  <a:pt x="50979" y="36232"/>
                </a:lnTo>
                <a:lnTo>
                  <a:pt x="50090" y="39170"/>
                </a:lnTo>
                <a:lnTo>
                  <a:pt x="47992" y="39170"/>
                </a:lnTo>
                <a:lnTo>
                  <a:pt x="51647" y="27671"/>
                </a:lnTo>
                <a:lnTo>
                  <a:pt x="54122" y="27671"/>
                </a:lnTo>
                <a:lnTo>
                  <a:pt x="57763" y="39170"/>
                </a:lnTo>
                <a:close/>
                <a:moveTo>
                  <a:pt x="52884" y="29442"/>
                </a:moveTo>
                <a:lnTo>
                  <a:pt x="52842" y="29622"/>
                </a:lnTo>
                <a:cubicBezTo>
                  <a:pt x="52794" y="29818"/>
                  <a:pt x="52737" y="30041"/>
                  <a:pt x="52671" y="30291"/>
                </a:cubicBezTo>
                <a:cubicBezTo>
                  <a:pt x="52605" y="30541"/>
                  <a:pt x="52197" y="31918"/>
                  <a:pt x="51448" y="34421"/>
                </a:cubicBezTo>
                <a:lnTo>
                  <a:pt x="54328" y="34421"/>
                </a:lnTo>
                <a:lnTo>
                  <a:pt x="53340" y="31115"/>
                </a:lnTo>
                <a:lnTo>
                  <a:pt x="53034" y="30005"/>
                </a:lnTo>
                <a:close/>
                <a:moveTo>
                  <a:pt x="63644" y="29532"/>
                </a:moveTo>
                <a:lnTo>
                  <a:pt x="63644" y="39170"/>
                </a:lnTo>
                <a:lnTo>
                  <a:pt x="61546" y="39170"/>
                </a:lnTo>
                <a:lnTo>
                  <a:pt x="61546" y="29532"/>
                </a:lnTo>
                <a:lnTo>
                  <a:pt x="58311" y="29532"/>
                </a:lnTo>
                <a:lnTo>
                  <a:pt x="58311" y="27671"/>
                </a:lnTo>
                <a:lnTo>
                  <a:pt x="66887" y="27671"/>
                </a:lnTo>
                <a:lnTo>
                  <a:pt x="66887" y="29532"/>
                </a:lnTo>
                <a:close/>
                <a:moveTo>
                  <a:pt x="77761" y="33368"/>
                </a:moveTo>
                <a:cubicBezTo>
                  <a:pt x="77761" y="34565"/>
                  <a:pt x="77555" y="35618"/>
                  <a:pt x="77142" y="36526"/>
                </a:cubicBezTo>
                <a:cubicBezTo>
                  <a:pt x="76730" y="37435"/>
                  <a:pt x="76140" y="38130"/>
                  <a:pt x="75372" y="38611"/>
                </a:cubicBezTo>
                <a:cubicBezTo>
                  <a:pt x="74603" y="39093"/>
                  <a:pt x="73707" y="39334"/>
                  <a:pt x="72683" y="39334"/>
                </a:cubicBezTo>
                <a:cubicBezTo>
                  <a:pt x="71109" y="39334"/>
                  <a:pt x="69875" y="38802"/>
                  <a:pt x="68982" y="37738"/>
                </a:cubicBezTo>
                <a:cubicBezTo>
                  <a:pt x="68088" y="36674"/>
                  <a:pt x="67641" y="35218"/>
                  <a:pt x="67641" y="33368"/>
                </a:cubicBezTo>
                <a:cubicBezTo>
                  <a:pt x="67641" y="31523"/>
                  <a:pt x="68087" y="30084"/>
                  <a:pt x="68978" y="29051"/>
                </a:cubicBezTo>
                <a:cubicBezTo>
                  <a:pt x="69869" y="28017"/>
                  <a:pt x="71109" y="27500"/>
                  <a:pt x="72698" y="27500"/>
                </a:cubicBezTo>
                <a:cubicBezTo>
                  <a:pt x="74286" y="27500"/>
                  <a:pt x="75527" y="28022"/>
                  <a:pt x="76421" y="29067"/>
                </a:cubicBezTo>
                <a:cubicBezTo>
                  <a:pt x="77314" y="30112"/>
                  <a:pt x="77761" y="31545"/>
                  <a:pt x="77761" y="33368"/>
                </a:cubicBezTo>
                <a:close/>
                <a:moveTo>
                  <a:pt x="75620" y="33368"/>
                </a:moveTo>
                <a:cubicBezTo>
                  <a:pt x="75620" y="32127"/>
                  <a:pt x="75364" y="31155"/>
                  <a:pt x="74852" y="30450"/>
                </a:cubicBezTo>
                <a:cubicBezTo>
                  <a:pt x="74340" y="29746"/>
                  <a:pt x="73622" y="29393"/>
                  <a:pt x="72698" y="29393"/>
                </a:cubicBezTo>
                <a:cubicBezTo>
                  <a:pt x="71759" y="29393"/>
                  <a:pt x="71033" y="29743"/>
                  <a:pt x="70521" y="30442"/>
                </a:cubicBezTo>
                <a:cubicBezTo>
                  <a:pt x="70009" y="31141"/>
                  <a:pt x="69753" y="32116"/>
                  <a:pt x="69753" y="33368"/>
                </a:cubicBezTo>
                <a:cubicBezTo>
                  <a:pt x="69753" y="34630"/>
                  <a:pt x="70015" y="35624"/>
                  <a:pt x="70539" y="36351"/>
                </a:cubicBezTo>
                <a:cubicBezTo>
                  <a:pt x="71063" y="37077"/>
                  <a:pt x="71778" y="37440"/>
                  <a:pt x="72683" y="37440"/>
                </a:cubicBezTo>
                <a:cubicBezTo>
                  <a:pt x="73622" y="37440"/>
                  <a:pt x="74346" y="37087"/>
                  <a:pt x="74856" y="36379"/>
                </a:cubicBezTo>
                <a:cubicBezTo>
                  <a:pt x="75366" y="35672"/>
                  <a:pt x="75620" y="34668"/>
                  <a:pt x="75620" y="33368"/>
                </a:cubicBezTo>
                <a:close/>
                <a:moveTo>
                  <a:pt x="87589" y="31311"/>
                </a:moveTo>
                <a:cubicBezTo>
                  <a:pt x="87589" y="32051"/>
                  <a:pt x="87442" y="32712"/>
                  <a:pt x="87148" y="33294"/>
                </a:cubicBezTo>
                <a:cubicBezTo>
                  <a:pt x="86855" y="33876"/>
                  <a:pt x="86434" y="34327"/>
                  <a:pt x="85886" y="34645"/>
                </a:cubicBezTo>
                <a:cubicBezTo>
                  <a:pt x="85339" y="34963"/>
                  <a:pt x="84688" y="35122"/>
                  <a:pt x="83934" y="35122"/>
                </a:cubicBezTo>
                <a:lnTo>
                  <a:pt x="81445" y="35122"/>
                </a:lnTo>
                <a:lnTo>
                  <a:pt x="81445" y="39170"/>
                </a:lnTo>
                <a:lnTo>
                  <a:pt x="79347" y="39170"/>
                </a:lnTo>
                <a:lnTo>
                  <a:pt x="79347" y="27671"/>
                </a:lnTo>
                <a:lnTo>
                  <a:pt x="83849" y="27671"/>
                </a:lnTo>
                <a:cubicBezTo>
                  <a:pt x="85048" y="27671"/>
                  <a:pt x="85971" y="27988"/>
                  <a:pt x="86619" y="28622"/>
                </a:cubicBezTo>
                <a:cubicBezTo>
                  <a:pt x="87266" y="29256"/>
                  <a:pt x="87589" y="30152"/>
                  <a:pt x="87589" y="31311"/>
                </a:cubicBezTo>
                <a:close/>
                <a:moveTo>
                  <a:pt x="85477" y="31352"/>
                </a:moveTo>
                <a:cubicBezTo>
                  <a:pt x="85477" y="30144"/>
                  <a:pt x="84856" y="29540"/>
                  <a:pt x="83614" y="29540"/>
                </a:cubicBezTo>
                <a:lnTo>
                  <a:pt x="81445" y="29540"/>
                </a:lnTo>
                <a:lnTo>
                  <a:pt x="81445" y="33270"/>
                </a:lnTo>
                <a:lnTo>
                  <a:pt x="83671" y="33270"/>
                </a:lnTo>
                <a:cubicBezTo>
                  <a:pt x="84249" y="33270"/>
                  <a:pt x="84695" y="33105"/>
                  <a:pt x="85008" y="32776"/>
                </a:cubicBezTo>
                <a:cubicBezTo>
                  <a:pt x="85321" y="32447"/>
                  <a:pt x="85477" y="31972"/>
                  <a:pt x="85477" y="31352"/>
                </a:cubicBezTo>
                <a:close/>
                <a:moveTo>
                  <a:pt x="100931" y="37179"/>
                </a:moveTo>
                <a:lnTo>
                  <a:pt x="100931" y="27671"/>
                </a:lnTo>
                <a:lnTo>
                  <a:pt x="95320" y="27671"/>
                </a:lnTo>
                <a:lnTo>
                  <a:pt x="94886" y="31303"/>
                </a:lnTo>
                <a:cubicBezTo>
                  <a:pt x="94748" y="32413"/>
                  <a:pt x="94547" y="33492"/>
                  <a:pt x="94281" y="34539"/>
                </a:cubicBezTo>
                <a:cubicBezTo>
                  <a:pt x="94016" y="35586"/>
                  <a:pt x="93713" y="36466"/>
                  <a:pt x="93371" y="37179"/>
                </a:cubicBezTo>
                <a:lnTo>
                  <a:pt x="92262" y="37179"/>
                </a:lnTo>
                <a:lnTo>
                  <a:pt x="92262" y="42500"/>
                </a:lnTo>
                <a:lnTo>
                  <a:pt x="94040" y="42500"/>
                </a:lnTo>
                <a:lnTo>
                  <a:pt x="94040" y="39170"/>
                </a:lnTo>
                <a:lnTo>
                  <a:pt x="100469" y="39170"/>
                </a:lnTo>
                <a:lnTo>
                  <a:pt x="100469" y="42500"/>
                </a:lnTo>
                <a:lnTo>
                  <a:pt x="102247" y="42500"/>
                </a:lnTo>
                <a:lnTo>
                  <a:pt x="102247" y="37179"/>
                </a:lnTo>
                <a:close/>
                <a:moveTo>
                  <a:pt x="98904" y="37179"/>
                </a:moveTo>
                <a:lnTo>
                  <a:pt x="95569" y="37179"/>
                </a:lnTo>
                <a:cubicBezTo>
                  <a:pt x="95815" y="36581"/>
                  <a:pt x="96051" y="35774"/>
                  <a:pt x="96276" y="34759"/>
                </a:cubicBezTo>
                <a:cubicBezTo>
                  <a:pt x="96501" y="33745"/>
                  <a:pt x="96683" y="32682"/>
                  <a:pt x="96820" y="31572"/>
                </a:cubicBezTo>
                <a:lnTo>
                  <a:pt x="97041" y="29663"/>
                </a:lnTo>
                <a:lnTo>
                  <a:pt x="98904" y="29663"/>
                </a:lnTo>
                <a:close/>
                <a:moveTo>
                  <a:pt x="109948" y="39170"/>
                </a:moveTo>
                <a:lnTo>
                  <a:pt x="109948" y="34241"/>
                </a:lnTo>
                <a:lnTo>
                  <a:pt x="105582" y="34241"/>
                </a:lnTo>
                <a:lnTo>
                  <a:pt x="105582" y="39170"/>
                </a:lnTo>
                <a:lnTo>
                  <a:pt x="103484" y="39170"/>
                </a:lnTo>
                <a:lnTo>
                  <a:pt x="103484" y="27671"/>
                </a:lnTo>
                <a:lnTo>
                  <a:pt x="105582" y="27671"/>
                </a:lnTo>
                <a:lnTo>
                  <a:pt x="105582" y="32250"/>
                </a:lnTo>
                <a:lnTo>
                  <a:pt x="109948" y="32250"/>
                </a:lnTo>
                <a:lnTo>
                  <a:pt x="109948" y="27671"/>
                </a:lnTo>
                <a:lnTo>
                  <a:pt x="112046" y="27671"/>
                </a:lnTo>
                <a:lnTo>
                  <a:pt x="112046" y="39170"/>
                </a:lnTo>
                <a:close/>
                <a:moveTo>
                  <a:pt x="121000" y="27671"/>
                </a:moveTo>
                <a:lnTo>
                  <a:pt x="114002" y="27671"/>
                </a:lnTo>
                <a:lnTo>
                  <a:pt x="114002" y="39162"/>
                </a:lnTo>
                <a:lnTo>
                  <a:pt x="116100" y="39162"/>
                </a:lnTo>
                <a:lnTo>
                  <a:pt x="116100" y="29532"/>
                </a:lnTo>
                <a:lnTo>
                  <a:pt x="121000" y="29532"/>
                </a:lnTo>
                <a:close/>
              </a:path>
            </a:pathLst>
          </a:cu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!!YellowRule"/>
          <p:cNvSpPr/>
          <p:nvPr/>
        </p:nvSpPr>
        <p:spPr>
          <a:xfrm>
            <a:off x="666750" y="590550"/>
            <a:ext cx="4857750" cy="47625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!!ProductTitle"/>
          <p:cNvSpPr txBox="1"/>
          <p:nvPr/>
        </p:nvSpPr>
        <p:spPr>
          <a:xfrm>
            <a:off x="666750" y="952500"/>
            <a:ext cx="5238750" cy="7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b="1" sz="3600">
                <a:solidFill>
                  <a:srgbClr val="FFFFFF"/>
                </a:solidFill>
                <a:latin typeface="Arial"/>
              </a:defRPr>
            </a:pPr>
            <a:r>
              <a:t>ОПЕРАТОР ДНГ</a:t>
            </a:r>
          </a:p>
        </p:txBody>
      </p:sp>
      <p:sp>
        <p:nvSpPr>
          <p:cNvPr id="6" name="!!ProductSubtitle"/>
          <p:cNvSpPr txBox="1"/>
          <p:nvPr/>
        </p:nvSpPr>
        <p:spPr>
          <a:xfrm>
            <a:off x="704850" y="2238375"/>
            <a:ext cx="4953000" cy="152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b="1" sz="3900">
                <a:solidFill>
                  <a:srgbClr val="FFCD00"/>
                </a:solidFill>
                <a:latin typeface="Arial"/>
              </a:defRPr>
            </a:pPr>
            <a:r>
              <a:t>Цель проекта</a:t>
            </a:r>
          </a:p>
        </p:txBody>
      </p:sp>
      <p:sp>
        <p:nvSpPr>
          <p:cNvPr id="7" name="Goal"/>
          <p:cNvSpPr txBox="1"/>
          <p:nvPr/>
        </p:nvSpPr>
        <p:spPr>
          <a:xfrm>
            <a:off x="723900" y="3476625"/>
            <a:ext cx="4857750" cy="1714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b="1" sz="2175">
                <a:solidFill>
                  <a:srgbClr val="FFFFFF"/>
                </a:solidFill>
                <a:latin typeface="Arial"/>
              </a:defRPr>
            </a:pPr>
            <a:r>
              <a:t>Упростить доступ оператора</a:t>
            </a:r>
          </a:p>
          <a:p>
            <a:pPr>
              <a:spcAft>
                <a:spcPts val="1000"/>
              </a:spcAft>
              <a:defRPr b="1" sz="2175">
                <a:solidFill>
                  <a:srgbClr val="FFFFFF"/>
                </a:solidFill>
                <a:latin typeface="Arial"/>
              </a:defRPr>
            </a:pPr>
            <a:r>
              <a:t>к расчётам и рабочим</a:t>
            </a:r>
          </a:p>
          <a:p>
            <a:pPr>
              <a:spcAft>
                <a:spcPts val="1000"/>
              </a:spcAft>
              <a:defRPr b="1" sz="2175">
                <a:solidFill>
                  <a:srgbClr val="FFFFFF"/>
                </a:solidFill>
                <a:latin typeface="Arial"/>
              </a:defRPr>
            </a:pPr>
            <a:r>
              <a:t>материалам на месте работы.</a:t>
            </a:r>
          </a:p>
        </p:txBody>
      </p:sp>
      <p:sp>
        <p:nvSpPr>
          <p:cNvPr id="8" name="!!Footer"/>
          <p:cNvSpPr txBox="1"/>
          <p:nvPr/>
        </p:nvSpPr>
        <p:spPr>
          <a:xfrm>
            <a:off x="685800" y="6343650"/>
            <a:ext cx="10858500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b="1" sz="1050">
                <a:solidFill>
                  <a:srgbClr val="FFFFFF"/>
                </a:solidFill>
                <a:latin typeface="Arial"/>
              </a:defRPr>
            </a:pPr>
            <a:r>
              <a:t>ООО «РН-Юганскнефтегаз» · проект для обсуждения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 xmlns:p14="http://schemas.microsoft.com/office/powerpoint/2010/main">
    <mc:Choice Requires="p159">
      <p:transition advClick="1" spd="slow" p14:dur="1800">
        <p159:morph option="byObject"/>
      </p:transition>
    </mc:Choice>
    <mc:Fallback>
      <p:transition advClick="1" spd="slow">
        <p:push dir="l"/>
      </p:transition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CD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Panel0"/>
          <p:cNvSpPr/>
          <p:nvPr/>
        </p:nvSpPr>
        <p:spPr>
          <a:xfrm>
            <a:off x="13335000" y="1428750"/>
            <a:ext cx="2571750" cy="466725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" name="!!PanelImage0" descr="manual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3839825" y="2619375"/>
            <a:ext cx="1562100" cy="3381375"/>
          </a:xfrm>
          <a:prstGeom prst="rect">
            <a:avLst/>
          </a:prstGeom>
        </p:spPr>
      </p:pic>
      <p:sp>
        <p:nvSpPr>
          <p:cNvPr id="4" name="!!PanelTitle0"/>
          <p:cNvSpPr txBox="1"/>
          <p:nvPr/>
        </p:nvSpPr>
        <p:spPr>
          <a:xfrm>
            <a:off x="13430250" y="1504950"/>
            <a:ext cx="2381250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050" b="0">
                <a:solidFill>
                  <a:srgbClr val="000000"/>
                </a:solidFill>
                <a:latin typeface="Arial"/>
              </a:defRPr>
            </a:pPr>
          </a:p>
        </p:txBody>
      </p:sp>
      <p:sp>
        <p:nvSpPr>
          <p:cNvPr id="5" name="!!Panel1"/>
          <p:cNvSpPr/>
          <p:nvPr/>
        </p:nvSpPr>
        <p:spPr>
          <a:xfrm>
            <a:off x="16097250" y="1428750"/>
            <a:ext cx="2571750" cy="466725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6" name="!!PanelImage1" descr="ped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6602075" y="2619375"/>
            <a:ext cx="1562100" cy="3381375"/>
          </a:xfrm>
          <a:prstGeom prst="rect">
            <a:avLst/>
          </a:prstGeom>
        </p:spPr>
      </p:pic>
      <p:sp>
        <p:nvSpPr>
          <p:cNvPr id="7" name="!!PanelTitle1"/>
          <p:cNvSpPr txBox="1"/>
          <p:nvPr/>
        </p:nvSpPr>
        <p:spPr>
          <a:xfrm>
            <a:off x="16192499" y="1504950"/>
            <a:ext cx="2381250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050" b="0">
                <a:solidFill>
                  <a:srgbClr val="000000"/>
                </a:solidFill>
                <a:latin typeface="Arial"/>
              </a:defRPr>
            </a:pPr>
          </a:p>
        </p:txBody>
      </p:sp>
      <p:sp>
        <p:nvSpPr>
          <p:cNvPr id="8" name="!!Panel2"/>
          <p:cNvSpPr/>
          <p:nvPr/>
        </p:nvSpPr>
        <p:spPr>
          <a:xfrm>
            <a:off x="18859500" y="1428750"/>
            <a:ext cx="2571750" cy="466725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!!PanelImage2" descr="ramp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9364325" y="2619375"/>
            <a:ext cx="1562100" cy="3381375"/>
          </a:xfrm>
          <a:prstGeom prst="rect">
            <a:avLst/>
          </a:prstGeom>
        </p:spPr>
      </p:pic>
      <p:sp>
        <p:nvSpPr>
          <p:cNvPr id="10" name="!!PanelTitle2"/>
          <p:cNvSpPr txBox="1"/>
          <p:nvPr/>
        </p:nvSpPr>
        <p:spPr>
          <a:xfrm>
            <a:off x="18954750" y="1504950"/>
            <a:ext cx="2381250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050" b="0">
                <a:solidFill>
                  <a:srgbClr val="000000"/>
                </a:solidFill>
                <a:latin typeface="Arial"/>
              </a:defRPr>
            </a:pPr>
          </a:p>
        </p:txBody>
      </p:sp>
      <p:sp>
        <p:nvSpPr>
          <p:cNvPr id="11" name="!!Panel3"/>
          <p:cNvSpPr/>
          <p:nvPr/>
        </p:nvSpPr>
        <p:spPr>
          <a:xfrm>
            <a:off x="21621750" y="1428750"/>
            <a:ext cx="2571750" cy="466725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2" name="!!PanelImage3" descr="vnr.pn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22126575" y="2619375"/>
            <a:ext cx="1562100" cy="3381375"/>
          </a:xfrm>
          <a:prstGeom prst="rect">
            <a:avLst/>
          </a:prstGeom>
        </p:spPr>
      </p:pic>
      <p:sp>
        <p:nvSpPr>
          <p:cNvPr id="13" name="!!PanelTitle3"/>
          <p:cNvSpPr txBox="1"/>
          <p:nvPr/>
        </p:nvSpPr>
        <p:spPr>
          <a:xfrm>
            <a:off x="21717000" y="1504950"/>
            <a:ext cx="2381250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050" b="0">
                <a:solidFill>
                  <a:srgbClr val="000000"/>
                </a:solidFill>
                <a:latin typeface="Arial"/>
              </a:defRPr>
            </a:pPr>
          </a:p>
        </p:txBody>
      </p:sp>
      <p:sp>
        <p:nvSpPr>
          <p:cNvPr id="14" name="!!Headline"/>
          <p:cNvSpPr txBox="1"/>
          <p:nvPr/>
        </p:nvSpPr>
        <p:spPr>
          <a:xfrm>
            <a:off x="685800" y="1409700"/>
            <a:ext cx="10668000" cy="7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4200" b="1">
                <a:solidFill>
                  <a:srgbClr val="000000"/>
                </a:solidFill>
                <a:latin typeface="Arial"/>
              </a:defRPr>
            </a:pPr>
            <a:r>
              <a:t>Четыре задачи проекта</a:t>
            </a:r>
          </a:p>
        </p:txBody>
      </p:sp>
      <p:sp>
        <p:nvSpPr>
          <p:cNvPr id="15" name="TaskNumber0"/>
          <p:cNvSpPr txBox="1"/>
          <p:nvPr/>
        </p:nvSpPr>
        <p:spPr>
          <a:xfrm>
            <a:off x="723900" y="2571750"/>
            <a:ext cx="714375" cy="666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2850" b="1">
                <a:solidFill>
                  <a:srgbClr val="000000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16" name="TaskTitle0"/>
          <p:cNvSpPr txBox="1"/>
          <p:nvPr/>
        </p:nvSpPr>
        <p:spPr>
          <a:xfrm>
            <a:off x="1581150" y="2571750"/>
            <a:ext cx="4333875" cy="1333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2250" b="1">
                <a:solidFill>
                  <a:srgbClr val="000000"/>
                </a:solidFill>
                <a:latin typeface="Arial"/>
              </a:defRPr>
            </a:pPr>
            <a:r>
              <a:t>Объединить рабочие инструменты</a:t>
            </a:r>
          </a:p>
        </p:txBody>
      </p:sp>
      <p:sp>
        <p:nvSpPr>
          <p:cNvPr id="17" name="TaskNumber1"/>
          <p:cNvSpPr txBox="1"/>
          <p:nvPr/>
        </p:nvSpPr>
        <p:spPr>
          <a:xfrm>
            <a:off x="6343650" y="2571750"/>
            <a:ext cx="714375" cy="666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2850" b="1">
                <a:solidFill>
                  <a:srgbClr val="000000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8" name="TaskTitle1"/>
          <p:cNvSpPr txBox="1"/>
          <p:nvPr/>
        </p:nvSpPr>
        <p:spPr>
          <a:xfrm>
            <a:off x="7200900" y="2571750"/>
            <a:ext cx="4333875" cy="1333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2250" b="1">
                <a:solidFill>
                  <a:srgbClr val="000000"/>
                </a:solidFill>
                <a:latin typeface="Arial"/>
              </a:defRPr>
            </a:pPr>
            <a:r>
              <a:t>Упростить ежедневные расчёты и замеры</a:t>
            </a:r>
          </a:p>
        </p:txBody>
      </p:sp>
      <p:sp>
        <p:nvSpPr>
          <p:cNvPr id="19" name="TaskNumber2"/>
          <p:cNvSpPr txBox="1"/>
          <p:nvPr/>
        </p:nvSpPr>
        <p:spPr>
          <a:xfrm>
            <a:off x="723900" y="4381500"/>
            <a:ext cx="714375" cy="666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2850" b="1">
                <a:solidFill>
                  <a:srgbClr val="000000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20" name="TaskTitle2"/>
          <p:cNvSpPr txBox="1"/>
          <p:nvPr/>
        </p:nvSpPr>
        <p:spPr>
          <a:xfrm>
            <a:off x="1581150" y="4381500"/>
            <a:ext cx="4333875" cy="1333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2250" b="1">
                <a:solidFill>
                  <a:srgbClr val="000000"/>
                </a:solidFill>
                <a:latin typeface="Arial"/>
              </a:defRPr>
            </a:pPr>
            <a:r>
              <a:t>Помочь соблюдать последовательность действий</a:t>
            </a:r>
          </a:p>
        </p:txBody>
      </p:sp>
      <p:sp>
        <p:nvSpPr>
          <p:cNvPr id="21" name="TaskNumber3"/>
          <p:cNvSpPr txBox="1"/>
          <p:nvPr/>
        </p:nvSpPr>
        <p:spPr>
          <a:xfrm>
            <a:off x="6343650" y="4381500"/>
            <a:ext cx="714375" cy="666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2850" b="1">
                <a:solidFill>
                  <a:srgbClr val="000000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22" name="TaskTitle3"/>
          <p:cNvSpPr txBox="1"/>
          <p:nvPr/>
        </p:nvSpPr>
        <p:spPr>
          <a:xfrm>
            <a:off x="7200900" y="4381500"/>
            <a:ext cx="4333875" cy="1333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2250" b="1">
                <a:solidFill>
                  <a:srgbClr val="000000"/>
                </a:solidFill>
                <a:latin typeface="Arial"/>
              </a:defRPr>
            </a:pPr>
            <a:r>
              <a:t>Обеспечить быстрый доступ к информации на промысле</a:t>
            </a:r>
          </a:p>
        </p:txBody>
      </p:sp>
      <p:sp>
        <p:nvSpPr>
          <p:cNvPr id="23" name="!!Rule"/>
          <p:cNvSpPr/>
          <p:nvPr/>
        </p:nvSpPr>
        <p:spPr>
          <a:xfrm>
            <a:off x="666750" y="590550"/>
            <a:ext cx="10858500" cy="381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!!Section"/>
          <p:cNvSpPr txBox="1"/>
          <p:nvPr/>
        </p:nvSpPr>
        <p:spPr>
          <a:xfrm>
            <a:off x="685800" y="828675"/>
            <a:ext cx="102870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200" b="1">
                <a:solidFill>
                  <a:srgbClr val="000000"/>
                </a:solidFill>
                <a:latin typeface="Arial"/>
              </a:defRPr>
            </a:pPr>
            <a:r>
              <a:t>ОПЕРАТОР ДНГ / ЗАДАЧИ</a:t>
            </a:r>
          </a:p>
        </p:txBody>
      </p:sp>
      <p:sp>
        <p:nvSpPr>
          <p:cNvPr id="25" name="!!Footer"/>
          <p:cNvSpPr txBox="1"/>
          <p:nvPr/>
        </p:nvSpPr>
        <p:spPr>
          <a:xfrm>
            <a:off x="685800" y="6381750"/>
            <a:ext cx="10096500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975" b="0">
                <a:solidFill>
                  <a:srgbClr val="000000"/>
                </a:solidFill>
                <a:latin typeface="Arial"/>
              </a:defRPr>
            </a:pPr>
            <a:r>
              <a:t>ООО «РН-Юганскнефтегаз» · проект для обсуждения</a:t>
            </a:r>
          </a:p>
        </p:txBody>
      </p:sp>
      <p:sp>
        <p:nvSpPr>
          <p:cNvPr id="26" name="SlideNumber"/>
          <p:cNvSpPr txBox="1"/>
          <p:nvPr/>
        </p:nvSpPr>
        <p:spPr>
          <a:xfrm>
            <a:off x="11096625" y="6381750"/>
            <a:ext cx="523874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975" b="0">
                <a:solidFill>
                  <a:srgbClr val="000000"/>
                </a:solidFill>
                <a:latin typeface="Arial"/>
              </a:defRPr>
            </a:pPr>
            <a:r>
              <a:t>04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 xmlns:p14="http://schemas.microsoft.com/office/powerpoint/2010/main">
    <mc:Choice Requires="p159">
      <p:transition advClick="1" spd="slow" p14:dur="1400">
        <p159:morph option="byObject"/>
      </p:transition>
    </mc:Choice>
    <mc:Fallback>
      <p:transition advClick="1" spd="slow">
        <p:push dir="l"/>
      </p:transition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Panel0">
            <a:hlinkClick action="ppaction://hlinksldjump" r:id="rId7"/>
          </p:cNvPr>
          <p:cNvSpPr/>
          <p:nvPr/>
        </p:nvSpPr>
        <p:spPr>
          <a:xfrm>
            <a:off x="666750" y="1428750"/>
            <a:ext cx="2571750" cy="466725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" name="!!PanelImage0" descr="manual.png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171575" y="2619375"/>
            <a:ext cx="1562100" cy="3381375"/>
          </a:xfrm>
          <a:prstGeom prst="rect">
            <a:avLst/>
          </a:prstGeom>
        </p:spPr>
      </p:pic>
      <p:sp>
        <p:nvSpPr>
          <p:cNvPr id="4" name="!!PanelTitle0">
            <a:hlinkClick action="ppaction://hlinksldjump" r:id="rId7"/>
          </p:cNvPr>
          <p:cNvSpPr txBox="1"/>
          <p:nvPr/>
        </p:nvSpPr>
        <p:spPr>
          <a:xfrm>
            <a:off x="857250" y="1609725"/>
            <a:ext cx="2190750" cy="952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2175" b="1">
                <a:solidFill>
                  <a:srgbClr val="000000"/>
                </a:solidFill>
                <a:latin typeface="Arial"/>
              </a:defRPr>
            </a:pPr>
            <a:r>
              <a:t>Ручной</a:t>
            </a:r>
          </a:p>
          <a:p>
            <a:pPr>
              <a:lnSpc>
                <a:spcPct val="104000"/>
              </a:lnSpc>
              <a:spcAft>
                <a:spcPts val="700"/>
              </a:spcAft>
              <a:defRPr sz="2175" b="1">
                <a:solidFill>
                  <a:srgbClr val="000000"/>
                </a:solidFill>
                <a:latin typeface="Arial"/>
              </a:defRPr>
            </a:pPr>
            <a:r>
              <a:t>замер</a:t>
            </a:r>
          </a:p>
        </p:txBody>
      </p:sp>
      <p:sp>
        <p:nvSpPr>
          <p:cNvPr id="5" name="!!Panel1">
            <a:hlinkClick action="ppaction://hlinksldjump" r:id="rId8"/>
          </p:cNvPr>
          <p:cNvSpPr/>
          <p:nvPr/>
        </p:nvSpPr>
        <p:spPr>
          <a:xfrm>
            <a:off x="3429000" y="1428750"/>
            <a:ext cx="2571750" cy="466725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6" name="!!PanelImage1" descr="ped.png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3933824" y="2619375"/>
            <a:ext cx="1562100" cy="3381375"/>
          </a:xfrm>
          <a:prstGeom prst="rect">
            <a:avLst/>
          </a:prstGeom>
        </p:spPr>
      </p:pic>
      <p:sp>
        <p:nvSpPr>
          <p:cNvPr id="7" name="!!PanelTitle1">
            <a:hlinkClick action="ppaction://hlinksldjump" r:id="rId8"/>
          </p:cNvPr>
          <p:cNvSpPr txBox="1"/>
          <p:nvPr/>
        </p:nvSpPr>
        <p:spPr>
          <a:xfrm>
            <a:off x="3619500" y="1609725"/>
            <a:ext cx="2190750" cy="952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2175" b="1">
                <a:solidFill>
                  <a:srgbClr val="000000"/>
                </a:solidFill>
                <a:latin typeface="Arial"/>
              </a:defRPr>
            </a:pPr>
            <a:r>
              <a:t>Охлаждение</a:t>
            </a:r>
          </a:p>
          <a:p>
            <a:pPr>
              <a:lnSpc>
                <a:spcPct val="104000"/>
              </a:lnSpc>
              <a:spcAft>
                <a:spcPts val="700"/>
              </a:spcAft>
              <a:defRPr sz="2175" b="1">
                <a:solidFill>
                  <a:srgbClr val="000000"/>
                </a:solidFill>
                <a:latin typeface="Arial"/>
              </a:defRPr>
            </a:pPr>
            <a:r>
              <a:t>ПЭД</a:t>
            </a:r>
          </a:p>
        </p:txBody>
      </p:sp>
      <p:sp>
        <p:nvSpPr>
          <p:cNvPr id="8" name="!!Panel2">
            <a:hlinkClick action="ppaction://hlinksldjump" r:id="rId9"/>
          </p:cNvPr>
          <p:cNvSpPr/>
          <p:nvPr/>
        </p:nvSpPr>
        <p:spPr>
          <a:xfrm>
            <a:off x="6191250" y="1428750"/>
            <a:ext cx="2571750" cy="466725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!!PanelImage2" descr="ramp.png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6696075" y="2619375"/>
            <a:ext cx="1562100" cy="3381375"/>
          </a:xfrm>
          <a:prstGeom prst="rect">
            <a:avLst/>
          </a:prstGeom>
        </p:spPr>
      </p:pic>
      <p:sp>
        <p:nvSpPr>
          <p:cNvPr id="10" name="!!PanelTitle2">
            <a:hlinkClick action="ppaction://hlinksldjump" r:id="rId9"/>
          </p:cNvPr>
          <p:cNvSpPr txBox="1"/>
          <p:nvPr/>
        </p:nvSpPr>
        <p:spPr>
          <a:xfrm>
            <a:off x="6381750" y="1609725"/>
            <a:ext cx="2190750" cy="952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2175" b="1">
                <a:solidFill>
                  <a:srgbClr val="000000"/>
                </a:solidFill>
                <a:latin typeface="Arial"/>
              </a:defRPr>
            </a:pPr>
            <a:r>
              <a:t>Разгон</a:t>
            </a:r>
          </a:p>
          <a:p>
            <a:pPr>
              <a:lnSpc>
                <a:spcPct val="104000"/>
              </a:lnSpc>
              <a:spcAft>
                <a:spcPts val="700"/>
              </a:spcAft>
              <a:defRPr sz="2175" b="1">
                <a:solidFill>
                  <a:srgbClr val="000000"/>
                </a:solidFill>
                <a:latin typeface="Arial"/>
              </a:defRPr>
            </a:pPr>
            <a:r>
              <a:t>и РИЧ</a:t>
            </a:r>
          </a:p>
        </p:txBody>
      </p:sp>
      <p:sp>
        <p:nvSpPr>
          <p:cNvPr id="11" name="!!Panel3">
            <a:hlinkClick action="ppaction://hlinksldjump" r:id="rId10"/>
          </p:cNvPr>
          <p:cNvSpPr/>
          <p:nvPr/>
        </p:nvSpPr>
        <p:spPr>
          <a:xfrm>
            <a:off x="8953500" y="1428750"/>
            <a:ext cx="2571750" cy="466725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2" name="!!PanelImage3" descr="vnr.png">
            <a:hlinkClick action="ppaction://hlinksldjump" r:id="rId10"/>
          </p:cNvPr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9458325" y="2619375"/>
            <a:ext cx="1562100" cy="3381375"/>
          </a:xfrm>
          <a:prstGeom prst="rect">
            <a:avLst/>
          </a:prstGeom>
        </p:spPr>
      </p:pic>
      <p:sp>
        <p:nvSpPr>
          <p:cNvPr id="13" name="!!PanelTitle3">
            <a:hlinkClick action="ppaction://hlinksldjump" r:id="rId10"/>
          </p:cNvPr>
          <p:cNvSpPr txBox="1"/>
          <p:nvPr/>
        </p:nvSpPr>
        <p:spPr>
          <a:xfrm>
            <a:off x="9144000" y="1609725"/>
            <a:ext cx="2190750" cy="952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2175" b="1">
                <a:solidFill>
                  <a:srgbClr val="000000"/>
                </a:solidFill>
                <a:latin typeface="Arial"/>
              </a:defRPr>
            </a:pPr>
            <a:r>
              <a:t>Регламент</a:t>
            </a:r>
          </a:p>
          <a:p>
            <a:pPr>
              <a:lnSpc>
                <a:spcPct val="104000"/>
              </a:lnSpc>
              <a:spcAft>
                <a:spcPts val="700"/>
              </a:spcAft>
              <a:defRPr sz="2175" b="1">
                <a:solidFill>
                  <a:srgbClr val="000000"/>
                </a:solidFill>
                <a:latin typeface="Arial"/>
              </a:defRPr>
            </a:pPr>
            <a:r>
              <a:t>ВНР</a:t>
            </a:r>
          </a:p>
        </p:txBody>
      </p:sp>
      <p:sp>
        <p:nvSpPr>
          <p:cNvPr id="14" name="!!Rule"/>
          <p:cNvSpPr/>
          <p:nvPr/>
        </p:nvSpPr>
        <p:spPr>
          <a:xfrm>
            <a:off x="666750" y="590550"/>
            <a:ext cx="10858500" cy="38100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!!Section"/>
          <p:cNvSpPr txBox="1"/>
          <p:nvPr/>
        </p:nvSpPr>
        <p:spPr>
          <a:xfrm>
            <a:off x="685800" y="828675"/>
            <a:ext cx="102870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ОПЕРАТОР ДНГ / ВОЗМОЖНОСТИ</a:t>
            </a:r>
          </a:p>
        </p:txBody>
      </p:sp>
      <p:sp>
        <p:nvSpPr>
          <p:cNvPr id="16" name="!!Footer"/>
          <p:cNvSpPr txBox="1"/>
          <p:nvPr/>
        </p:nvSpPr>
        <p:spPr>
          <a:xfrm>
            <a:off x="685800" y="6381750"/>
            <a:ext cx="10096500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975" b="0">
                <a:solidFill>
                  <a:srgbClr val="FFFFFF"/>
                </a:solidFill>
                <a:latin typeface="Arial"/>
              </a:defRPr>
            </a:pPr>
            <a:r>
              <a:t>ООО «РН-Юганскнефтегаз» · проект для обсуждения</a:t>
            </a:r>
          </a:p>
        </p:txBody>
      </p:sp>
      <p:sp>
        <p:nvSpPr>
          <p:cNvPr id="17" name="SlideNumber"/>
          <p:cNvSpPr txBox="1"/>
          <p:nvPr/>
        </p:nvSpPr>
        <p:spPr>
          <a:xfrm>
            <a:off x="11096625" y="6381750"/>
            <a:ext cx="523874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975" b="0">
                <a:solidFill>
                  <a:srgbClr val="FFFFFF"/>
                </a:solidFill>
                <a:latin typeface="Arial"/>
              </a:defRPr>
            </a:pPr>
            <a:r>
              <a:t>05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 xmlns:p14="http://schemas.microsoft.com/office/powerpoint/2010/main">
    <mc:Choice Requires="p159">
      <p:transition advClick="1" spd="slow" p14:dur="1400">
        <p159:morph option="byObject"/>
      </p:transition>
    </mc:Choice>
    <mc:Fallback>
      <p:transition advClick="1" spd="slow">
        <p:push dir="l"/>
      </p:transition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Panel0"/>
          <p:cNvSpPr/>
          <p:nvPr/>
        </p:nvSpPr>
        <p:spPr>
          <a:xfrm>
            <a:off x="666750" y="1428750"/>
            <a:ext cx="7096125" cy="466725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" name="!!PanelImage0" descr="manual.png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5381625" y="1809750"/>
            <a:ext cx="1809750" cy="3914775"/>
          </a:xfrm>
          <a:prstGeom prst="rect">
            <a:avLst/>
          </a:prstGeom>
        </p:spPr>
      </p:pic>
      <p:sp>
        <p:nvSpPr>
          <p:cNvPr id="4" name="!!PanelTitle0"/>
          <p:cNvSpPr txBox="1"/>
          <p:nvPr/>
        </p:nvSpPr>
        <p:spPr>
          <a:xfrm>
            <a:off x="762000" y="1504950"/>
            <a:ext cx="6905625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050" b="0">
                <a:solidFill>
                  <a:srgbClr val="000000"/>
                </a:solidFill>
                <a:latin typeface="Arial"/>
              </a:defRPr>
            </a:pPr>
          </a:p>
        </p:txBody>
      </p:sp>
      <p:sp>
        <p:nvSpPr>
          <p:cNvPr id="5" name="!!Panel1"/>
          <p:cNvSpPr/>
          <p:nvPr/>
        </p:nvSpPr>
        <p:spPr>
          <a:xfrm>
            <a:off x="7953374" y="1428750"/>
            <a:ext cx="1095375" cy="466725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6" name="!!PanelImage1" descr="ped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8029575" y="2952750"/>
            <a:ext cx="942975" cy="2038349"/>
          </a:xfrm>
          <a:prstGeom prst="rect">
            <a:avLst/>
          </a:prstGeom>
        </p:spPr>
      </p:pic>
      <p:sp>
        <p:nvSpPr>
          <p:cNvPr id="7" name="!!PanelTitle1"/>
          <p:cNvSpPr txBox="1"/>
          <p:nvPr/>
        </p:nvSpPr>
        <p:spPr>
          <a:xfrm>
            <a:off x="8143875" y="1609725"/>
            <a:ext cx="714375" cy="952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200" b="1">
                <a:solidFill>
                  <a:srgbClr val="000000"/>
                </a:solidFill>
                <a:latin typeface="Arial"/>
              </a:defRPr>
            </a:pPr>
            <a:r>
              <a:t>ПЭД</a:t>
            </a:r>
          </a:p>
        </p:txBody>
      </p:sp>
      <p:sp>
        <p:nvSpPr>
          <p:cNvPr id="8" name="!!Panel2"/>
          <p:cNvSpPr/>
          <p:nvPr/>
        </p:nvSpPr>
        <p:spPr>
          <a:xfrm>
            <a:off x="9191625" y="1428750"/>
            <a:ext cx="1095375" cy="466725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!!PanelImage2" descr="ramp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9267825" y="2952750"/>
            <a:ext cx="942975" cy="2038349"/>
          </a:xfrm>
          <a:prstGeom prst="rect">
            <a:avLst/>
          </a:prstGeom>
        </p:spPr>
      </p:pic>
      <p:sp>
        <p:nvSpPr>
          <p:cNvPr id="10" name="!!PanelTitle2"/>
          <p:cNvSpPr txBox="1"/>
          <p:nvPr/>
        </p:nvSpPr>
        <p:spPr>
          <a:xfrm>
            <a:off x="9382125" y="1609725"/>
            <a:ext cx="714375" cy="952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200" b="1">
                <a:solidFill>
                  <a:srgbClr val="000000"/>
                </a:solidFill>
                <a:latin typeface="Arial"/>
              </a:defRPr>
            </a:pPr>
            <a:r>
              <a:t>Станции</a:t>
            </a:r>
          </a:p>
        </p:txBody>
      </p:sp>
      <p:sp>
        <p:nvSpPr>
          <p:cNvPr id="11" name="!!Panel3"/>
          <p:cNvSpPr/>
          <p:nvPr/>
        </p:nvSpPr>
        <p:spPr>
          <a:xfrm>
            <a:off x="10429875" y="1428750"/>
            <a:ext cx="1095375" cy="466725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2" name="!!PanelImage3" descr="vnr.pn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10506075" y="2952750"/>
            <a:ext cx="942975" cy="2038349"/>
          </a:xfrm>
          <a:prstGeom prst="rect">
            <a:avLst/>
          </a:prstGeom>
        </p:spPr>
      </p:pic>
      <p:sp>
        <p:nvSpPr>
          <p:cNvPr id="13" name="!!PanelTitle3"/>
          <p:cNvSpPr txBox="1"/>
          <p:nvPr/>
        </p:nvSpPr>
        <p:spPr>
          <a:xfrm>
            <a:off x="10620375" y="1609725"/>
            <a:ext cx="714375" cy="952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200" b="1">
                <a:solidFill>
                  <a:srgbClr val="000000"/>
                </a:solidFill>
                <a:latin typeface="Arial"/>
              </a:defRPr>
            </a:pPr>
            <a:r>
              <a:t>ВНР</a:t>
            </a:r>
          </a:p>
        </p:txBody>
      </p:sp>
      <p:sp>
        <p:nvSpPr>
          <p:cNvPr id="14" name="!!Headline"/>
          <p:cNvSpPr txBox="1"/>
          <p:nvPr/>
        </p:nvSpPr>
        <p:spPr>
          <a:xfrm>
            <a:off x="971550" y="1714500"/>
            <a:ext cx="4000500" cy="104774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3150" b="1">
                <a:solidFill>
                  <a:srgbClr val="000000"/>
                </a:solidFill>
                <a:latin typeface="Arial"/>
              </a:defRPr>
            </a:pPr>
            <a:r>
              <a:t>Ручной замер</a:t>
            </a:r>
          </a:p>
        </p:txBody>
      </p:sp>
      <p:sp>
        <p:nvSpPr>
          <p:cNvPr id="15" name="!!Subtitle"/>
          <p:cNvSpPr txBox="1"/>
          <p:nvPr/>
        </p:nvSpPr>
        <p:spPr>
          <a:xfrm>
            <a:off x="1009650" y="3190875"/>
            <a:ext cx="3952875" cy="152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2700" b="1">
                <a:solidFill>
                  <a:srgbClr val="000000"/>
                </a:solidFill>
                <a:latin typeface="Arial"/>
              </a:defRPr>
            </a:pPr>
            <a:r>
              <a:t>Запустил.</a:t>
            </a:r>
          </a:p>
          <a:p>
            <a:pPr>
              <a:lnSpc>
                <a:spcPct val="104000"/>
              </a:lnSpc>
              <a:spcAft>
                <a:spcPts val="700"/>
              </a:spcAft>
              <a:defRPr sz="2700" b="1">
                <a:solidFill>
                  <a:srgbClr val="000000"/>
                </a:solidFill>
                <a:latin typeface="Arial"/>
              </a:defRPr>
            </a:pPr>
            <a:r>
              <a:t>Измерил.</a:t>
            </a:r>
          </a:p>
          <a:p>
            <a:pPr>
              <a:lnSpc>
                <a:spcPct val="104000"/>
              </a:lnSpc>
              <a:spcAft>
                <a:spcPts val="700"/>
              </a:spcAft>
              <a:defRPr sz="2700" b="1">
                <a:solidFill>
                  <a:srgbClr val="000000"/>
                </a:solidFill>
                <a:latin typeface="Arial"/>
              </a:defRPr>
            </a:pPr>
            <a:r>
              <a:t>Получил результат.</a:t>
            </a:r>
          </a:p>
        </p:txBody>
      </p:sp>
      <p:sp>
        <p:nvSpPr>
          <p:cNvPr id="16" name="Text_15"/>
          <p:cNvSpPr txBox="1"/>
          <p:nvPr/>
        </p:nvSpPr>
        <p:spPr>
          <a:xfrm>
            <a:off x="1028700" y="5143500"/>
            <a:ext cx="3905249" cy="666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650" b="0">
                <a:solidFill>
                  <a:srgbClr val="000000"/>
                </a:solidFill>
                <a:latin typeface="Arial"/>
              </a:defRPr>
            </a:pPr>
            <a:r>
              <a:t>Автоматическое сохранение</a:t>
            </a:r>
          </a:p>
          <a:p>
            <a:pPr>
              <a:lnSpc>
                <a:spcPct val="104000"/>
              </a:lnSpc>
              <a:spcAft>
                <a:spcPts val="700"/>
              </a:spcAft>
              <a:defRPr sz="1650" b="0">
                <a:solidFill>
                  <a:srgbClr val="000000"/>
                </a:solidFill>
                <a:latin typeface="Arial"/>
              </a:defRPr>
            </a:pPr>
            <a:r>
              <a:t>и история на устройстве</a:t>
            </a:r>
          </a:p>
        </p:txBody>
      </p:sp>
      <p:sp>
        <p:nvSpPr>
          <p:cNvPr id="17" name="!!Rule"/>
          <p:cNvSpPr/>
          <p:nvPr/>
        </p:nvSpPr>
        <p:spPr>
          <a:xfrm>
            <a:off x="666750" y="590550"/>
            <a:ext cx="10858500" cy="38100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!!Section"/>
          <p:cNvSpPr txBox="1"/>
          <p:nvPr/>
        </p:nvSpPr>
        <p:spPr>
          <a:xfrm>
            <a:off x="685800" y="828675"/>
            <a:ext cx="102870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ОПЕРАТОР ДНГ / РУЧНОЙ ЗАМЕР</a:t>
            </a:r>
          </a:p>
        </p:txBody>
      </p:sp>
      <p:sp>
        <p:nvSpPr>
          <p:cNvPr id="19" name="!!Footer"/>
          <p:cNvSpPr txBox="1"/>
          <p:nvPr/>
        </p:nvSpPr>
        <p:spPr>
          <a:xfrm>
            <a:off x="685800" y="6381750"/>
            <a:ext cx="10096500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975" b="0">
                <a:solidFill>
                  <a:srgbClr val="FFFFFF"/>
                </a:solidFill>
                <a:latin typeface="Arial"/>
              </a:defRPr>
            </a:pPr>
            <a:r>
              <a:t>ООО «РН-Юганскнефтегаз» · проект для обсуждения</a:t>
            </a:r>
          </a:p>
        </p:txBody>
      </p:sp>
      <p:sp>
        <p:nvSpPr>
          <p:cNvPr id="20" name="SlideNumber"/>
          <p:cNvSpPr txBox="1"/>
          <p:nvPr/>
        </p:nvSpPr>
        <p:spPr>
          <a:xfrm>
            <a:off x="11096625" y="6381750"/>
            <a:ext cx="523874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975" b="0">
                <a:solidFill>
                  <a:srgbClr val="FFFFFF"/>
                </a:solidFill>
                <a:latin typeface="Arial"/>
              </a:defRPr>
            </a:pPr>
            <a:r>
              <a:t>06</a:t>
            </a:r>
          </a:p>
        </p:txBody>
      </p:sp>
      <p:sp>
        <p:nvSpPr>
          <p:cNvPr id="21" name="!!BackToOverview">
            <a:hlinkClick action="ppaction://hlinksldjump" r:id="rId7"/>
          </p:cNvPr>
          <p:cNvSpPr txBox="1"/>
          <p:nvPr/>
        </p:nvSpPr>
        <p:spPr>
          <a:xfrm>
            <a:off x="9620250" y="838200"/>
            <a:ext cx="19050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125" b="0">
                <a:solidFill>
                  <a:srgbClr val="FFCD00"/>
                </a:solidFill>
                <a:latin typeface="Arial"/>
              </a:defRPr>
            </a:pPr>
            <a:r>
              <a:t>← Все инструменты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 xmlns:p14="http://schemas.microsoft.com/office/powerpoint/2010/main">
    <mc:Choice Requires="p159">
      <p:transition advClick="1" spd="slow" p14:dur="1400">
        <p159:morph option="byObject"/>
      </p:transition>
    </mc:Choice>
    <mc:Fallback>
      <p:transition advClick="1" spd="slow">
        <p:push dir="l"/>
      </p:transition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Panel0"/>
          <p:cNvSpPr/>
          <p:nvPr/>
        </p:nvSpPr>
        <p:spPr>
          <a:xfrm>
            <a:off x="6191250" y="1524000"/>
            <a:ext cx="5334000" cy="4048124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" name="!!PanelImage0" descr="manual.png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2"/>
          <a:srcRect t="23000" b="36000"/>
          <a:stretch>
            <a:fillRect/>
          </a:stretch>
        </p:blipFill>
        <p:spPr>
          <a:xfrm>
            <a:off x="6400800" y="1714500"/>
            <a:ext cx="4914900" cy="3667125"/>
          </a:xfrm>
          <a:prstGeom prst="rect">
            <a:avLst/>
          </a:prstGeom>
        </p:spPr>
      </p:pic>
      <p:sp>
        <p:nvSpPr>
          <p:cNvPr id="4" name="!!PanelTitle0"/>
          <p:cNvSpPr txBox="1"/>
          <p:nvPr/>
        </p:nvSpPr>
        <p:spPr>
          <a:xfrm>
            <a:off x="6286500" y="1600200"/>
            <a:ext cx="5143500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050" b="0">
                <a:solidFill>
                  <a:srgbClr val="000000"/>
                </a:solidFill>
                <a:latin typeface="Arial"/>
              </a:defRPr>
            </a:pPr>
          </a:p>
        </p:txBody>
      </p:sp>
      <p:sp>
        <p:nvSpPr>
          <p:cNvPr id="5" name="!!Panel1"/>
          <p:cNvSpPr/>
          <p:nvPr/>
        </p:nvSpPr>
        <p:spPr>
          <a:xfrm>
            <a:off x="16097250" y="1428750"/>
            <a:ext cx="2571750" cy="466725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6" name="!!PanelImage1" descr="ped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6602075" y="2619375"/>
            <a:ext cx="1562100" cy="3381375"/>
          </a:xfrm>
          <a:prstGeom prst="rect">
            <a:avLst/>
          </a:prstGeom>
        </p:spPr>
      </p:pic>
      <p:sp>
        <p:nvSpPr>
          <p:cNvPr id="7" name="!!PanelTitle1"/>
          <p:cNvSpPr txBox="1"/>
          <p:nvPr/>
        </p:nvSpPr>
        <p:spPr>
          <a:xfrm>
            <a:off x="16192499" y="1504950"/>
            <a:ext cx="2381250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050" b="0">
                <a:solidFill>
                  <a:srgbClr val="000000"/>
                </a:solidFill>
                <a:latin typeface="Arial"/>
              </a:defRPr>
            </a:pPr>
          </a:p>
        </p:txBody>
      </p:sp>
      <p:sp>
        <p:nvSpPr>
          <p:cNvPr id="8" name="!!Panel2"/>
          <p:cNvSpPr/>
          <p:nvPr/>
        </p:nvSpPr>
        <p:spPr>
          <a:xfrm>
            <a:off x="18859500" y="1428750"/>
            <a:ext cx="2571750" cy="466725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!!PanelImage2" descr="ramp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9364325" y="2619375"/>
            <a:ext cx="1562100" cy="3381375"/>
          </a:xfrm>
          <a:prstGeom prst="rect">
            <a:avLst/>
          </a:prstGeom>
        </p:spPr>
      </p:pic>
      <p:sp>
        <p:nvSpPr>
          <p:cNvPr id="10" name="!!PanelTitle2"/>
          <p:cNvSpPr txBox="1"/>
          <p:nvPr/>
        </p:nvSpPr>
        <p:spPr>
          <a:xfrm>
            <a:off x="18954750" y="1504950"/>
            <a:ext cx="2381250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050" b="0">
                <a:solidFill>
                  <a:srgbClr val="000000"/>
                </a:solidFill>
                <a:latin typeface="Arial"/>
              </a:defRPr>
            </a:pPr>
          </a:p>
        </p:txBody>
      </p:sp>
      <p:sp>
        <p:nvSpPr>
          <p:cNvPr id="11" name="!!Panel3"/>
          <p:cNvSpPr/>
          <p:nvPr/>
        </p:nvSpPr>
        <p:spPr>
          <a:xfrm>
            <a:off x="21621750" y="1428750"/>
            <a:ext cx="2571750" cy="466725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2" name="!!PanelImage3" descr="vnr.pn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22126575" y="2619375"/>
            <a:ext cx="1562100" cy="3381375"/>
          </a:xfrm>
          <a:prstGeom prst="rect">
            <a:avLst/>
          </a:prstGeom>
        </p:spPr>
      </p:pic>
      <p:sp>
        <p:nvSpPr>
          <p:cNvPr id="13" name="!!PanelTitle3"/>
          <p:cNvSpPr txBox="1"/>
          <p:nvPr/>
        </p:nvSpPr>
        <p:spPr>
          <a:xfrm>
            <a:off x="21717000" y="1504950"/>
            <a:ext cx="2381250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050" b="0">
                <a:solidFill>
                  <a:srgbClr val="000000"/>
                </a:solidFill>
                <a:latin typeface="Arial"/>
              </a:defRPr>
            </a:pPr>
          </a:p>
        </p:txBody>
      </p:sp>
      <p:sp>
        <p:nvSpPr>
          <p:cNvPr id="14" name="!!Headline"/>
          <p:cNvSpPr txBox="1"/>
          <p:nvPr/>
        </p:nvSpPr>
        <p:spPr>
          <a:xfrm>
            <a:off x="723900" y="1600200"/>
            <a:ext cx="5238750" cy="1809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3050" b="1">
                <a:solidFill>
                  <a:srgbClr val="FFCD00"/>
                </a:solidFill>
                <a:latin typeface="Arial"/>
              </a:defRPr>
            </a:pPr>
            <a:r>
              <a:t>144</a:t>
            </a:r>
          </a:p>
        </p:txBody>
      </p:sp>
      <p:sp>
        <p:nvSpPr>
          <p:cNvPr id="15" name="!!Subtitle"/>
          <p:cNvSpPr txBox="1"/>
          <p:nvPr/>
        </p:nvSpPr>
        <p:spPr>
          <a:xfrm>
            <a:off x="838200" y="3600450"/>
            <a:ext cx="4762500" cy="7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4275" b="1">
                <a:solidFill>
                  <a:srgbClr val="FFFFFF"/>
                </a:solidFill>
                <a:latin typeface="Arial"/>
              </a:defRPr>
            </a:pPr>
            <a:r>
              <a:t>м³/сут</a:t>
            </a:r>
          </a:p>
        </p:txBody>
      </p:sp>
      <p:sp>
        <p:nvSpPr>
          <p:cNvPr id="16" name="Text_15"/>
          <p:cNvSpPr txBox="1"/>
          <p:nvPr/>
        </p:nvSpPr>
        <p:spPr>
          <a:xfrm>
            <a:off x="857250" y="4838700"/>
            <a:ext cx="4762500" cy="857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2025" b="0">
                <a:solidFill>
                  <a:srgbClr val="B7B7B7"/>
                </a:solidFill>
                <a:latin typeface="Arial"/>
              </a:defRPr>
            </a:pPr>
            <a:r>
              <a:t>100 литров / 60 секунд</a:t>
            </a:r>
          </a:p>
          <a:p>
            <a:pPr>
              <a:lnSpc>
                <a:spcPct val="104000"/>
              </a:lnSpc>
              <a:spcAft>
                <a:spcPts val="700"/>
              </a:spcAft>
              <a:defRPr sz="2025" b="0">
                <a:solidFill>
                  <a:srgbClr val="B7B7B7"/>
                </a:solidFill>
                <a:latin typeface="Arial"/>
              </a:defRPr>
            </a:pPr>
            <a:r>
              <a:t>Математический пример</a:t>
            </a:r>
          </a:p>
        </p:txBody>
      </p:sp>
      <p:sp>
        <p:nvSpPr>
          <p:cNvPr id="17" name="!!Rule"/>
          <p:cNvSpPr/>
          <p:nvPr/>
        </p:nvSpPr>
        <p:spPr>
          <a:xfrm>
            <a:off x="666750" y="590550"/>
            <a:ext cx="10858500" cy="38100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!!Section"/>
          <p:cNvSpPr txBox="1"/>
          <p:nvPr/>
        </p:nvSpPr>
        <p:spPr>
          <a:xfrm>
            <a:off x="685800" y="828675"/>
            <a:ext cx="102870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ОПЕРАТОР ДНГ / РУЧНОЙ ЗАМЕР</a:t>
            </a:r>
          </a:p>
        </p:txBody>
      </p:sp>
      <p:sp>
        <p:nvSpPr>
          <p:cNvPr id="19" name="!!Footer"/>
          <p:cNvSpPr txBox="1"/>
          <p:nvPr/>
        </p:nvSpPr>
        <p:spPr>
          <a:xfrm>
            <a:off x="685800" y="6381750"/>
            <a:ext cx="10096500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975" b="0">
                <a:solidFill>
                  <a:srgbClr val="FFFFFF"/>
                </a:solidFill>
                <a:latin typeface="Arial"/>
              </a:defRPr>
            </a:pPr>
            <a:r>
              <a:t>ООО «РН-Юганскнефтегаз» · проект для обсуждения</a:t>
            </a:r>
          </a:p>
        </p:txBody>
      </p:sp>
      <p:sp>
        <p:nvSpPr>
          <p:cNvPr id="20" name="SlideNumber"/>
          <p:cNvSpPr txBox="1"/>
          <p:nvPr/>
        </p:nvSpPr>
        <p:spPr>
          <a:xfrm>
            <a:off x="11096625" y="6381750"/>
            <a:ext cx="523874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975" b="0">
                <a:solidFill>
                  <a:srgbClr val="FFFFFF"/>
                </a:solidFill>
                <a:latin typeface="Arial"/>
              </a:defRPr>
            </a:pPr>
            <a:r>
              <a:t>07</a:t>
            </a:r>
          </a:p>
        </p:txBody>
      </p:sp>
      <p:sp>
        <p:nvSpPr>
          <p:cNvPr id="21" name="!!BackToOverview">
            <a:hlinkClick action="ppaction://hlinksldjump" r:id="rId7"/>
          </p:cNvPr>
          <p:cNvSpPr txBox="1"/>
          <p:nvPr/>
        </p:nvSpPr>
        <p:spPr>
          <a:xfrm>
            <a:off x="9620250" y="838200"/>
            <a:ext cx="19050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125" b="0">
                <a:solidFill>
                  <a:srgbClr val="FFCD00"/>
                </a:solidFill>
                <a:latin typeface="Arial"/>
              </a:defRPr>
            </a:pPr>
            <a:r>
              <a:t>← Все инструменты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 xmlns:p14="http://schemas.microsoft.com/office/powerpoint/2010/main">
    <mc:Choice Requires="p159">
      <p:transition advClick="1" spd="slow" p14:dur="1400">
        <p159:morph option="byObject"/>
      </p:transition>
    </mc:Choice>
    <mc:Fallback>
      <p:transition advClick="1" spd="slow">
        <p:push dir="l"/>
      </p:transition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Panel0"/>
          <p:cNvSpPr/>
          <p:nvPr/>
        </p:nvSpPr>
        <p:spPr>
          <a:xfrm>
            <a:off x="13335000" y="1428750"/>
            <a:ext cx="2571750" cy="466725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" name="!!PanelImage0" descr="manual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3839825" y="2619375"/>
            <a:ext cx="1562100" cy="3381375"/>
          </a:xfrm>
          <a:prstGeom prst="rect">
            <a:avLst/>
          </a:prstGeom>
        </p:spPr>
      </p:pic>
      <p:sp>
        <p:nvSpPr>
          <p:cNvPr id="4" name="!!PanelTitle0"/>
          <p:cNvSpPr txBox="1"/>
          <p:nvPr/>
        </p:nvSpPr>
        <p:spPr>
          <a:xfrm>
            <a:off x="13430250" y="1504950"/>
            <a:ext cx="2381250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050" b="0">
                <a:solidFill>
                  <a:srgbClr val="000000"/>
                </a:solidFill>
                <a:latin typeface="Arial"/>
              </a:defRPr>
            </a:pPr>
          </a:p>
        </p:txBody>
      </p:sp>
      <p:sp>
        <p:nvSpPr>
          <p:cNvPr id="5" name="!!Panel1"/>
          <p:cNvSpPr/>
          <p:nvPr/>
        </p:nvSpPr>
        <p:spPr>
          <a:xfrm>
            <a:off x="16097250" y="1428750"/>
            <a:ext cx="2571750" cy="466725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6" name="!!PanelImage1" descr="ped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6602075" y="2619375"/>
            <a:ext cx="1562100" cy="3381375"/>
          </a:xfrm>
          <a:prstGeom prst="rect">
            <a:avLst/>
          </a:prstGeom>
        </p:spPr>
      </p:pic>
      <p:sp>
        <p:nvSpPr>
          <p:cNvPr id="7" name="!!PanelTitle1"/>
          <p:cNvSpPr txBox="1"/>
          <p:nvPr/>
        </p:nvSpPr>
        <p:spPr>
          <a:xfrm>
            <a:off x="16192499" y="1504950"/>
            <a:ext cx="2381250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050" b="0">
                <a:solidFill>
                  <a:srgbClr val="000000"/>
                </a:solidFill>
                <a:latin typeface="Arial"/>
              </a:defRPr>
            </a:pPr>
          </a:p>
        </p:txBody>
      </p:sp>
      <p:sp>
        <p:nvSpPr>
          <p:cNvPr id="8" name="!!Panel2"/>
          <p:cNvSpPr/>
          <p:nvPr/>
        </p:nvSpPr>
        <p:spPr>
          <a:xfrm>
            <a:off x="18859500" y="1428750"/>
            <a:ext cx="2571750" cy="466725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!!PanelImage2" descr="ramp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9364325" y="2619375"/>
            <a:ext cx="1562100" cy="3381375"/>
          </a:xfrm>
          <a:prstGeom prst="rect">
            <a:avLst/>
          </a:prstGeom>
        </p:spPr>
      </p:pic>
      <p:sp>
        <p:nvSpPr>
          <p:cNvPr id="10" name="!!PanelTitle2"/>
          <p:cNvSpPr txBox="1"/>
          <p:nvPr/>
        </p:nvSpPr>
        <p:spPr>
          <a:xfrm>
            <a:off x="18954750" y="1504950"/>
            <a:ext cx="2381250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050" b="0">
                <a:solidFill>
                  <a:srgbClr val="000000"/>
                </a:solidFill>
                <a:latin typeface="Arial"/>
              </a:defRPr>
            </a:pPr>
          </a:p>
        </p:txBody>
      </p:sp>
      <p:sp>
        <p:nvSpPr>
          <p:cNvPr id="11" name="!!Panel3"/>
          <p:cNvSpPr/>
          <p:nvPr/>
        </p:nvSpPr>
        <p:spPr>
          <a:xfrm>
            <a:off x="21621750" y="1428750"/>
            <a:ext cx="2571750" cy="466725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2" name="!!PanelImage3" descr="vnr.pn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22126575" y="2619375"/>
            <a:ext cx="1562100" cy="3381375"/>
          </a:xfrm>
          <a:prstGeom prst="rect">
            <a:avLst/>
          </a:prstGeom>
        </p:spPr>
      </p:pic>
      <p:sp>
        <p:nvSpPr>
          <p:cNvPr id="13" name="!!PanelTitle3"/>
          <p:cNvSpPr txBox="1"/>
          <p:nvPr/>
        </p:nvSpPr>
        <p:spPr>
          <a:xfrm>
            <a:off x="21717000" y="1504950"/>
            <a:ext cx="2381250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050" b="0">
                <a:solidFill>
                  <a:srgbClr val="000000"/>
                </a:solidFill>
                <a:latin typeface="Arial"/>
              </a:defRPr>
            </a:pPr>
          </a:p>
        </p:txBody>
      </p:sp>
      <p:sp>
        <p:nvSpPr>
          <p:cNvPr id="14" name="!!Headline"/>
          <p:cNvSpPr txBox="1"/>
          <p:nvPr/>
        </p:nvSpPr>
        <p:spPr>
          <a:xfrm>
            <a:off x="685800" y="1476375"/>
            <a:ext cx="10668000" cy="1619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4125" b="1">
                <a:solidFill>
                  <a:srgbClr val="FFFFFF"/>
                </a:solidFill>
                <a:latin typeface="Arial"/>
              </a:defRPr>
            </a:pPr>
            <a:r>
              <a:t>Переход через полночь.</a:t>
            </a:r>
          </a:p>
        </p:txBody>
      </p:sp>
      <p:sp>
        <p:nvSpPr>
          <p:cNvPr id="15" name="!!Time"/>
          <p:cNvSpPr txBox="1"/>
          <p:nvPr/>
        </p:nvSpPr>
        <p:spPr>
          <a:xfrm>
            <a:off x="742950" y="3143250"/>
            <a:ext cx="10858500" cy="1238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7500" b="1">
                <a:solidFill>
                  <a:srgbClr val="FFCD00"/>
                </a:solidFill>
                <a:latin typeface="Arial"/>
              </a:defRPr>
            </a:pPr>
            <a:r>
              <a:t>23:50 → 00:10</a:t>
            </a:r>
          </a:p>
        </p:txBody>
      </p:sp>
      <p:sp>
        <p:nvSpPr>
          <p:cNvPr id="16" name="Text_15"/>
          <p:cNvSpPr txBox="1"/>
          <p:nvPr/>
        </p:nvSpPr>
        <p:spPr>
          <a:xfrm>
            <a:off x="809625" y="4762500"/>
            <a:ext cx="10477500" cy="9048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2325" b="0">
                <a:solidFill>
                  <a:srgbClr val="FFFFFF"/>
                </a:solidFill>
                <a:latin typeface="Arial"/>
              </a:defRPr>
            </a:pPr>
            <a:r>
              <a:t>20 минут · следующая дата</a:t>
            </a:r>
          </a:p>
          <a:p>
            <a:pPr>
              <a:lnSpc>
                <a:spcPct val="104000"/>
              </a:lnSpc>
              <a:spcAft>
                <a:spcPts val="700"/>
              </a:spcAft>
              <a:defRPr sz="2325" b="0">
                <a:solidFill>
                  <a:srgbClr val="FFFFFF"/>
                </a:solidFill>
                <a:latin typeface="Arial"/>
              </a:defRPr>
            </a:pPr>
            <a:r>
              <a:t>100 л → 7,2 м³/сут</a:t>
            </a:r>
          </a:p>
        </p:txBody>
      </p:sp>
      <p:sp>
        <p:nvSpPr>
          <p:cNvPr id="17" name="TimeTick0"/>
          <p:cNvSpPr/>
          <p:nvPr/>
        </p:nvSpPr>
        <p:spPr>
          <a:xfrm>
            <a:off x="857250" y="5810250"/>
            <a:ext cx="57150" cy="209550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imeTick1"/>
          <p:cNvSpPr/>
          <p:nvPr/>
        </p:nvSpPr>
        <p:spPr>
          <a:xfrm>
            <a:off x="4048124" y="5810250"/>
            <a:ext cx="57150" cy="209550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imeTick2"/>
          <p:cNvSpPr/>
          <p:nvPr/>
        </p:nvSpPr>
        <p:spPr>
          <a:xfrm>
            <a:off x="7667624" y="5810250"/>
            <a:ext cx="57150" cy="209550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imeTick3"/>
          <p:cNvSpPr/>
          <p:nvPr/>
        </p:nvSpPr>
        <p:spPr>
          <a:xfrm>
            <a:off x="11334750" y="5810250"/>
            <a:ext cx="57150" cy="209550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imeLine"/>
          <p:cNvSpPr/>
          <p:nvPr/>
        </p:nvSpPr>
        <p:spPr>
          <a:xfrm>
            <a:off x="857250" y="5905500"/>
            <a:ext cx="10477500" cy="1905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!!Rule"/>
          <p:cNvSpPr/>
          <p:nvPr/>
        </p:nvSpPr>
        <p:spPr>
          <a:xfrm>
            <a:off x="666750" y="590550"/>
            <a:ext cx="10858500" cy="38100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!!Section"/>
          <p:cNvSpPr txBox="1"/>
          <p:nvPr/>
        </p:nvSpPr>
        <p:spPr>
          <a:xfrm>
            <a:off x="685800" y="828675"/>
            <a:ext cx="102870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ОПЕРАТОР ДНГ / ВРЕМЕННОЙ ИНТЕРВАЛ</a:t>
            </a:r>
          </a:p>
        </p:txBody>
      </p:sp>
      <p:sp>
        <p:nvSpPr>
          <p:cNvPr id="24" name="!!Footer"/>
          <p:cNvSpPr txBox="1"/>
          <p:nvPr/>
        </p:nvSpPr>
        <p:spPr>
          <a:xfrm>
            <a:off x="685800" y="6381750"/>
            <a:ext cx="10096500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975" b="0">
                <a:solidFill>
                  <a:srgbClr val="FFFFFF"/>
                </a:solidFill>
                <a:latin typeface="Arial"/>
              </a:defRPr>
            </a:pPr>
            <a:r>
              <a:t>ООО «РН-Юганскнефтегаз» · проект для обсуждения</a:t>
            </a:r>
          </a:p>
        </p:txBody>
      </p:sp>
      <p:sp>
        <p:nvSpPr>
          <p:cNvPr id="25" name="SlideNumber"/>
          <p:cNvSpPr txBox="1"/>
          <p:nvPr/>
        </p:nvSpPr>
        <p:spPr>
          <a:xfrm>
            <a:off x="11096625" y="6381750"/>
            <a:ext cx="523874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975" b="0">
                <a:solidFill>
                  <a:srgbClr val="FFFFFF"/>
                </a:solidFill>
                <a:latin typeface="Arial"/>
              </a:defRPr>
            </a:pPr>
            <a:r>
              <a:t>08</a:t>
            </a:r>
          </a:p>
        </p:txBody>
      </p:sp>
      <p:sp>
        <p:nvSpPr>
          <p:cNvPr id="26" name="!!BackToOverview">
            <a:hlinkClick action="ppaction://hlinksldjump" r:id="rId7"/>
          </p:cNvPr>
          <p:cNvSpPr txBox="1"/>
          <p:nvPr/>
        </p:nvSpPr>
        <p:spPr>
          <a:xfrm>
            <a:off x="9620250" y="838200"/>
            <a:ext cx="19050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125" b="0">
                <a:solidFill>
                  <a:srgbClr val="FFCD00"/>
                </a:solidFill>
                <a:latin typeface="Arial"/>
              </a:defRPr>
            </a:pPr>
            <a:r>
              <a:t>← Все инструменты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 xmlns:p14="http://schemas.microsoft.com/office/powerpoint/2010/main">
    <mc:Choice Requires="p159">
      <p:transition advClick="1" spd="slow" p14:dur="1400">
        <p159:morph option="byObject"/>
      </p:transition>
    </mc:Choice>
    <mc:Fallback>
      <p:transition advClick="1" spd="slow">
        <p:push dir="l"/>
      </p:transition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Panel0"/>
          <p:cNvSpPr/>
          <p:nvPr/>
        </p:nvSpPr>
        <p:spPr>
          <a:xfrm>
            <a:off x="13335000" y="1428750"/>
            <a:ext cx="2571750" cy="466725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" name="!!PanelImage0" descr="manual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3839825" y="2619375"/>
            <a:ext cx="1562100" cy="3381375"/>
          </a:xfrm>
          <a:prstGeom prst="rect">
            <a:avLst/>
          </a:prstGeom>
        </p:spPr>
      </p:pic>
      <p:sp>
        <p:nvSpPr>
          <p:cNvPr id="4" name="!!PanelTitle0"/>
          <p:cNvSpPr txBox="1"/>
          <p:nvPr/>
        </p:nvSpPr>
        <p:spPr>
          <a:xfrm>
            <a:off x="13430250" y="1504950"/>
            <a:ext cx="2381250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050" b="0">
                <a:solidFill>
                  <a:srgbClr val="000000"/>
                </a:solidFill>
                <a:latin typeface="Arial"/>
              </a:defRPr>
            </a:pPr>
          </a:p>
        </p:txBody>
      </p:sp>
      <p:sp>
        <p:nvSpPr>
          <p:cNvPr id="5" name="!!Panel1"/>
          <p:cNvSpPr/>
          <p:nvPr/>
        </p:nvSpPr>
        <p:spPr>
          <a:xfrm>
            <a:off x="7524749" y="1428750"/>
            <a:ext cx="4000500" cy="466725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6" name="!!PanelImage1" descr="ped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8496300" y="1743075"/>
            <a:ext cx="1857375" cy="4019549"/>
          </a:xfrm>
          <a:prstGeom prst="rect">
            <a:avLst/>
          </a:prstGeom>
        </p:spPr>
      </p:pic>
      <p:sp>
        <p:nvSpPr>
          <p:cNvPr id="7" name="!!PanelTitle1"/>
          <p:cNvSpPr txBox="1"/>
          <p:nvPr/>
        </p:nvSpPr>
        <p:spPr>
          <a:xfrm>
            <a:off x="7620000" y="1504950"/>
            <a:ext cx="3810000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050" b="0">
                <a:solidFill>
                  <a:srgbClr val="000000"/>
                </a:solidFill>
                <a:latin typeface="Arial"/>
              </a:defRPr>
            </a:pPr>
          </a:p>
        </p:txBody>
      </p:sp>
      <p:sp>
        <p:nvSpPr>
          <p:cNvPr id="8" name="!!Panel2"/>
          <p:cNvSpPr/>
          <p:nvPr/>
        </p:nvSpPr>
        <p:spPr>
          <a:xfrm>
            <a:off x="18859500" y="1428750"/>
            <a:ext cx="2571750" cy="466725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!!PanelImage2" descr="ramp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9364325" y="2619375"/>
            <a:ext cx="1562100" cy="3381375"/>
          </a:xfrm>
          <a:prstGeom prst="rect">
            <a:avLst/>
          </a:prstGeom>
        </p:spPr>
      </p:pic>
      <p:sp>
        <p:nvSpPr>
          <p:cNvPr id="10" name="!!PanelTitle2"/>
          <p:cNvSpPr txBox="1"/>
          <p:nvPr/>
        </p:nvSpPr>
        <p:spPr>
          <a:xfrm>
            <a:off x="18954750" y="1504950"/>
            <a:ext cx="2381250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050" b="0">
                <a:solidFill>
                  <a:srgbClr val="000000"/>
                </a:solidFill>
                <a:latin typeface="Arial"/>
              </a:defRPr>
            </a:pPr>
          </a:p>
        </p:txBody>
      </p:sp>
      <p:sp>
        <p:nvSpPr>
          <p:cNvPr id="11" name="!!Panel3"/>
          <p:cNvSpPr/>
          <p:nvPr/>
        </p:nvSpPr>
        <p:spPr>
          <a:xfrm>
            <a:off x="21621750" y="1428750"/>
            <a:ext cx="2571750" cy="466725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2" name="!!PanelImage3" descr="vnr.pn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22126575" y="2619375"/>
            <a:ext cx="1562100" cy="3381375"/>
          </a:xfrm>
          <a:prstGeom prst="rect">
            <a:avLst/>
          </a:prstGeom>
        </p:spPr>
      </p:pic>
      <p:sp>
        <p:nvSpPr>
          <p:cNvPr id="13" name="!!PanelTitle3"/>
          <p:cNvSpPr txBox="1"/>
          <p:nvPr/>
        </p:nvSpPr>
        <p:spPr>
          <a:xfrm>
            <a:off x="21717000" y="1504950"/>
            <a:ext cx="2381250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050" b="0">
                <a:solidFill>
                  <a:srgbClr val="000000"/>
                </a:solidFill>
                <a:latin typeface="Arial"/>
              </a:defRPr>
            </a:pPr>
          </a:p>
        </p:txBody>
      </p:sp>
      <p:sp>
        <p:nvSpPr>
          <p:cNvPr id="14" name="!!Headline"/>
          <p:cNvSpPr txBox="1"/>
          <p:nvPr/>
        </p:nvSpPr>
        <p:spPr>
          <a:xfrm>
            <a:off x="685800" y="1476375"/>
            <a:ext cx="6286500" cy="1619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4200" b="1">
                <a:solidFill>
                  <a:srgbClr val="FFFFFF"/>
                </a:solidFill>
                <a:latin typeface="Arial"/>
              </a:defRPr>
            </a:pPr>
            <a:r>
              <a:t>Охлаждение ПЭД.</a:t>
            </a:r>
          </a:p>
        </p:txBody>
      </p:sp>
      <p:sp>
        <p:nvSpPr>
          <p:cNvPr id="15" name="!!Subtitle"/>
          <p:cNvSpPr txBox="1"/>
          <p:nvPr/>
        </p:nvSpPr>
        <p:spPr>
          <a:xfrm>
            <a:off x="723900" y="3381375"/>
            <a:ext cx="6286500" cy="152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2025" b="0">
                <a:solidFill>
                  <a:srgbClr val="B7B7B7"/>
                </a:solidFill>
                <a:latin typeface="Arial"/>
              </a:defRPr>
            </a:pPr>
            <a:r>
              <a:t>Расчёт по исходным данным</a:t>
            </a:r>
          </a:p>
          <a:p>
            <a:pPr>
              <a:lnSpc>
                <a:spcPct val="104000"/>
              </a:lnSpc>
              <a:spcAft>
                <a:spcPts val="700"/>
              </a:spcAft>
              <a:defRPr sz="2025" b="0">
                <a:solidFill>
                  <a:srgbClr val="B7B7B7"/>
                </a:solidFill>
                <a:latin typeface="Arial"/>
              </a:defRPr>
            </a:pPr>
            <a:r>
              <a:t>в рабочей ситуации.</a:t>
            </a:r>
          </a:p>
        </p:txBody>
      </p:sp>
      <p:sp>
        <p:nvSpPr>
          <p:cNvPr id="16" name="Block_15"/>
          <p:cNvSpPr/>
          <p:nvPr/>
        </p:nvSpPr>
        <p:spPr>
          <a:xfrm>
            <a:off x="723900" y="4781550"/>
            <a:ext cx="38100" cy="228600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Row0"/>
          <p:cNvSpPr txBox="1"/>
          <p:nvPr/>
        </p:nvSpPr>
        <p:spPr>
          <a:xfrm>
            <a:off x="933449" y="4714875"/>
            <a:ext cx="6191250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800" b="0">
                <a:solidFill>
                  <a:srgbClr val="FFFFFF"/>
                </a:solidFill>
                <a:latin typeface="Arial"/>
              </a:defRPr>
            </a:pPr>
            <a:r>
              <a:t>Параметры двигателя</a:t>
            </a:r>
          </a:p>
        </p:txBody>
      </p:sp>
      <p:sp>
        <p:nvSpPr>
          <p:cNvPr id="18" name="Block_17"/>
          <p:cNvSpPr/>
          <p:nvPr/>
        </p:nvSpPr>
        <p:spPr>
          <a:xfrm>
            <a:off x="723900" y="5238750"/>
            <a:ext cx="38100" cy="228600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Row1"/>
          <p:cNvSpPr txBox="1"/>
          <p:nvPr/>
        </p:nvSpPr>
        <p:spPr>
          <a:xfrm>
            <a:off x="933449" y="5172075"/>
            <a:ext cx="6191250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800" b="0">
                <a:solidFill>
                  <a:srgbClr val="FFFFFF"/>
                </a:solidFill>
                <a:latin typeface="Arial"/>
              </a:defRPr>
            </a:pPr>
            <a:r>
              <a:t>Необходимые исходные данные</a:t>
            </a:r>
          </a:p>
        </p:txBody>
      </p:sp>
      <p:sp>
        <p:nvSpPr>
          <p:cNvPr id="20" name="Block_19"/>
          <p:cNvSpPr/>
          <p:nvPr/>
        </p:nvSpPr>
        <p:spPr>
          <a:xfrm>
            <a:off x="723900" y="5695950"/>
            <a:ext cx="38100" cy="228600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Row2"/>
          <p:cNvSpPr txBox="1"/>
          <p:nvPr/>
        </p:nvSpPr>
        <p:spPr>
          <a:xfrm>
            <a:off x="933449" y="5629275"/>
            <a:ext cx="6191250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800" b="0">
                <a:solidFill>
                  <a:srgbClr val="FFFFFF"/>
                </a:solidFill>
                <a:latin typeface="Arial"/>
              </a:defRPr>
            </a:pPr>
            <a:r>
              <a:t>Проверка применимости результата</a:t>
            </a:r>
          </a:p>
        </p:txBody>
      </p:sp>
      <p:sp>
        <p:nvSpPr>
          <p:cNvPr id="22" name="!!Rule"/>
          <p:cNvSpPr/>
          <p:nvPr/>
        </p:nvSpPr>
        <p:spPr>
          <a:xfrm>
            <a:off x="666750" y="590550"/>
            <a:ext cx="10858500" cy="38100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!!Section"/>
          <p:cNvSpPr txBox="1"/>
          <p:nvPr/>
        </p:nvSpPr>
        <p:spPr>
          <a:xfrm>
            <a:off x="685800" y="828675"/>
            <a:ext cx="102870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ОПЕРАТОР ДНГ / ОХЛАЖДЕНИЕ ПЭД</a:t>
            </a:r>
          </a:p>
        </p:txBody>
      </p:sp>
      <p:sp>
        <p:nvSpPr>
          <p:cNvPr id="24" name="!!Footer"/>
          <p:cNvSpPr txBox="1"/>
          <p:nvPr/>
        </p:nvSpPr>
        <p:spPr>
          <a:xfrm>
            <a:off x="685800" y="6381750"/>
            <a:ext cx="10096500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975" b="0">
                <a:solidFill>
                  <a:srgbClr val="FFFFFF"/>
                </a:solidFill>
                <a:latin typeface="Arial"/>
              </a:defRPr>
            </a:pPr>
            <a:r>
              <a:t>ООО «РН-Юганскнефтегаз» · проект для обсуждения</a:t>
            </a:r>
          </a:p>
        </p:txBody>
      </p:sp>
      <p:sp>
        <p:nvSpPr>
          <p:cNvPr id="25" name="SlideNumber"/>
          <p:cNvSpPr txBox="1"/>
          <p:nvPr/>
        </p:nvSpPr>
        <p:spPr>
          <a:xfrm>
            <a:off x="11096625" y="6381750"/>
            <a:ext cx="523874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975" b="0">
                <a:solidFill>
                  <a:srgbClr val="FFFFFF"/>
                </a:solidFill>
                <a:latin typeface="Arial"/>
              </a:defRPr>
            </a:pPr>
            <a:r>
              <a:t>09</a:t>
            </a:r>
          </a:p>
        </p:txBody>
      </p:sp>
      <p:sp>
        <p:nvSpPr>
          <p:cNvPr id="26" name="!!BackToOverview">
            <a:hlinkClick action="ppaction://hlinksldjump" r:id="rId7"/>
          </p:cNvPr>
          <p:cNvSpPr txBox="1"/>
          <p:nvPr/>
        </p:nvSpPr>
        <p:spPr>
          <a:xfrm>
            <a:off x="9620250" y="838200"/>
            <a:ext cx="19050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125" b="0">
                <a:solidFill>
                  <a:srgbClr val="FFCD00"/>
                </a:solidFill>
                <a:latin typeface="Arial"/>
              </a:defRPr>
            </a:pPr>
            <a:r>
              <a:t>← Все инструменты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 xmlns:p14="http://schemas.microsoft.com/office/powerpoint/2010/main">
    <mc:Choice Requires="p159">
      <p:transition advClick="1" spd="slow" p14:dur="1400">
        <p159:morph option="byObject"/>
      </p:transition>
    </mc:Choice>
    <mc:Fallback>
      <p:transition advClick="1" spd="slow">
        <p:push dir="l"/>
      </p:transition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Panel0"/>
          <p:cNvSpPr/>
          <p:nvPr/>
        </p:nvSpPr>
        <p:spPr>
          <a:xfrm>
            <a:off x="13335000" y="1428750"/>
            <a:ext cx="2571750" cy="466725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" name="!!PanelImage0" descr="manual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3839825" y="2619375"/>
            <a:ext cx="1562100" cy="3381375"/>
          </a:xfrm>
          <a:prstGeom prst="rect">
            <a:avLst/>
          </a:prstGeom>
        </p:spPr>
      </p:pic>
      <p:sp>
        <p:nvSpPr>
          <p:cNvPr id="4" name="!!PanelTitle0"/>
          <p:cNvSpPr txBox="1"/>
          <p:nvPr/>
        </p:nvSpPr>
        <p:spPr>
          <a:xfrm>
            <a:off x="13430250" y="1504950"/>
            <a:ext cx="2381250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050" b="0">
                <a:solidFill>
                  <a:srgbClr val="000000"/>
                </a:solidFill>
                <a:latin typeface="Arial"/>
              </a:defRPr>
            </a:pPr>
          </a:p>
        </p:txBody>
      </p:sp>
      <p:sp>
        <p:nvSpPr>
          <p:cNvPr id="5" name="!!Panel1"/>
          <p:cNvSpPr/>
          <p:nvPr/>
        </p:nvSpPr>
        <p:spPr>
          <a:xfrm>
            <a:off x="16097250" y="1428750"/>
            <a:ext cx="2571750" cy="466725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6" name="!!PanelImage1" descr="ped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6602075" y="2619375"/>
            <a:ext cx="1562100" cy="3381375"/>
          </a:xfrm>
          <a:prstGeom prst="rect">
            <a:avLst/>
          </a:prstGeom>
        </p:spPr>
      </p:pic>
      <p:sp>
        <p:nvSpPr>
          <p:cNvPr id="7" name="!!PanelTitle1"/>
          <p:cNvSpPr txBox="1"/>
          <p:nvPr/>
        </p:nvSpPr>
        <p:spPr>
          <a:xfrm>
            <a:off x="16192499" y="1504950"/>
            <a:ext cx="2381250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050" b="0">
                <a:solidFill>
                  <a:srgbClr val="000000"/>
                </a:solidFill>
                <a:latin typeface="Arial"/>
              </a:defRPr>
            </a:pPr>
          </a:p>
        </p:txBody>
      </p:sp>
      <p:sp>
        <p:nvSpPr>
          <p:cNvPr id="8" name="!!Panel2"/>
          <p:cNvSpPr/>
          <p:nvPr/>
        </p:nvSpPr>
        <p:spPr>
          <a:xfrm>
            <a:off x="18859500" y="1428750"/>
            <a:ext cx="2571750" cy="466725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!!PanelImage2" descr="ramp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9364325" y="2619375"/>
            <a:ext cx="1562100" cy="3381375"/>
          </a:xfrm>
          <a:prstGeom prst="rect">
            <a:avLst/>
          </a:prstGeom>
        </p:spPr>
      </p:pic>
      <p:sp>
        <p:nvSpPr>
          <p:cNvPr id="10" name="!!PanelTitle2"/>
          <p:cNvSpPr txBox="1"/>
          <p:nvPr/>
        </p:nvSpPr>
        <p:spPr>
          <a:xfrm>
            <a:off x="18954750" y="1504950"/>
            <a:ext cx="2381250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050" b="0">
                <a:solidFill>
                  <a:srgbClr val="000000"/>
                </a:solidFill>
                <a:latin typeface="Arial"/>
              </a:defRPr>
            </a:pPr>
          </a:p>
        </p:txBody>
      </p:sp>
      <p:sp>
        <p:nvSpPr>
          <p:cNvPr id="11" name="!!Panel3"/>
          <p:cNvSpPr/>
          <p:nvPr/>
        </p:nvSpPr>
        <p:spPr>
          <a:xfrm>
            <a:off x="21621750" y="1428750"/>
            <a:ext cx="2571750" cy="466725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2" name="!!PanelImage3" descr="vnr.pn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22126575" y="2619375"/>
            <a:ext cx="1562100" cy="3381375"/>
          </a:xfrm>
          <a:prstGeom prst="rect">
            <a:avLst/>
          </a:prstGeom>
        </p:spPr>
      </p:pic>
      <p:sp>
        <p:nvSpPr>
          <p:cNvPr id="13" name="!!PanelTitle3"/>
          <p:cNvSpPr txBox="1"/>
          <p:nvPr/>
        </p:nvSpPr>
        <p:spPr>
          <a:xfrm>
            <a:off x="21717000" y="1504950"/>
            <a:ext cx="2381250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050" b="0">
                <a:solidFill>
                  <a:srgbClr val="000000"/>
                </a:solidFill>
                <a:latin typeface="Arial"/>
              </a:defRPr>
            </a:pPr>
          </a:p>
        </p:txBody>
      </p:sp>
      <p:sp>
        <p:nvSpPr>
          <p:cNvPr id="14" name="!!Headline"/>
          <p:cNvSpPr txBox="1"/>
          <p:nvPr/>
        </p:nvSpPr>
        <p:spPr>
          <a:xfrm>
            <a:off x="685800" y="1476375"/>
            <a:ext cx="5953125" cy="1619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4050" b="1">
                <a:solidFill>
                  <a:srgbClr val="FFFFFF"/>
                </a:solidFill>
                <a:latin typeface="Arial"/>
              </a:defRPr>
            </a:pPr>
            <a:r>
              <a:t>Своя станция.</a:t>
            </a:r>
          </a:p>
          <a:p>
            <a:pPr>
              <a:lnSpc>
                <a:spcPct val="104000"/>
              </a:lnSpc>
              <a:spcAft>
                <a:spcPts val="700"/>
              </a:spcAft>
              <a:defRPr sz="4050" b="1">
                <a:solidFill>
                  <a:srgbClr val="FFFFFF"/>
                </a:solidFill>
                <a:latin typeface="Arial"/>
              </a:defRPr>
            </a:pPr>
            <a:r>
              <a:t>Своя инструкция.</a:t>
            </a:r>
          </a:p>
        </p:txBody>
      </p:sp>
      <p:sp>
        <p:nvSpPr>
          <p:cNvPr id="15" name="Text_14"/>
          <p:cNvSpPr txBox="1"/>
          <p:nvPr/>
        </p:nvSpPr>
        <p:spPr>
          <a:xfrm>
            <a:off x="762000" y="3333750"/>
            <a:ext cx="5572125" cy="4286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2025" b="1">
                <a:solidFill>
                  <a:srgbClr val="FFCD00"/>
                </a:solidFill>
                <a:latin typeface="Arial"/>
              </a:defRPr>
            </a:pPr>
            <a:r>
              <a:t>Борец КАСКАД-НТ</a:t>
            </a:r>
          </a:p>
        </p:txBody>
      </p:sp>
      <p:sp>
        <p:nvSpPr>
          <p:cNvPr id="16" name="Text_15"/>
          <p:cNvSpPr txBox="1"/>
          <p:nvPr/>
        </p:nvSpPr>
        <p:spPr>
          <a:xfrm>
            <a:off x="762000" y="3800475"/>
            <a:ext cx="5572125" cy="4286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2025" b="0">
                <a:solidFill>
                  <a:srgbClr val="FFFFFF"/>
                </a:solidFill>
                <a:latin typeface="Arial"/>
              </a:defRPr>
            </a:pPr>
            <a:r>
              <a:t>Эталон ЧР</a:t>
            </a:r>
          </a:p>
        </p:txBody>
      </p:sp>
      <p:sp>
        <p:nvSpPr>
          <p:cNvPr id="17" name="Text_16"/>
          <p:cNvSpPr txBox="1"/>
          <p:nvPr/>
        </p:nvSpPr>
        <p:spPr>
          <a:xfrm>
            <a:off x="762000" y="4267200"/>
            <a:ext cx="5572125" cy="4286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2025" b="0">
                <a:solidFill>
                  <a:srgbClr val="FFFFFF"/>
                </a:solidFill>
                <a:latin typeface="Arial"/>
              </a:defRPr>
            </a:pPr>
            <a:r>
              <a:t>ЭЛЕКТОН</a:t>
            </a:r>
          </a:p>
        </p:txBody>
      </p:sp>
      <p:sp>
        <p:nvSpPr>
          <p:cNvPr id="18" name="Text_17"/>
          <p:cNvSpPr txBox="1"/>
          <p:nvPr/>
        </p:nvSpPr>
        <p:spPr>
          <a:xfrm>
            <a:off x="762000" y="4733925"/>
            <a:ext cx="5572125" cy="4286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2025" b="0">
                <a:solidFill>
                  <a:srgbClr val="FFFFFF"/>
                </a:solidFill>
                <a:latin typeface="Arial"/>
              </a:defRPr>
            </a:pPr>
            <a:r>
              <a:t>ОРИОН-01</a:t>
            </a:r>
          </a:p>
        </p:txBody>
      </p:sp>
      <p:sp>
        <p:nvSpPr>
          <p:cNvPr id="19" name="Text_18"/>
          <p:cNvSpPr txBox="1"/>
          <p:nvPr/>
        </p:nvSpPr>
        <p:spPr>
          <a:xfrm>
            <a:off x="762000" y="5200650"/>
            <a:ext cx="5572125" cy="4286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2025" b="0">
                <a:solidFill>
                  <a:srgbClr val="FFFFFF"/>
                </a:solidFill>
                <a:latin typeface="Arial"/>
              </a:defRPr>
            </a:pPr>
            <a:r>
              <a:t>ТРИОЛ (УМКА)</a:t>
            </a:r>
          </a:p>
        </p:txBody>
      </p:sp>
      <p:pic>
        <p:nvPicPr>
          <p:cNvPr id="20" name="!!PhotoStrip0" descr="station.jpg"/>
          <p:cNvPicPr>
            <a:picLocks noChangeAspect="1"/>
          </p:cNvPicPr>
          <p:nvPr/>
        </p:nvPicPr>
        <p:blipFill>
          <a:blip r:embed="rId6"/>
          <a:srcRect t="4000" r="85714" b="4000"/>
          <a:stretch>
            <a:fillRect/>
          </a:stretch>
        </p:blipFill>
        <p:spPr>
          <a:xfrm>
            <a:off x="6953250" y="1476375"/>
            <a:ext cx="600075" cy="4095750"/>
          </a:xfrm>
          <a:prstGeom prst="rect">
            <a:avLst/>
          </a:prstGeom>
        </p:spPr>
      </p:pic>
      <p:pic>
        <p:nvPicPr>
          <p:cNvPr id="21" name="!!PhotoStrip1" descr="station.jpg"/>
          <p:cNvPicPr>
            <a:picLocks noChangeAspect="1"/>
          </p:cNvPicPr>
          <p:nvPr/>
        </p:nvPicPr>
        <p:blipFill>
          <a:blip r:embed="rId6"/>
          <a:srcRect l="14286" t="4000" r="71429" b="4000"/>
          <a:stretch>
            <a:fillRect/>
          </a:stretch>
        </p:blipFill>
        <p:spPr>
          <a:xfrm>
            <a:off x="7591425" y="1552575"/>
            <a:ext cx="600075" cy="4095750"/>
          </a:xfrm>
          <a:prstGeom prst="rect">
            <a:avLst/>
          </a:prstGeom>
        </p:spPr>
      </p:pic>
      <p:pic>
        <p:nvPicPr>
          <p:cNvPr id="22" name="!!PhotoStrip2" descr="station.jpg"/>
          <p:cNvPicPr>
            <a:picLocks noChangeAspect="1"/>
          </p:cNvPicPr>
          <p:nvPr/>
        </p:nvPicPr>
        <p:blipFill>
          <a:blip r:embed="rId6"/>
          <a:srcRect l="28571" t="4000" r="57143" b="4000"/>
          <a:stretch>
            <a:fillRect/>
          </a:stretch>
        </p:blipFill>
        <p:spPr>
          <a:xfrm>
            <a:off x="8229600" y="1628775"/>
            <a:ext cx="600075" cy="4095750"/>
          </a:xfrm>
          <a:prstGeom prst="rect">
            <a:avLst/>
          </a:prstGeom>
        </p:spPr>
      </p:pic>
      <p:pic>
        <p:nvPicPr>
          <p:cNvPr id="23" name="!!PhotoStrip3" descr="station.jpg"/>
          <p:cNvPicPr>
            <a:picLocks noChangeAspect="1"/>
          </p:cNvPicPr>
          <p:nvPr/>
        </p:nvPicPr>
        <p:blipFill>
          <a:blip r:embed="rId6"/>
          <a:srcRect l="42857" t="4000" r="42857" b="4000"/>
          <a:stretch>
            <a:fillRect/>
          </a:stretch>
        </p:blipFill>
        <p:spPr>
          <a:xfrm>
            <a:off x="8867775" y="1704975"/>
            <a:ext cx="600075" cy="4095750"/>
          </a:xfrm>
          <a:prstGeom prst="rect">
            <a:avLst/>
          </a:prstGeom>
        </p:spPr>
      </p:pic>
      <p:pic>
        <p:nvPicPr>
          <p:cNvPr id="24" name="!!PhotoStrip4" descr="station.jpg"/>
          <p:cNvPicPr>
            <a:picLocks noChangeAspect="1"/>
          </p:cNvPicPr>
          <p:nvPr/>
        </p:nvPicPr>
        <p:blipFill>
          <a:blip r:embed="rId6"/>
          <a:srcRect l="57143" t="4000" r="28571" b="4000"/>
          <a:stretch>
            <a:fillRect/>
          </a:stretch>
        </p:blipFill>
        <p:spPr>
          <a:xfrm>
            <a:off x="9505950" y="1781175"/>
            <a:ext cx="600075" cy="4095750"/>
          </a:xfrm>
          <a:prstGeom prst="rect">
            <a:avLst/>
          </a:prstGeom>
        </p:spPr>
      </p:pic>
      <p:pic>
        <p:nvPicPr>
          <p:cNvPr id="25" name="!!PhotoStrip5" descr="station.jpg"/>
          <p:cNvPicPr>
            <a:picLocks noChangeAspect="1"/>
          </p:cNvPicPr>
          <p:nvPr/>
        </p:nvPicPr>
        <p:blipFill>
          <a:blip r:embed="rId6"/>
          <a:srcRect l="71429" t="4000" r="14286" b="4000"/>
          <a:stretch>
            <a:fillRect/>
          </a:stretch>
        </p:blipFill>
        <p:spPr>
          <a:xfrm>
            <a:off x="10144125" y="1857375"/>
            <a:ext cx="600075" cy="4095750"/>
          </a:xfrm>
          <a:prstGeom prst="rect">
            <a:avLst/>
          </a:prstGeom>
        </p:spPr>
      </p:pic>
      <p:pic>
        <p:nvPicPr>
          <p:cNvPr id="26" name="!!PhotoStrip6" descr="station.jpg"/>
          <p:cNvPicPr>
            <a:picLocks noChangeAspect="1"/>
          </p:cNvPicPr>
          <p:nvPr/>
        </p:nvPicPr>
        <p:blipFill>
          <a:blip r:embed="rId6"/>
          <a:srcRect l="85714" t="4000" b="4000"/>
          <a:stretch>
            <a:fillRect/>
          </a:stretch>
        </p:blipFill>
        <p:spPr>
          <a:xfrm>
            <a:off x="10782300" y="1933575"/>
            <a:ext cx="600075" cy="4095750"/>
          </a:xfrm>
          <a:prstGeom prst="rect">
            <a:avLst/>
          </a:prstGeom>
        </p:spPr>
      </p:pic>
      <p:sp>
        <p:nvSpPr>
          <p:cNvPr id="27" name="Text_26"/>
          <p:cNvSpPr txBox="1"/>
          <p:nvPr/>
        </p:nvSpPr>
        <p:spPr>
          <a:xfrm>
            <a:off x="6953250" y="5829300"/>
            <a:ext cx="4572000" cy="3524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050" b="0">
                <a:solidFill>
                  <a:srgbClr val="B7B7B7"/>
                </a:solidFill>
                <a:latin typeface="Arial"/>
              </a:defRPr>
            </a:pPr>
            <a:r>
              <a:t>Архивное фото · не рекомендуемые уставки</a:t>
            </a:r>
          </a:p>
        </p:txBody>
      </p:sp>
      <p:sp>
        <p:nvSpPr>
          <p:cNvPr id="28" name="!!Rule"/>
          <p:cNvSpPr/>
          <p:nvPr/>
        </p:nvSpPr>
        <p:spPr>
          <a:xfrm>
            <a:off x="666750" y="590550"/>
            <a:ext cx="10858500" cy="38100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!!Section"/>
          <p:cNvSpPr txBox="1"/>
          <p:nvPr/>
        </p:nvSpPr>
        <p:spPr>
          <a:xfrm>
            <a:off x="685800" y="828675"/>
            <a:ext cx="102870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ОПЕРАТОР ДНГ / СТАНЦИИ УПРАВЛЕНИЯ</a:t>
            </a:r>
          </a:p>
        </p:txBody>
      </p:sp>
      <p:sp>
        <p:nvSpPr>
          <p:cNvPr id="30" name="!!Footer"/>
          <p:cNvSpPr txBox="1"/>
          <p:nvPr/>
        </p:nvSpPr>
        <p:spPr>
          <a:xfrm>
            <a:off x="685800" y="6381750"/>
            <a:ext cx="10096500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975" b="0">
                <a:solidFill>
                  <a:srgbClr val="FFFFFF"/>
                </a:solidFill>
                <a:latin typeface="Arial"/>
              </a:defRPr>
            </a:pPr>
            <a:r>
              <a:t>ООО «РН-Юганскнефтегаз» · проект для обсуждения</a:t>
            </a:r>
          </a:p>
        </p:txBody>
      </p:sp>
      <p:sp>
        <p:nvSpPr>
          <p:cNvPr id="31" name="SlideNumber"/>
          <p:cNvSpPr txBox="1"/>
          <p:nvPr/>
        </p:nvSpPr>
        <p:spPr>
          <a:xfrm>
            <a:off x="11096625" y="6381750"/>
            <a:ext cx="523874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975" b="0">
                <a:solidFill>
                  <a:srgbClr val="FFFFFF"/>
                </a:solidFill>
                <a:latin typeface="Arial"/>
              </a:defRPr>
            </a:pPr>
            <a:r>
              <a:t>10</a:t>
            </a:r>
          </a:p>
        </p:txBody>
      </p:sp>
      <p:sp>
        <p:nvSpPr>
          <p:cNvPr id="32" name="!!BackToOverview">
            <a:hlinkClick action="ppaction://hlinksldjump" r:id="rId8"/>
          </p:cNvPr>
          <p:cNvSpPr txBox="1"/>
          <p:nvPr/>
        </p:nvSpPr>
        <p:spPr>
          <a:xfrm>
            <a:off x="9620250" y="838200"/>
            <a:ext cx="19050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125" b="0">
                <a:solidFill>
                  <a:srgbClr val="FFCD00"/>
                </a:solidFill>
                <a:latin typeface="Arial"/>
              </a:defRPr>
            </a:pPr>
            <a:r>
              <a:t>← Все инструменты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 xmlns:p14="http://schemas.microsoft.com/office/powerpoint/2010/main">
    <mc:Choice Requires="p159">
      <p:transition advClick="1" spd="slow" p14:dur="1400">
        <p159:morph option="byObject"/>
      </p:transition>
    </mc:Choice>
    <mc:Fallback>
      <p:transition advClick="1" spd="slow">
        <p:push dir="l"/>
      </p:transition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Panel0"/>
          <p:cNvSpPr/>
          <p:nvPr/>
        </p:nvSpPr>
        <p:spPr>
          <a:xfrm>
            <a:off x="13335000" y="1428750"/>
            <a:ext cx="2571750" cy="466725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" name="!!PanelImage0" descr="manual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3839825" y="2619375"/>
            <a:ext cx="1562100" cy="3381375"/>
          </a:xfrm>
          <a:prstGeom prst="rect">
            <a:avLst/>
          </a:prstGeom>
        </p:spPr>
      </p:pic>
      <p:sp>
        <p:nvSpPr>
          <p:cNvPr id="4" name="!!PanelTitle0"/>
          <p:cNvSpPr txBox="1"/>
          <p:nvPr/>
        </p:nvSpPr>
        <p:spPr>
          <a:xfrm>
            <a:off x="13430250" y="1504950"/>
            <a:ext cx="2381250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050" b="0">
                <a:solidFill>
                  <a:srgbClr val="000000"/>
                </a:solidFill>
                <a:latin typeface="Arial"/>
              </a:defRPr>
            </a:pPr>
          </a:p>
        </p:txBody>
      </p:sp>
      <p:sp>
        <p:nvSpPr>
          <p:cNvPr id="5" name="!!Panel1"/>
          <p:cNvSpPr/>
          <p:nvPr/>
        </p:nvSpPr>
        <p:spPr>
          <a:xfrm>
            <a:off x="16097250" y="1428750"/>
            <a:ext cx="2571750" cy="466725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6" name="!!PanelImage1" descr="ped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6602075" y="2619375"/>
            <a:ext cx="1562100" cy="3381375"/>
          </a:xfrm>
          <a:prstGeom prst="rect">
            <a:avLst/>
          </a:prstGeom>
        </p:spPr>
      </p:pic>
      <p:sp>
        <p:nvSpPr>
          <p:cNvPr id="7" name="!!PanelTitle1"/>
          <p:cNvSpPr txBox="1"/>
          <p:nvPr/>
        </p:nvSpPr>
        <p:spPr>
          <a:xfrm>
            <a:off x="16192499" y="1504950"/>
            <a:ext cx="2381250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050" b="0">
                <a:solidFill>
                  <a:srgbClr val="000000"/>
                </a:solidFill>
                <a:latin typeface="Arial"/>
              </a:defRPr>
            </a:pPr>
          </a:p>
        </p:txBody>
      </p:sp>
      <p:sp>
        <p:nvSpPr>
          <p:cNvPr id="8" name="!!Panel2"/>
          <p:cNvSpPr/>
          <p:nvPr/>
        </p:nvSpPr>
        <p:spPr>
          <a:xfrm>
            <a:off x="7524749" y="1428750"/>
            <a:ext cx="4000500" cy="466725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!!PanelImage2" descr="ramp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8496300" y="1743075"/>
            <a:ext cx="1857375" cy="4019549"/>
          </a:xfrm>
          <a:prstGeom prst="rect">
            <a:avLst/>
          </a:prstGeom>
        </p:spPr>
      </p:pic>
      <p:sp>
        <p:nvSpPr>
          <p:cNvPr id="10" name="!!PanelTitle2"/>
          <p:cNvSpPr txBox="1"/>
          <p:nvPr/>
        </p:nvSpPr>
        <p:spPr>
          <a:xfrm>
            <a:off x="7620000" y="1504950"/>
            <a:ext cx="3810000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050" b="0">
                <a:solidFill>
                  <a:srgbClr val="000000"/>
                </a:solidFill>
                <a:latin typeface="Arial"/>
              </a:defRPr>
            </a:pPr>
          </a:p>
        </p:txBody>
      </p:sp>
      <p:sp>
        <p:nvSpPr>
          <p:cNvPr id="11" name="!!Panel3"/>
          <p:cNvSpPr/>
          <p:nvPr/>
        </p:nvSpPr>
        <p:spPr>
          <a:xfrm>
            <a:off x="21621750" y="1428750"/>
            <a:ext cx="2571750" cy="466725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2" name="!!PanelImage3" descr="vnr.pn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22126575" y="2619375"/>
            <a:ext cx="1562100" cy="3381375"/>
          </a:xfrm>
          <a:prstGeom prst="rect">
            <a:avLst/>
          </a:prstGeom>
        </p:spPr>
      </p:pic>
      <p:sp>
        <p:nvSpPr>
          <p:cNvPr id="13" name="!!PanelTitle3"/>
          <p:cNvSpPr txBox="1"/>
          <p:nvPr/>
        </p:nvSpPr>
        <p:spPr>
          <a:xfrm>
            <a:off x="21717000" y="1504950"/>
            <a:ext cx="2381250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050" b="0">
                <a:solidFill>
                  <a:srgbClr val="000000"/>
                </a:solidFill>
                <a:latin typeface="Arial"/>
              </a:defRPr>
            </a:pPr>
          </a:p>
        </p:txBody>
      </p:sp>
      <p:sp>
        <p:nvSpPr>
          <p:cNvPr id="14" name="!!Headline"/>
          <p:cNvSpPr txBox="1"/>
          <p:nvPr/>
        </p:nvSpPr>
        <p:spPr>
          <a:xfrm>
            <a:off x="685800" y="1476375"/>
            <a:ext cx="6286500" cy="1619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4050" b="1">
                <a:solidFill>
                  <a:srgbClr val="FFFFFF"/>
                </a:solidFill>
                <a:latin typeface="Arial"/>
              </a:defRPr>
            </a:pPr>
            <a:r>
              <a:t>Разгон.</a:t>
            </a:r>
          </a:p>
          <a:p>
            <a:pPr>
              <a:lnSpc>
                <a:spcPct val="104000"/>
              </a:lnSpc>
              <a:spcAft>
                <a:spcPts val="700"/>
              </a:spcAft>
              <a:defRPr sz="4050" b="1">
                <a:solidFill>
                  <a:srgbClr val="FFFFFF"/>
                </a:solidFill>
                <a:latin typeface="Arial"/>
              </a:defRPr>
            </a:pPr>
            <a:r>
              <a:t>Выдержать порядок.</a:t>
            </a:r>
          </a:p>
        </p:txBody>
      </p:sp>
      <p:sp>
        <p:nvSpPr>
          <p:cNvPr id="15" name="!!Subtitle"/>
          <p:cNvSpPr txBox="1"/>
          <p:nvPr/>
        </p:nvSpPr>
        <p:spPr>
          <a:xfrm>
            <a:off x="723900" y="3381375"/>
            <a:ext cx="6286500" cy="152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2025" b="0">
                <a:solidFill>
                  <a:srgbClr val="B7B7B7"/>
                </a:solidFill>
                <a:latin typeface="Arial"/>
              </a:defRPr>
            </a:pPr>
            <a:r>
              <a:t>Материалы для выбранной</a:t>
            </a:r>
          </a:p>
          <a:p>
            <a:pPr>
              <a:lnSpc>
                <a:spcPct val="104000"/>
              </a:lnSpc>
              <a:spcAft>
                <a:spcPts val="700"/>
              </a:spcAft>
              <a:defRPr sz="2025" b="0">
                <a:solidFill>
                  <a:srgbClr val="B7B7B7"/>
                </a:solidFill>
                <a:latin typeface="Arial"/>
              </a:defRPr>
            </a:pPr>
            <a:r>
              <a:t>модели станции.</a:t>
            </a:r>
          </a:p>
        </p:txBody>
      </p:sp>
      <p:sp>
        <p:nvSpPr>
          <p:cNvPr id="16" name="Block_15"/>
          <p:cNvSpPr/>
          <p:nvPr/>
        </p:nvSpPr>
        <p:spPr>
          <a:xfrm>
            <a:off x="723900" y="4781550"/>
            <a:ext cx="38100" cy="228600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Row0"/>
          <p:cNvSpPr txBox="1"/>
          <p:nvPr/>
        </p:nvSpPr>
        <p:spPr>
          <a:xfrm>
            <a:off x="933449" y="4714875"/>
            <a:ext cx="6096000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800" b="0">
                <a:solidFill>
                  <a:srgbClr val="FFFFFF"/>
                </a:solidFill>
                <a:latin typeface="Arial"/>
              </a:defRPr>
            </a:pPr>
            <a:r>
              <a:t>Выбрать станцию</a:t>
            </a:r>
          </a:p>
        </p:txBody>
      </p:sp>
      <p:sp>
        <p:nvSpPr>
          <p:cNvPr id="18" name="Block_17"/>
          <p:cNvSpPr/>
          <p:nvPr/>
        </p:nvSpPr>
        <p:spPr>
          <a:xfrm>
            <a:off x="723900" y="5238750"/>
            <a:ext cx="38100" cy="228600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Row1"/>
          <p:cNvSpPr txBox="1"/>
          <p:nvPr/>
        </p:nvSpPr>
        <p:spPr>
          <a:xfrm>
            <a:off x="933449" y="5172075"/>
            <a:ext cx="6096000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800" b="0">
                <a:solidFill>
                  <a:srgbClr val="FFFFFF"/>
                </a:solidFill>
                <a:latin typeface="Arial"/>
              </a:defRPr>
            </a:pPr>
            <a:r>
              <a:t>Ввести исходные условия</a:t>
            </a:r>
          </a:p>
        </p:txBody>
      </p:sp>
      <p:sp>
        <p:nvSpPr>
          <p:cNvPr id="20" name="Block_19"/>
          <p:cNvSpPr/>
          <p:nvPr/>
        </p:nvSpPr>
        <p:spPr>
          <a:xfrm>
            <a:off x="723900" y="5695950"/>
            <a:ext cx="38100" cy="228600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Row2"/>
          <p:cNvSpPr txBox="1"/>
          <p:nvPr/>
        </p:nvSpPr>
        <p:spPr>
          <a:xfrm>
            <a:off x="933449" y="5629275"/>
            <a:ext cx="6096000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800" b="0">
                <a:solidFill>
                  <a:srgbClr val="FFFFFF"/>
                </a:solidFill>
                <a:latin typeface="Arial"/>
              </a:defRPr>
            </a:pPr>
            <a:r>
              <a:t>Сверить параметры и действия</a:t>
            </a:r>
          </a:p>
        </p:txBody>
      </p:sp>
      <p:pic>
        <p:nvPicPr>
          <p:cNvPr id="22" name="!!PhotoStrip0" descr="station.jpg"/>
          <p:cNvPicPr>
            <a:picLocks noChangeAspect="1"/>
          </p:cNvPicPr>
          <p:nvPr/>
        </p:nvPicPr>
        <p:blipFill>
          <a:blip r:embed="rId6"/>
          <a:srcRect t="4000" r="85714" b="4000"/>
          <a:stretch>
            <a:fillRect/>
          </a:stretch>
        </p:blipFill>
        <p:spPr>
          <a:xfrm>
            <a:off x="6953250" y="-6191250"/>
            <a:ext cx="600075" cy="4095750"/>
          </a:xfrm>
          <a:prstGeom prst="rect">
            <a:avLst/>
          </a:prstGeom>
        </p:spPr>
      </p:pic>
      <p:pic>
        <p:nvPicPr>
          <p:cNvPr id="23" name="!!PhotoStrip1" descr="station.jpg"/>
          <p:cNvPicPr>
            <a:picLocks noChangeAspect="1"/>
          </p:cNvPicPr>
          <p:nvPr/>
        </p:nvPicPr>
        <p:blipFill>
          <a:blip r:embed="rId6"/>
          <a:srcRect l="14286" t="4000" r="71429" b="4000"/>
          <a:stretch>
            <a:fillRect/>
          </a:stretch>
        </p:blipFill>
        <p:spPr>
          <a:xfrm>
            <a:off x="7591425" y="-6619875"/>
            <a:ext cx="600075" cy="4095750"/>
          </a:xfrm>
          <a:prstGeom prst="rect">
            <a:avLst/>
          </a:prstGeom>
        </p:spPr>
      </p:pic>
      <p:pic>
        <p:nvPicPr>
          <p:cNvPr id="24" name="!!PhotoStrip2" descr="station.jpg"/>
          <p:cNvPicPr>
            <a:picLocks noChangeAspect="1"/>
          </p:cNvPicPr>
          <p:nvPr/>
        </p:nvPicPr>
        <p:blipFill>
          <a:blip r:embed="rId6"/>
          <a:srcRect l="28571" t="4000" r="57143" b="4000"/>
          <a:stretch>
            <a:fillRect/>
          </a:stretch>
        </p:blipFill>
        <p:spPr>
          <a:xfrm>
            <a:off x="8229600" y="-7048500"/>
            <a:ext cx="600075" cy="4095750"/>
          </a:xfrm>
          <a:prstGeom prst="rect">
            <a:avLst/>
          </a:prstGeom>
        </p:spPr>
      </p:pic>
      <p:pic>
        <p:nvPicPr>
          <p:cNvPr id="25" name="!!PhotoStrip3" descr="station.jpg"/>
          <p:cNvPicPr>
            <a:picLocks noChangeAspect="1"/>
          </p:cNvPicPr>
          <p:nvPr/>
        </p:nvPicPr>
        <p:blipFill>
          <a:blip r:embed="rId6"/>
          <a:srcRect l="42857" t="4000" r="42857" b="4000"/>
          <a:stretch>
            <a:fillRect/>
          </a:stretch>
        </p:blipFill>
        <p:spPr>
          <a:xfrm>
            <a:off x="8867775" y="-7477125"/>
            <a:ext cx="600075" cy="4095750"/>
          </a:xfrm>
          <a:prstGeom prst="rect">
            <a:avLst/>
          </a:prstGeom>
        </p:spPr>
      </p:pic>
      <p:pic>
        <p:nvPicPr>
          <p:cNvPr id="26" name="!!PhotoStrip4" descr="station.jpg"/>
          <p:cNvPicPr>
            <a:picLocks noChangeAspect="1"/>
          </p:cNvPicPr>
          <p:nvPr/>
        </p:nvPicPr>
        <p:blipFill>
          <a:blip r:embed="rId6"/>
          <a:srcRect l="57143" t="4000" r="28571" b="4000"/>
          <a:stretch>
            <a:fillRect/>
          </a:stretch>
        </p:blipFill>
        <p:spPr>
          <a:xfrm>
            <a:off x="9505950" y="-7905750"/>
            <a:ext cx="600075" cy="4095750"/>
          </a:xfrm>
          <a:prstGeom prst="rect">
            <a:avLst/>
          </a:prstGeom>
        </p:spPr>
      </p:pic>
      <p:pic>
        <p:nvPicPr>
          <p:cNvPr id="27" name="!!PhotoStrip5" descr="station.jpg"/>
          <p:cNvPicPr>
            <a:picLocks noChangeAspect="1"/>
          </p:cNvPicPr>
          <p:nvPr/>
        </p:nvPicPr>
        <p:blipFill>
          <a:blip r:embed="rId6"/>
          <a:srcRect l="71429" t="4000" r="14286" b="4000"/>
          <a:stretch>
            <a:fillRect/>
          </a:stretch>
        </p:blipFill>
        <p:spPr>
          <a:xfrm>
            <a:off x="10144125" y="-8334375"/>
            <a:ext cx="600075" cy="4095750"/>
          </a:xfrm>
          <a:prstGeom prst="rect">
            <a:avLst/>
          </a:prstGeom>
        </p:spPr>
      </p:pic>
      <p:pic>
        <p:nvPicPr>
          <p:cNvPr id="28" name="!!PhotoStrip6" descr="station.jpg"/>
          <p:cNvPicPr>
            <a:picLocks noChangeAspect="1"/>
          </p:cNvPicPr>
          <p:nvPr/>
        </p:nvPicPr>
        <p:blipFill>
          <a:blip r:embed="rId6"/>
          <a:srcRect l="85714" t="4000" b="4000"/>
          <a:stretch>
            <a:fillRect/>
          </a:stretch>
        </p:blipFill>
        <p:spPr>
          <a:xfrm>
            <a:off x="10782300" y="-8763000"/>
            <a:ext cx="600075" cy="4095750"/>
          </a:xfrm>
          <a:prstGeom prst="rect">
            <a:avLst/>
          </a:prstGeom>
        </p:spPr>
      </p:pic>
      <p:sp>
        <p:nvSpPr>
          <p:cNvPr id="29" name="!!Rule"/>
          <p:cNvSpPr/>
          <p:nvPr/>
        </p:nvSpPr>
        <p:spPr>
          <a:xfrm>
            <a:off x="666750" y="590550"/>
            <a:ext cx="10858500" cy="38100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!!Section"/>
          <p:cNvSpPr txBox="1"/>
          <p:nvPr/>
        </p:nvSpPr>
        <p:spPr>
          <a:xfrm>
            <a:off x="685800" y="828675"/>
            <a:ext cx="102870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ОПЕРАТОР ДНГ / РАЗГОН</a:t>
            </a:r>
          </a:p>
        </p:txBody>
      </p:sp>
      <p:sp>
        <p:nvSpPr>
          <p:cNvPr id="31" name="!!Footer"/>
          <p:cNvSpPr txBox="1"/>
          <p:nvPr/>
        </p:nvSpPr>
        <p:spPr>
          <a:xfrm>
            <a:off x="685800" y="6381750"/>
            <a:ext cx="10096500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975" b="0">
                <a:solidFill>
                  <a:srgbClr val="FFFFFF"/>
                </a:solidFill>
                <a:latin typeface="Arial"/>
              </a:defRPr>
            </a:pPr>
            <a:r>
              <a:t>ООО «РН-Юганскнефтегаз» · проект для обсуждения</a:t>
            </a:r>
          </a:p>
        </p:txBody>
      </p:sp>
      <p:sp>
        <p:nvSpPr>
          <p:cNvPr id="32" name="SlideNumber"/>
          <p:cNvSpPr txBox="1"/>
          <p:nvPr/>
        </p:nvSpPr>
        <p:spPr>
          <a:xfrm>
            <a:off x="11096625" y="6381750"/>
            <a:ext cx="523874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975" b="0">
                <a:solidFill>
                  <a:srgbClr val="FFFFFF"/>
                </a:solidFill>
                <a:latin typeface="Arial"/>
              </a:defRPr>
            </a:pPr>
            <a:r>
              <a:t>11</a:t>
            </a:r>
          </a:p>
        </p:txBody>
      </p:sp>
      <p:sp>
        <p:nvSpPr>
          <p:cNvPr id="33" name="!!BackToOverview">
            <a:hlinkClick action="ppaction://hlinksldjump" r:id="rId8"/>
          </p:cNvPr>
          <p:cNvSpPr txBox="1"/>
          <p:nvPr/>
        </p:nvSpPr>
        <p:spPr>
          <a:xfrm>
            <a:off x="9620250" y="838200"/>
            <a:ext cx="19050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125" b="0">
                <a:solidFill>
                  <a:srgbClr val="FFCD00"/>
                </a:solidFill>
                <a:latin typeface="Arial"/>
              </a:defRPr>
            </a:pPr>
            <a:r>
              <a:t>← Все инструменты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 xmlns:p14="http://schemas.microsoft.com/office/powerpoint/2010/main">
    <mc:Choice Requires="p159">
      <p:transition advClick="1" spd="slow" p14:dur="1400">
        <p159:morph option="byObject"/>
      </p:transition>
    </mc:Choice>
    <mc:Fallback>
      <p:transition advClick="1" spd="slow">
        <p:push dir="l"/>
      </p:transition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Panel0"/>
          <p:cNvSpPr/>
          <p:nvPr/>
        </p:nvSpPr>
        <p:spPr>
          <a:xfrm>
            <a:off x="13335000" y="1428750"/>
            <a:ext cx="2571750" cy="466725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" name="!!PanelImage0" descr="manual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3839825" y="2619375"/>
            <a:ext cx="1562100" cy="3381375"/>
          </a:xfrm>
          <a:prstGeom prst="rect">
            <a:avLst/>
          </a:prstGeom>
        </p:spPr>
      </p:pic>
      <p:sp>
        <p:nvSpPr>
          <p:cNvPr id="4" name="!!PanelTitle0"/>
          <p:cNvSpPr txBox="1"/>
          <p:nvPr/>
        </p:nvSpPr>
        <p:spPr>
          <a:xfrm>
            <a:off x="13430250" y="1504950"/>
            <a:ext cx="2381250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050" b="0">
                <a:solidFill>
                  <a:srgbClr val="000000"/>
                </a:solidFill>
                <a:latin typeface="Arial"/>
              </a:defRPr>
            </a:pPr>
          </a:p>
        </p:txBody>
      </p:sp>
      <p:sp>
        <p:nvSpPr>
          <p:cNvPr id="5" name="!!Panel1"/>
          <p:cNvSpPr/>
          <p:nvPr/>
        </p:nvSpPr>
        <p:spPr>
          <a:xfrm>
            <a:off x="16097250" y="1428750"/>
            <a:ext cx="2571750" cy="466725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6" name="!!PanelImage1" descr="ped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6602075" y="2619375"/>
            <a:ext cx="1562100" cy="3381375"/>
          </a:xfrm>
          <a:prstGeom prst="rect">
            <a:avLst/>
          </a:prstGeom>
        </p:spPr>
      </p:pic>
      <p:sp>
        <p:nvSpPr>
          <p:cNvPr id="7" name="!!PanelTitle1"/>
          <p:cNvSpPr txBox="1"/>
          <p:nvPr/>
        </p:nvSpPr>
        <p:spPr>
          <a:xfrm>
            <a:off x="16192499" y="1504950"/>
            <a:ext cx="2381250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050" b="0">
                <a:solidFill>
                  <a:srgbClr val="000000"/>
                </a:solidFill>
                <a:latin typeface="Arial"/>
              </a:defRPr>
            </a:pPr>
          </a:p>
        </p:txBody>
      </p:sp>
      <p:sp>
        <p:nvSpPr>
          <p:cNvPr id="8" name="!!Panel2"/>
          <p:cNvSpPr/>
          <p:nvPr/>
        </p:nvSpPr>
        <p:spPr>
          <a:xfrm>
            <a:off x="7524749" y="1428750"/>
            <a:ext cx="4000500" cy="466725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!!PanelImage2" descr="rich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8496300" y="1743075"/>
            <a:ext cx="1857375" cy="4019549"/>
          </a:xfrm>
          <a:prstGeom prst="rect">
            <a:avLst/>
          </a:prstGeom>
        </p:spPr>
      </p:pic>
      <p:sp>
        <p:nvSpPr>
          <p:cNvPr id="10" name="!!PanelTitle2"/>
          <p:cNvSpPr txBox="1"/>
          <p:nvPr/>
        </p:nvSpPr>
        <p:spPr>
          <a:xfrm>
            <a:off x="7620000" y="1504950"/>
            <a:ext cx="3810000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050" b="0">
                <a:solidFill>
                  <a:srgbClr val="000000"/>
                </a:solidFill>
                <a:latin typeface="Arial"/>
              </a:defRPr>
            </a:pPr>
          </a:p>
        </p:txBody>
      </p:sp>
      <p:sp>
        <p:nvSpPr>
          <p:cNvPr id="11" name="!!Panel3"/>
          <p:cNvSpPr/>
          <p:nvPr/>
        </p:nvSpPr>
        <p:spPr>
          <a:xfrm>
            <a:off x="21621750" y="1428750"/>
            <a:ext cx="2571750" cy="466725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2" name="!!PanelImage3" descr="vnr.pn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22126575" y="2619375"/>
            <a:ext cx="1562100" cy="3381375"/>
          </a:xfrm>
          <a:prstGeom prst="rect">
            <a:avLst/>
          </a:prstGeom>
        </p:spPr>
      </p:pic>
      <p:sp>
        <p:nvSpPr>
          <p:cNvPr id="13" name="!!PanelTitle3"/>
          <p:cNvSpPr txBox="1"/>
          <p:nvPr/>
        </p:nvSpPr>
        <p:spPr>
          <a:xfrm>
            <a:off x="21717000" y="1504950"/>
            <a:ext cx="2381250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050" b="0">
                <a:solidFill>
                  <a:srgbClr val="000000"/>
                </a:solidFill>
                <a:latin typeface="Arial"/>
              </a:defRPr>
            </a:pPr>
          </a:p>
        </p:txBody>
      </p:sp>
      <p:sp>
        <p:nvSpPr>
          <p:cNvPr id="14" name="!!Headline"/>
          <p:cNvSpPr txBox="1"/>
          <p:nvPr/>
        </p:nvSpPr>
        <p:spPr>
          <a:xfrm>
            <a:off x="685800" y="1476375"/>
            <a:ext cx="6286500" cy="1619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4050" b="1">
                <a:solidFill>
                  <a:srgbClr val="FFFFFF"/>
                </a:solidFill>
                <a:latin typeface="Arial"/>
              </a:defRPr>
            </a:pPr>
            <a:r>
              <a:t>РИЧ.</a:t>
            </a:r>
          </a:p>
          <a:p>
            <a:pPr>
              <a:lnSpc>
                <a:spcPct val="104000"/>
              </a:lnSpc>
              <a:spcAft>
                <a:spcPts val="700"/>
              </a:spcAft>
              <a:defRPr sz="4050" b="1">
                <a:solidFill>
                  <a:srgbClr val="FFFFFF"/>
                </a:solidFill>
                <a:latin typeface="Arial"/>
              </a:defRPr>
            </a:pPr>
            <a:r>
              <a:t>Своё меню и шаги.</a:t>
            </a:r>
          </a:p>
        </p:txBody>
      </p:sp>
      <p:sp>
        <p:nvSpPr>
          <p:cNvPr id="15" name="!!Subtitle"/>
          <p:cNvSpPr txBox="1"/>
          <p:nvPr/>
        </p:nvSpPr>
        <p:spPr>
          <a:xfrm>
            <a:off x="723900" y="3381375"/>
            <a:ext cx="6286500" cy="152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2025" b="0">
                <a:solidFill>
                  <a:srgbClr val="B7B7B7"/>
                </a:solidFill>
                <a:latin typeface="Arial"/>
              </a:defRPr>
            </a:pPr>
            <a:r>
              <a:t>Пошаговые материалы</a:t>
            </a:r>
          </a:p>
          <a:p>
            <a:pPr>
              <a:lnSpc>
                <a:spcPct val="104000"/>
              </a:lnSpc>
              <a:spcAft>
                <a:spcPts val="700"/>
              </a:spcAft>
              <a:defRPr sz="2025" b="0">
                <a:solidFill>
                  <a:srgbClr val="B7B7B7"/>
                </a:solidFill>
                <a:latin typeface="Arial"/>
              </a:defRPr>
            </a:pPr>
            <a:r>
              <a:t>и фотографии оборудования.</a:t>
            </a:r>
          </a:p>
        </p:txBody>
      </p:sp>
      <p:sp>
        <p:nvSpPr>
          <p:cNvPr id="16" name="Block_15"/>
          <p:cNvSpPr/>
          <p:nvPr/>
        </p:nvSpPr>
        <p:spPr>
          <a:xfrm>
            <a:off x="723900" y="4781550"/>
            <a:ext cx="38100" cy="228600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Row0"/>
          <p:cNvSpPr txBox="1"/>
          <p:nvPr/>
        </p:nvSpPr>
        <p:spPr>
          <a:xfrm>
            <a:off x="933449" y="4714875"/>
            <a:ext cx="6096000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800" b="0">
                <a:solidFill>
                  <a:srgbClr val="FFFFFF"/>
                </a:solidFill>
                <a:latin typeface="Arial"/>
              </a:defRPr>
            </a:pPr>
            <a:r>
              <a:t>Пять моделей станций</a:t>
            </a:r>
          </a:p>
        </p:txBody>
      </p:sp>
      <p:sp>
        <p:nvSpPr>
          <p:cNvPr id="18" name="Block_17"/>
          <p:cNvSpPr/>
          <p:nvPr/>
        </p:nvSpPr>
        <p:spPr>
          <a:xfrm>
            <a:off x="723900" y="5238750"/>
            <a:ext cx="38100" cy="228600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Row1"/>
          <p:cNvSpPr txBox="1"/>
          <p:nvPr/>
        </p:nvSpPr>
        <p:spPr>
          <a:xfrm>
            <a:off x="933449" y="5172075"/>
            <a:ext cx="6096000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800" b="0">
                <a:solidFill>
                  <a:srgbClr val="FFFFFF"/>
                </a:solidFill>
                <a:latin typeface="Arial"/>
              </a:defRPr>
            </a:pPr>
            <a:r>
              <a:t>Инструкции не смешиваются</a:t>
            </a:r>
          </a:p>
        </p:txBody>
      </p:sp>
      <p:sp>
        <p:nvSpPr>
          <p:cNvPr id="20" name="Block_19"/>
          <p:cNvSpPr/>
          <p:nvPr/>
        </p:nvSpPr>
        <p:spPr>
          <a:xfrm>
            <a:off x="723900" y="5695950"/>
            <a:ext cx="38100" cy="228600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Row2"/>
          <p:cNvSpPr txBox="1"/>
          <p:nvPr/>
        </p:nvSpPr>
        <p:spPr>
          <a:xfrm>
            <a:off x="933449" y="5629275"/>
            <a:ext cx="6096000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800" b="0">
                <a:solidFill>
                  <a:srgbClr val="FFFFFF"/>
                </a:solidFill>
                <a:latin typeface="Arial"/>
              </a:defRPr>
            </a:pPr>
            <a:r>
              <a:t>Действия контролирует персонал</a:t>
            </a:r>
          </a:p>
        </p:txBody>
      </p:sp>
      <p:sp>
        <p:nvSpPr>
          <p:cNvPr id="22" name="!!Rule"/>
          <p:cNvSpPr/>
          <p:nvPr/>
        </p:nvSpPr>
        <p:spPr>
          <a:xfrm>
            <a:off x="666750" y="590550"/>
            <a:ext cx="10858500" cy="38100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!!Section"/>
          <p:cNvSpPr txBox="1"/>
          <p:nvPr/>
        </p:nvSpPr>
        <p:spPr>
          <a:xfrm>
            <a:off x="685800" y="828675"/>
            <a:ext cx="102870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ОПЕРАТОР ДНГ / РИЧ</a:t>
            </a:r>
          </a:p>
        </p:txBody>
      </p:sp>
      <p:sp>
        <p:nvSpPr>
          <p:cNvPr id="24" name="!!Footer"/>
          <p:cNvSpPr txBox="1"/>
          <p:nvPr/>
        </p:nvSpPr>
        <p:spPr>
          <a:xfrm>
            <a:off x="685800" y="6381750"/>
            <a:ext cx="10096500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975" b="0">
                <a:solidFill>
                  <a:srgbClr val="FFFFFF"/>
                </a:solidFill>
                <a:latin typeface="Arial"/>
              </a:defRPr>
            </a:pPr>
            <a:r>
              <a:t>ООО «РН-Юганскнефтегаз» · проект для обсуждения</a:t>
            </a:r>
          </a:p>
        </p:txBody>
      </p:sp>
      <p:sp>
        <p:nvSpPr>
          <p:cNvPr id="25" name="SlideNumber"/>
          <p:cNvSpPr txBox="1"/>
          <p:nvPr/>
        </p:nvSpPr>
        <p:spPr>
          <a:xfrm>
            <a:off x="11096625" y="6381750"/>
            <a:ext cx="523874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975" b="0">
                <a:solidFill>
                  <a:srgbClr val="FFFFFF"/>
                </a:solidFill>
                <a:latin typeface="Arial"/>
              </a:defRPr>
            </a:pPr>
            <a:r>
              <a:t>12</a:t>
            </a:r>
          </a:p>
        </p:txBody>
      </p:sp>
      <p:sp>
        <p:nvSpPr>
          <p:cNvPr id="26" name="!!BackToOverview">
            <a:hlinkClick action="ppaction://hlinksldjump" r:id="rId7"/>
          </p:cNvPr>
          <p:cNvSpPr txBox="1"/>
          <p:nvPr/>
        </p:nvSpPr>
        <p:spPr>
          <a:xfrm>
            <a:off x="9620250" y="838200"/>
            <a:ext cx="19050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125" b="0">
                <a:solidFill>
                  <a:srgbClr val="FFCD00"/>
                </a:solidFill>
                <a:latin typeface="Arial"/>
              </a:defRPr>
            </a:pPr>
            <a:r>
              <a:t>← Все инструменты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 xmlns:p14="http://schemas.microsoft.com/office/powerpoint/2010/main">
    <mc:Choice Requires="p159">
      <p:transition advClick="1" spd="slow" p14:dur="1400">
        <p159:morph option="byObject"/>
      </p:transition>
    </mc:Choice>
    <mc:Fallback>
      <p:transition advClick="1" spd="slow">
        <p:push dir="l"/>
      </p:transition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Panel0"/>
          <p:cNvSpPr/>
          <p:nvPr/>
        </p:nvSpPr>
        <p:spPr>
          <a:xfrm>
            <a:off x="13335000" y="1428750"/>
            <a:ext cx="2571750" cy="466725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" name="!!PanelImage0" descr="manual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3839825" y="2619375"/>
            <a:ext cx="1562100" cy="3381375"/>
          </a:xfrm>
          <a:prstGeom prst="rect">
            <a:avLst/>
          </a:prstGeom>
        </p:spPr>
      </p:pic>
      <p:sp>
        <p:nvSpPr>
          <p:cNvPr id="4" name="!!PanelTitle0"/>
          <p:cNvSpPr txBox="1"/>
          <p:nvPr/>
        </p:nvSpPr>
        <p:spPr>
          <a:xfrm>
            <a:off x="13430250" y="1504950"/>
            <a:ext cx="2381250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050" b="0">
                <a:solidFill>
                  <a:srgbClr val="000000"/>
                </a:solidFill>
                <a:latin typeface="Arial"/>
              </a:defRPr>
            </a:pPr>
          </a:p>
        </p:txBody>
      </p:sp>
      <p:sp>
        <p:nvSpPr>
          <p:cNvPr id="5" name="!!Panel1"/>
          <p:cNvSpPr/>
          <p:nvPr/>
        </p:nvSpPr>
        <p:spPr>
          <a:xfrm>
            <a:off x="16097250" y="1428750"/>
            <a:ext cx="2571750" cy="466725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6" name="!!PanelImage1" descr="ped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6602075" y="2619375"/>
            <a:ext cx="1562100" cy="3381375"/>
          </a:xfrm>
          <a:prstGeom prst="rect">
            <a:avLst/>
          </a:prstGeom>
        </p:spPr>
      </p:pic>
      <p:sp>
        <p:nvSpPr>
          <p:cNvPr id="7" name="!!PanelTitle1"/>
          <p:cNvSpPr txBox="1"/>
          <p:nvPr/>
        </p:nvSpPr>
        <p:spPr>
          <a:xfrm>
            <a:off x="16192499" y="1504950"/>
            <a:ext cx="2381250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050" b="0">
                <a:solidFill>
                  <a:srgbClr val="000000"/>
                </a:solidFill>
                <a:latin typeface="Arial"/>
              </a:defRPr>
            </a:pPr>
          </a:p>
        </p:txBody>
      </p:sp>
      <p:sp>
        <p:nvSpPr>
          <p:cNvPr id="8" name="!!Panel2"/>
          <p:cNvSpPr/>
          <p:nvPr/>
        </p:nvSpPr>
        <p:spPr>
          <a:xfrm>
            <a:off x="18859500" y="1428750"/>
            <a:ext cx="2571750" cy="466725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!!PanelImage2" descr="ramp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9364325" y="2619375"/>
            <a:ext cx="1562100" cy="3381375"/>
          </a:xfrm>
          <a:prstGeom prst="rect">
            <a:avLst/>
          </a:prstGeom>
        </p:spPr>
      </p:pic>
      <p:sp>
        <p:nvSpPr>
          <p:cNvPr id="10" name="!!PanelTitle2"/>
          <p:cNvSpPr txBox="1"/>
          <p:nvPr/>
        </p:nvSpPr>
        <p:spPr>
          <a:xfrm>
            <a:off x="18954750" y="1504950"/>
            <a:ext cx="2381250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050" b="0">
                <a:solidFill>
                  <a:srgbClr val="000000"/>
                </a:solidFill>
                <a:latin typeface="Arial"/>
              </a:defRPr>
            </a:pPr>
          </a:p>
        </p:txBody>
      </p:sp>
      <p:sp>
        <p:nvSpPr>
          <p:cNvPr id="11" name="!!Panel3"/>
          <p:cNvSpPr/>
          <p:nvPr/>
        </p:nvSpPr>
        <p:spPr>
          <a:xfrm>
            <a:off x="7524749" y="1428750"/>
            <a:ext cx="4000500" cy="466725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2" name="!!PanelImage3" descr="vnr.png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8496300" y="1743075"/>
            <a:ext cx="1857375" cy="4019549"/>
          </a:xfrm>
          <a:prstGeom prst="rect">
            <a:avLst/>
          </a:prstGeom>
        </p:spPr>
      </p:pic>
      <p:sp>
        <p:nvSpPr>
          <p:cNvPr id="13" name="!!PanelTitle3"/>
          <p:cNvSpPr txBox="1"/>
          <p:nvPr/>
        </p:nvSpPr>
        <p:spPr>
          <a:xfrm>
            <a:off x="7620000" y="1504950"/>
            <a:ext cx="3810000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050" b="0">
                <a:solidFill>
                  <a:srgbClr val="000000"/>
                </a:solidFill>
                <a:latin typeface="Arial"/>
              </a:defRPr>
            </a:pPr>
          </a:p>
        </p:txBody>
      </p:sp>
      <p:sp>
        <p:nvSpPr>
          <p:cNvPr id="14" name="!!Headline"/>
          <p:cNvSpPr txBox="1"/>
          <p:nvPr/>
        </p:nvSpPr>
        <p:spPr>
          <a:xfrm>
            <a:off x="723900" y="1524000"/>
            <a:ext cx="6191250" cy="1762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2750" b="1">
                <a:solidFill>
                  <a:srgbClr val="FFCD00"/>
                </a:solidFill>
                <a:latin typeface="Arial"/>
              </a:defRPr>
            </a:pPr>
            <a:r>
              <a:t>207</a:t>
            </a:r>
          </a:p>
        </p:txBody>
      </p:sp>
      <p:sp>
        <p:nvSpPr>
          <p:cNvPr id="15" name="!!Subtitle"/>
          <p:cNvSpPr txBox="1"/>
          <p:nvPr/>
        </p:nvSpPr>
        <p:spPr>
          <a:xfrm>
            <a:off x="828675" y="3619500"/>
            <a:ext cx="5810250" cy="104774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3450" b="1">
                <a:solidFill>
                  <a:srgbClr val="FFFFFF"/>
                </a:solidFill>
                <a:latin typeface="Arial"/>
              </a:defRPr>
            </a:pPr>
            <a:r>
              <a:t>страниц ВНР</a:t>
            </a:r>
          </a:p>
          <a:p>
            <a:pPr>
              <a:lnSpc>
                <a:spcPct val="104000"/>
              </a:lnSpc>
              <a:spcAft>
                <a:spcPts val="700"/>
              </a:spcAft>
              <a:defRPr sz="3450" b="1">
                <a:solidFill>
                  <a:srgbClr val="FFFFFF"/>
                </a:solidFill>
                <a:latin typeface="Arial"/>
              </a:defRPr>
            </a:pPr>
            <a:r>
              <a:t>на телефоне</a:t>
            </a:r>
          </a:p>
        </p:txBody>
      </p:sp>
      <p:sp>
        <p:nvSpPr>
          <p:cNvPr id="16" name="Text_15"/>
          <p:cNvSpPr txBox="1"/>
          <p:nvPr/>
        </p:nvSpPr>
        <p:spPr>
          <a:xfrm>
            <a:off x="857250" y="5238750"/>
            <a:ext cx="5810250" cy="571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725" b="0">
                <a:solidFill>
                  <a:srgbClr val="B7B7B7"/>
                </a:solidFill>
                <a:latin typeface="Arial"/>
              </a:defRPr>
            </a:pPr>
            <a:r>
              <a:t>Офлайн после предварительной загрузки</a:t>
            </a:r>
          </a:p>
        </p:txBody>
      </p:sp>
      <p:sp>
        <p:nvSpPr>
          <p:cNvPr id="17" name="!!Rule"/>
          <p:cNvSpPr/>
          <p:nvPr/>
        </p:nvSpPr>
        <p:spPr>
          <a:xfrm>
            <a:off x="666750" y="590550"/>
            <a:ext cx="10858500" cy="38100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!!Section"/>
          <p:cNvSpPr txBox="1"/>
          <p:nvPr/>
        </p:nvSpPr>
        <p:spPr>
          <a:xfrm>
            <a:off x="685800" y="828675"/>
            <a:ext cx="102870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ОПЕРАТОР ДНГ / РЕГЛАМЕНТ ВНР</a:t>
            </a:r>
          </a:p>
        </p:txBody>
      </p:sp>
      <p:sp>
        <p:nvSpPr>
          <p:cNvPr id="19" name="!!Footer"/>
          <p:cNvSpPr txBox="1"/>
          <p:nvPr/>
        </p:nvSpPr>
        <p:spPr>
          <a:xfrm>
            <a:off x="685800" y="6381750"/>
            <a:ext cx="10096500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975" b="0">
                <a:solidFill>
                  <a:srgbClr val="FFFFFF"/>
                </a:solidFill>
                <a:latin typeface="Arial"/>
              </a:defRPr>
            </a:pPr>
            <a:r>
              <a:t>ООО «РН-Юганскнефтегаз» · проект для обсуждения</a:t>
            </a:r>
          </a:p>
        </p:txBody>
      </p:sp>
      <p:sp>
        <p:nvSpPr>
          <p:cNvPr id="20" name="SlideNumber"/>
          <p:cNvSpPr txBox="1"/>
          <p:nvPr/>
        </p:nvSpPr>
        <p:spPr>
          <a:xfrm>
            <a:off x="11096625" y="6381750"/>
            <a:ext cx="523874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975" b="0">
                <a:solidFill>
                  <a:srgbClr val="FFFFFF"/>
                </a:solidFill>
                <a:latin typeface="Arial"/>
              </a:defRPr>
            </a:pPr>
            <a:r>
              <a:t>13</a:t>
            </a:r>
          </a:p>
        </p:txBody>
      </p:sp>
      <p:sp>
        <p:nvSpPr>
          <p:cNvPr id="21" name="!!BackToOverview">
            <a:hlinkClick action="ppaction://hlinksldjump" r:id="rId7"/>
          </p:cNvPr>
          <p:cNvSpPr txBox="1"/>
          <p:nvPr/>
        </p:nvSpPr>
        <p:spPr>
          <a:xfrm>
            <a:off x="9620250" y="838200"/>
            <a:ext cx="19050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125" b="0">
                <a:solidFill>
                  <a:srgbClr val="FFCD00"/>
                </a:solidFill>
                <a:latin typeface="Arial"/>
              </a:defRPr>
            </a:pPr>
            <a:r>
              <a:t>← Все инструменты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 xmlns:p14="http://schemas.microsoft.com/office/powerpoint/2010/main">
    <mc:Choice Requires="p159">
      <p:transition advClick="1" spd="slow" p14:dur="1400">
        <p159:morph option="byObject"/>
      </p:transition>
    </mc:Choice>
    <mc:Fallback>
      <p:transition advClick="1" spd="slow">
        <p:push dir="l"/>
      </p:transition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Panel0"/>
          <p:cNvSpPr/>
          <p:nvPr/>
        </p:nvSpPr>
        <p:spPr>
          <a:xfrm>
            <a:off x="13335000" y="1428750"/>
            <a:ext cx="2571750" cy="466725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" name="!!PanelImage0" descr="manual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3839825" y="2619375"/>
            <a:ext cx="1562100" cy="3381375"/>
          </a:xfrm>
          <a:prstGeom prst="rect">
            <a:avLst/>
          </a:prstGeom>
        </p:spPr>
      </p:pic>
      <p:sp>
        <p:nvSpPr>
          <p:cNvPr id="4" name="!!PanelTitle0"/>
          <p:cNvSpPr txBox="1"/>
          <p:nvPr/>
        </p:nvSpPr>
        <p:spPr>
          <a:xfrm>
            <a:off x="13430250" y="1504950"/>
            <a:ext cx="2381250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050" b="0">
                <a:solidFill>
                  <a:srgbClr val="000000"/>
                </a:solidFill>
                <a:latin typeface="Arial"/>
              </a:defRPr>
            </a:pPr>
          </a:p>
        </p:txBody>
      </p:sp>
      <p:sp>
        <p:nvSpPr>
          <p:cNvPr id="5" name="!!Panel1"/>
          <p:cNvSpPr/>
          <p:nvPr/>
        </p:nvSpPr>
        <p:spPr>
          <a:xfrm>
            <a:off x="16097250" y="1428750"/>
            <a:ext cx="2571750" cy="466725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6" name="!!PanelImage1" descr="ped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6602075" y="2619375"/>
            <a:ext cx="1562100" cy="3381375"/>
          </a:xfrm>
          <a:prstGeom prst="rect">
            <a:avLst/>
          </a:prstGeom>
        </p:spPr>
      </p:pic>
      <p:sp>
        <p:nvSpPr>
          <p:cNvPr id="7" name="!!PanelTitle1"/>
          <p:cNvSpPr txBox="1"/>
          <p:nvPr/>
        </p:nvSpPr>
        <p:spPr>
          <a:xfrm>
            <a:off x="16192499" y="1504950"/>
            <a:ext cx="2381250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050" b="0">
                <a:solidFill>
                  <a:srgbClr val="000000"/>
                </a:solidFill>
                <a:latin typeface="Arial"/>
              </a:defRPr>
            </a:pPr>
          </a:p>
        </p:txBody>
      </p:sp>
      <p:sp>
        <p:nvSpPr>
          <p:cNvPr id="8" name="!!Panel2"/>
          <p:cNvSpPr/>
          <p:nvPr/>
        </p:nvSpPr>
        <p:spPr>
          <a:xfrm>
            <a:off x="18859500" y="1428750"/>
            <a:ext cx="2571750" cy="466725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!!PanelImage2" descr="ramp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9364325" y="2619375"/>
            <a:ext cx="1562100" cy="3381375"/>
          </a:xfrm>
          <a:prstGeom prst="rect">
            <a:avLst/>
          </a:prstGeom>
        </p:spPr>
      </p:pic>
      <p:sp>
        <p:nvSpPr>
          <p:cNvPr id="10" name="!!PanelTitle2"/>
          <p:cNvSpPr txBox="1"/>
          <p:nvPr/>
        </p:nvSpPr>
        <p:spPr>
          <a:xfrm>
            <a:off x="18954750" y="1504950"/>
            <a:ext cx="2381250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050" b="0">
                <a:solidFill>
                  <a:srgbClr val="000000"/>
                </a:solidFill>
                <a:latin typeface="Arial"/>
              </a:defRPr>
            </a:pPr>
          </a:p>
        </p:txBody>
      </p:sp>
      <p:sp>
        <p:nvSpPr>
          <p:cNvPr id="11" name="!!Panel3"/>
          <p:cNvSpPr/>
          <p:nvPr/>
        </p:nvSpPr>
        <p:spPr>
          <a:xfrm>
            <a:off x="6191250" y="1619250"/>
            <a:ext cx="5334000" cy="409575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2" name="!!PanelImage3" descr="vnr.png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rcRect b="62000"/>
          <a:stretch>
            <a:fillRect/>
          </a:stretch>
        </p:blipFill>
        <p:spPr>
          <a:xfrm>
            <a:off x="6410325" y="1828800"/>
            <a:ext cx="4895850" cy="3667125"/>
          </a:xfrm>
          <a:prstGeom prst="rect">
            <a:avLst/>
          </a:prstGeom>
        </p:spPr>
      </p:pic>
      <p:sp>
        <p:nvSpPr>
          <p:cNvPr id="13" name="!!PanelTitle3"/>
          <p:cNvSpPr txBox="1"/>
          <p:nvPr/>
        </p:nvSpPr>
        <p:spPr>
          <a:xfrm>
            <a:off x="6286500" y="1695450"/>
            <a:ext cx="5143500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050" b="0">
                <a:solidFill>
                  <a:srgbClr val="000000"/>
                </a:solidFill>
                <a:latin typeface="Arial"/>
              </a:defRPr>
            </a:pPr>
          </a:p>
        </p:txBody>
      </p:sp>
      <p:sp>
        <p:nvSpPr>
          <p:cNvPr id="14" name="!!Headline"/>
          <p:cNvSpPr txBox="1"/>
          <p:nvPr/>
        </p:nvSpPr>
        <p:spPr>
          <a:xfrm>
            <a:off x="685800" y="1476375"/>
            <a:ext cx="5429250" cy="1619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3225" b="1">
                <a:solidFill>
                  <a:srgbClr val="FFFFFF"/>
                </a:solidFill>
                <a:latin typeface="Arial"/>
              </a:defRPr>
            </a:pPr>
            <a:r>
              <a:t>Найти.</a:t>
            </a:r>
          </a:p>
          <a:p>
            <a:pPr>
              <a:lnSpc>
                <a:spcPct val="104000"/>
              </a:lnSpc>
              <a:spcAft>
                <a:spcPts val="700"/>
              </a:spcAft>
              <a:defRPr sz="3225" b="1">
                <a:solidFill>
                  <a:srgbClr val="FFFFFF"/>
                </a:solidFill>
                <a:latin typeface="Arial"/>
              </a:defRPr>
            </a:pPr>
            <a:r>
              <a:t>Сохранить. Вернуться.</a:t>
            </a:r>
          </a:p>
        </p:txBody>
      </p:sp>
      <p:sp>
        <p:nvSpPr>
          <p:cNvPr id="15" name="Block_14"/>
          <p:cNvSpPr/>
          <p:nvPr/>
        </p:nvSpPr>
        <p:spPr>
          <a:xfrm>
            <a:off x="723900" y="4305300"/>
            <a:ext cx="38100" cy="228600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ow0"/>
          <p:cNvSpPr txBox="1"/>
          <p:nvPr/>
        </p:nvSpPr>
        <p:spPr>
          <a:xfrm>
            <a:off x="933449" y="4238625"/>
            <a:ext cx="5238750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725" b="0">
                <a:solidFill>
                  <a:srgbClr val="FFFFFF"/>
                </a:solidFill>
                <a:latin typeface="Arial"/>
              </a:defRPr>
            </a:pPr>
            <a:r>
              <a:t>Поиск с подсветкой</a:t>
            </a:r>
          </a:p>
        </p:txBody>
      </p:sp>
      <p:sp>
        <p:nvSpPr>
          <p:cNvPr id="17" name="Block_16"/>
          <p:cNvSpPr/>
          <p:nvPr/>
        </p:nvSpPr>
        <p:spPr>
          <a:xfrm>
            <a:off x="723900" y="4857750"/>
            <a:ext cx="38100" cy="228600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Row1"/>
          <p:cNvSpPr txBox="1"/>
          <p:nvPr/>
        </p:nvSpPr>
        <p:spPr>
          <a:xfrm>
            <a:off x="933449" y="4791075"/>
            <a:ext cx="5238750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725" b="0">
                <a:solidFill>
                  <a:srgbClr val="FFFFFF"/>
                </a:solidFill>
                <a:latin typeface="Arial"/>
              </a:defRPr>
            </a:pPr>
            <a:r>
              <a:t>Переходы по совпадениям и ссылкам</a:t>
            </a:r>
          </a:p>
        </p:txBody>
      </p:sp>
      <p:sp>
        <p:nvSpPr>
          <p:cNvPr id="19" name="Block_18"/>
          <p:cNvSpPr/>
          <p:nvPr/>
        </p:nvSpPr>
        <p:spPr>
          <a:xfrm>
            <a:off x="723900" y="5410200"/>
            <a:ext cx="38100" cy="228600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ow2"/>
          <p:cNvSpPr txBox="1"/>
          <p:nvPr/>
        </p:nvSpPr>
        <p:spPr>
          <a:xfrm>
            <a:off x="933449" y="5343525"/>
            <a:ext cx="5238750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725" b="0">
                <a:solidFill>
                  <a:srgbClr val="FFFFFF"/>
                </a:solidFill>
                <a:latin typeface="Arial"/>
              </a:defRPr>
            </a:pPr>
            <a:r>
              <a:t>Закладки для быстрого возврата</a:t>
            </a:r>
          </a:p>
        </p:txBody>
      </p:sp>
      <p:sp>
        <p:nvSpPr>
          <p:cNvPr id="21" name="!!Rule"/>
          <p:cNvSpPr/>
          <p:nvPr/>
        </p:nvSpPr>
        <p:spPr>
          <a:xfrm>
            <a:off x="666750" y="590550"/>
            <a:ext cx="10858500" cy="38100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!!Section"/>
          <p:cNvSpPr txBox="1"/>
          <p:nvPr/>
        </p:nvSpPr>
        <p:spPr>
          <a:xfrm>
            <a:off x="685800" y="828675"/>
            <a:ext cx="102870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ОПЕРАТОР ДНГ / РЕГЛАМЕНТ ВНР</a:t>
            </a:r>
          </a:p>
        </p:txBody>
      </p:sp>
      <p:sp>
        <p:nvSpPr>
          <p:cNvPr id="23" name="!!Footer"/>
          <p:cNvSpPr txBox="1"/>
          <p:nvPr/>
        </p:nvSpPr>
        <p:spPr>
          <a:xfrm>
            <a:off x="685800" y="6381750"/>
            <a:ext cx="10096500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975" b="0">
                <a:solidFill>
                  <a:srgbClr val="FFFFFF"/>
                </a:solidFill>
                <a:latin typeface="Arial"/>
              </a:defRPr>
            </a:pPr>
            <a:r>
              <a:t>ООО «РН-Юганскнефтегаз» · проект для обсуждения</a:t>
            </a:r>
          </a:p>
        </p:txBody>
      </p:sp>
      <p:sp>
        <p:nvSpPr>
          <p:cNvPr id="24" name="SlideNumber"/>
          <p:cNvSpPr txBox="1"/>
          <p:nvPr/>
        </p:nvSpPr>
        <p:spPr>
          <a:xfrm>
            <a:off x="11096625" y="6381750"/>
            <a:ext cx="523874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975" b="0">
                <a:solidFill>
                  <a:srgbClr val="FFFFFF"/>
                </a:solidFill>
                <a:latin typeface="Arial"/>
              </a:defRPr>
            </a:pPr>
            <a:r>
              <a:t>14</a:t>
            </a:r>
          </a:p>
        </p:txBody>
      </p:sp>
      <p:sp>
        <p:nvSpPr>
          <p:cNvPr id="25" name="!!BackToOverview">
            <a:hlinkClick action="ppaction://hlinksldjump" r:id="rId7"/>
          </p:cNvPr>
          <p:cNvSpPr txBox="1"/>
          <p:nvPr/>
        </p:nvSpPr>
        <p:spPr>
          <a:xfrm>
            <a:off x="9620250" y="838200"/>
            <a:ext cx="19050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125" b="0">
                <a:solidFill>
                  <a:srgbClr val="FFCD00"/>
                </a:solidFill>
                <a:latin typeface="Arial"/>
              </a:defRPr>
            </a:pPr>
            <a:r>
              <a:t>← Все инструменты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 xmlns:p14="http://schemas.microsoft.com/office/powerpoint/2010/main">
    <mc:Choice Requires="p159">
      <p:transition advClick="1" spd="slow" p14:dur="1400">
        <p159:morph option="byObject"/>
      </p:transition>
    </mc:Choice>
    <mc:Fallback>
      <p:transition advClick="1" spd="slow">
        <p:push dir="l"/>
      </p:transition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Panel0"/>
          <p:cNvSpPr/>
          <p:nvPr/>
        </p:nvSpPr>
        <p:spPr>
          <a:xfrm>
            <a:off x="13335000" y="1428750"/>
            <a:ext cx="2571750" cy="466725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" name="!!PanelImage0" descr="manual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3839825" y="2619375"/>
            <a:ext cx="1562100" cy="3381375"/>
          </a:xfrm>
          <a:prstGeom prst="rect">
            <a:avLst/>
          </a:prstGeom>
        </p:spPr>
      </p:pic>
      <p:sp>
        <p:nvSpPr>
          <p:cNvPr id="4" name="!!PanelTitle0"/>
          <p:cNvSpPr txBox="1"/>
          <p:nvPr/>
        </p:nvSpPr>
        <p:spPr>
          <a:xfrm>
            <a:off x="13430250" y="1504950"/>
            <a:ext cx="2381250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050" b="0">
                <a:solidFill>
                  <a:srgbClr val="000000"/>
                </a:solidFill>
                <a:latin typeface="Arial"/>
              </a:defRPr>
            </a:pPr>
          </a:p>
        </p:txBody>
      </p:sp>
      <p:sp>
        <p:nvSpPr>
          <p:cNvPr id="5" name="!!Panel1"/>
          <p:cNvSpPr/>
          <p:nvPr/>
        </p:nvSpPr>
        <p:spPr>
          <a:xfrm>
            <a:off x="16097250" y="1428750"/>
            <a:ext cx="2571750" cy="466725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6" name="!!PanelImage1" descr="ped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6602075" y="2619375"/>
            <a:ext cx="1562100" cy="3381375"/>
          </a:xfrm>
          <a:prstGeom prst="rect">
            <a:avLst/>
          </a:prstGeom>
        </p:spPr>
      </p:pic>
      <p:sp>
        <p:nvSpPr>
          <p:cNvPr id="7" name="!!PanelTitle1"/>
          <p:cNvSpPr txBox="1"/>
          <p:nvPr/>
        </p:nvSpPr>
        <p:spPr>
          <a:xfrm>
            <a:off x="16192499" y="1504950"/>
            <a:ext cx="2381250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050" b="0">
                <a:solidFill>
                  <a:srgbClr val="000000"/>
                </a:solidFill>
                <a:latin typeface="Arial"/>
              </a:defRPr>
            </a:pPr>
          </a:p>
        </p:txBody>
      </p:sp>
      <p:sp>
        <p:nvSpPr>
          <p:cNvPr id="8" name="!!Panel2"/>
          <p:cNvSpPr/>
          <p:nvPr/>
        </p:nvSpPr>
        <p:spPr>
          <a:xfrm>
            <a:off x="18859500" y="1428750"/>
            <a:ext cx="2571750" cy="466725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!!PanelImage2" descr="ramp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9364325" y="2619375"/>
            <a:ext cx="1562100" cy="3381375"/>
          </a:xfrm>
          <a:prstGeom prst="rect">
            <a:avLst/>
          </a:prstGeom>
        </p:spPr>
      </p:pic>
      <p:sp>
        <p:nvSpPr>
          <p:cNvPr id="10" name="!!PanelTitle2"/>
          <p:cNvSpPr txBox="1"/>
          <p:nvPr/>
        </p:nvSpPr>
        <p:spPr>
          <a:xfrm>
            <a:off x="18954750" y="1504950"/>
            <a:ext cx="2381250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050" b="0">
                <a:solidFill>
                  <a:srgbClr val="000000"/>
                </a:solidFill>
                <a:latin typeface="Arial"/>
              </a:defRPr>
            </a:pPr>
          </a:p>
        </p:txBody>
      </p:sp>
      <p:sp>
        <p:nvSpPr>
          <p:cNvPr id="11" name="!!Panel3"/>
          <p:cNvSpPr/>
          <p:nvPr/>
        </p:nvSpPr>
        <p:spPr>
          <a:xfrm>
            <a:off x="21621750" y="1428750"/>
            <a:ext cx="2571750" cy="466725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2" name="!!PanelImage3" descr="vnr.pn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22126575" y="2619375"/>
            <a:ext cx="1562100" cy="3381375"/>
          </a:xfrm>
          <a:prstGeom prst="rect">
            <a:avLst/>
          </a:prstGeom>
        </p:spPr>
      </p:pic>
      <p:sp>
        <p:nvSpPr>
          <p:cNvPr id="13" name="!!PanelTitle3"/>
          <p:cNvSpPr txBox="1"/>
          <p:nvPr/>
        </p:nvSpPr>
        <p:spPr>
          <a:xfrm>
            <a:off x="21717000" y="1504950"/>
            <a:ext cx="2381250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050" b="0">
                <a:solidFill>
                  <a:srgbClr val="000000"/>
                </a:solidFill>
                <a:latin typeface="Arial"/>
              </a:defRPr>
            </a:pPr>
          </a:p>
        </p:txBody>
      </p:sp>
      <p:sp>
        <p:nvSpPr>
          <p:cNvPr id="14" name="!!Headline"/>
          <p:cNvSpPr txBox="1"/>
          <p:nvPr/>
        </p:nvSpPr>
        <p:spPr>
          <a:xfrm>
            <a:off x="685800" y="1476375"/>
            <a:ext cx="6477000" cy="1619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4050" b="1">
                <a:solidFill>
                  <a:srgbClr val="FFFFFF"/>
                </a:solidFill>
                <a:latin typeface="Arial"/>
              </a:defRPr>
            </a:pPr>
            <a:r>
              <a:t>Больше рабочих</a:t>
            </a:r>
          </a:p>
          <a:p>
            <a:pPr>
              <a:lnSpc>
                <a:spcPct val="104000"/>
              </a:lnSpc>
              <a:spcAft>
                <a:spcPts val="700"/>
              </a:spcAft>
              <a:defRPr sz="4050" b="1">
                <a:solidFill>
                  <a:srgbClr val="FFFFFF"/>
                </a:solidFill>
                <a:latin typeface="Arial"/>
              </a:defRPr>
            </a:pPr>
            <a:r>
              <a:t>инструментов.</a:t>
            </a:r>
          </a:p>
        </p:txBody>
      </p:sp>
      <p:sp>
        <p:nvSpPr>
          <p:cNvPr id="15" name="Text_14"/>
          <p:cNvSpPr txBox="1"/>
          <p:nvPr/>
        </p:nvSpPr>
        <p:spPr>
          <a:xfrm>
            <a:off x="723900" y="3000375"/>
            <a:ext cx="6191250" cy="619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800" b="0">
                <a:solidFill>
                  <a:srgbClr val="B7B7B7"/>
                </a:solidFill>
                <a:latin typeface="Arial"/>
              </a:defRPr>
            </a:pPr>
            <a:r>
              <a:t>Для опытного оператора</a:t>
            </a:r>
          </a:p>
          <a:p>
            <a:pPr>
              <a:lnSpc>
                <a:spcPct val="104000"/>
              </a:lnSpc>
              <a:spcAft>
                <a:spcPts val="700"/>
              </a:spcAft>
              <a:defRPr sz="1800" b="0">
                <a:solidFill>
                  <a:srgbClr val="B7B7B7"/>
                </a:solidFill>
                <a:latin typeface="Arial"/>
              </a:defRPr>
            </a:pPr>
            <a:r>
              <a:t>и обучения новичка</a:t>
            </a:r>
          </a:p>
        </p:txBody>
      </p:sp>
      <p:sp>
        <p:nvSpPr>
          <p:cNvPr id="16" name="Block_15"/>
          <p:cNvSpPr/>
          <p:nvPr/>
        </p:nvSpPr>
        <p:spPr>
          <a:xfrm>
            <a:off x="723900" y="3781425"/>
            <a:ext cx="38100" cy="228600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Row0"/>
          <p:cNvSpPr txBox="1"/>
          <p:nvPr/>
        </p:nvSpPr>
        <p:spPr>
          <a:xfrm>
            <a:off x="933449" y="3714750"/>
            <a:ext cx="6048375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875" b="0">
                <a:solidFill>
                  <a:srgbClr val="FFFFFF"/>
                </a:solidFill>
                <a:latin typeface="Arial"/>
              </a:defRPr>
            </a:pPr>
            <a:r>
              <a:t>Уровень, частота и приток</a:t>
            </a:r>
          </a:p>
        </p:txBody>
      </p:sp>
      <p:sp>
        <p:nvSpPr>
          <p:cNvPr id="18" name="Block_17"/>
          <p:cNvSpPr/>
          <p:nvPr/>
        </p:nvSpPr>
        <p:spPr>
          <a:xfrm>
            <a:off x="723900" y="4410075"/>
            <a:ext cx="38100" cy="228600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Row1"/>
          <p:cNvSpPr txBox="1"/>
          <p:nvPr/>
        </p:nvSpPr>
        <p:spPr>
          <a:xfrm>
            <a:off x="933449" y="4343400"/>
            <a:ext cx="6048375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875" b="0">
                <a:solidFill>
                  <a:srgbClr val="FFFFFF"/>
                </a:solidFill>
                <a:latin typeface="Arial"/>
              </a:defRPr>
            </a:pPr>
            <a:r>
              <a:t>Потенциал, РПД, коэффициент 2А</a:t>
            </a:r>
          </a:p>
        </p:txBody>
      </p:sp>
      <p:sp>
        <p:nvSpPr>
          <p:cNvPr id="20" name="Block_19"/>
          <p:cNvSpPr/>
          <p:nvPr/>
        </p:nvSpPr>
        <p:spPr>
          <a:xfrm>
            <a:off x="723900" y="5038725"/>
            <a:ext cx="38100" cy="228600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Row2"/>
          <p:cNvSpPr txBox="1"/>
          <p:nvPr/>
        </p:nvSpPr>
        <p:spPr>
          <a:xfrm>
            <a:off x="933449" y="4972050"/>
            <a:ext cx="6048375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875" b="0">
                <a:solidFill>
                  <a:srgbClr val="FFFFFF"/>
                </a:solidFill>
                <a:latin typeface="Arial"/>
              </a:defRPr>
            </a:pPr>
            <a:r>
              <a:t>Отпайка и помощник оператора</a:t>
            </a:r>
          </a:p>
        </p:txBody>
      </p:sp>
      <p:pic>
        <p:nvPicPr>
          <p:cNvPr id="22" name="!!Tool0" descr="tap.png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7524749" y="1476375"/>
            <a:ext cx="1857375" cy="4019549"/>
          </a:xfrm>
          <a:prstGeom prst="rect">
            <a:avLst/>
          </a:prstGeom>
        </p:spPr>
      </p:pic>
      <p:pic>
        <p:nvPicPr>
          <p:cNvPr id="23" name="!!Tool1" descr="technologist.png"/>
          <p:cNvPicPr>
            <a:picLocks noChangeAspect="1"/>
          </p:cNvPicPr>
          <p:nvPr/>
        </p:nvPicPr>
        <p:blipFill>
          <a:blip r:embed="rId7"/>
          <a:srcRect l="17" r="17"/>
          <a:stretch>
            <a:fillRect/>
          </a:stretch>
        </p:blipFill>
        <p:spPr>
          <a:xfrm>
            <a:off x="9620250" y="2238375"/>
            <a:ext cx="1733550" cy="3752850"/>
          </a:xfrm>
          <a:prstGeom prst="rect">
            <a:avLst/>
          </a:prstGeom>
        </p:spPr>
      </p:pic>
      <p:sp>
        <p:nvSpPr>
          <p:cNvPr id="24" name="!!Rule"/>
          <p:cNvSpPr/>
          <p:nvPr/>
        </p:nvSpPr>
        <p:spPr>
          <a:xfrm>
            <a:off x="666750" y="590550"/>
            <a:ext cx="10858500" cy="38100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!!Section"/>
          <p:cNvSpPr txBox="1"/>
          <p:nvPr/>
        </p:nvSpPr>
        <p:spPr>
          <a:xfrm>
            <a:off x="685800" y="828675"/>
            <a:ext cx="102870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ОПЕРАТОР ДНГ / РАБОЧИЙ НАБОР</a:t>
            </a:r>
          </a:p>
        </p:txBody>
      </p:sp>
      <p:sp>
        <p:nvSpPr>
          <p:cNvPr id="26" name="!!Footer"/>
          <p:cNvSpPr txBox="1"/>
          <p:nvPr/>
        </p:nvSpPr>
        <p:spPr>
          <a:xfrm>
            <a:off x="685800" y="6381750"/>
            <a:ext cx="10096500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975" b="0">
                <a:solidFill>
                  <a:srgbClr val="FFFFFF"/>
                </a:solidFill>
                <a:latin typeface="Arial"/>
              </a:defRPr>
            </a:pPr>
            <a:r>
              <a:t>ООО «РН-Юганскнефтегаз» · проект для обсуждения</a:t>
            </a:r>
          </a:p>
        </p:txBody>
      </p:sp>
      <p:sp>
        <p:nvSpPr>
          <p:cNvPr id="27" name="SlideNumber"/>
          <p:cNvSpPr txBox="1"/>
          <p:nvPr/>
        </p:nvSpPr>
        <p:spPr>
          <a:xfrm>
            <a:off x="11096625" y="6381750"/>
            <a:ext cx="523874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975" b="0">
                <a:solidFill>
                  <a:srgbClr val="FFFFFF"/>
                </a:solidFill>
                <a:latin typeface="Arial"/>
              </a:defRPr>
            </a:pPr>
            <a:r>
              <a:t>15</a:t>
            </a:r>
          </a:p>
        </p:txBody>
      </p:sp>
      <p:sp>
        <p:nvSpPr>
          <p:cNvPr id="28" name="!!BackToOverview">
            <a:hlinkClick action="ppaction://hlinksldjump" r:id="rId9"/>
          </p:cNvPr>
          <p:cNvSpPr txBox="1"/>
          <p:nvPr/>
        </p:nvSpPr>
        <p:spPr>
          <a:xfrm>
            <a:off x="9620250" y="838200"/>
            <a:ext cx="19050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125" b="0">
                <a:solidFill>
                  <a:srgbClr val="FFCD00"/>
                </a:solidFill>
                <a:latin typeface="Arial"/>
              </a:defRPr>
            </a:pPr>
            <a:r>
              <a:t>← Все инструменты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 xmlns:p14="http://schemas.microsoft.com/office/powerpoint/2010/main">
    <mc:Choice Requires="p159">
      <p:transition advClick="1" spd="slow" p14:dur="1400">
        <p159:morph option="byObject"/>
      </p:transition>
    </mc:Choice>
    <mc:Fallback>
      <p:transition advClick="1" spd="slow">
        <p:push dir="l"/>
      </p:transition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Panel0"/>
          <p:cNvSpPr/>
          <p:nvPr/>
        </p:nvSpPr>
        <p:spPr>
          <a:xfrm>
            <a:off x="13335000" y="1428750"/>
            <a:ext cx="2571750" cy="466725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" name="!!PanelImage0" descr="manual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3839825" y="2619375"/>
            <a:ext cx="1562100" cy="3381375"/>
          </a:xfrm>
          <a:prstGeom prst="rect">
            <a:avLst/>
          </a:prstGeom>
        </p:spPr>
      </p:pic>
      <p:sp>
        <p:nvSpPr>
          <p:cNvPr id="4" name="!!PanelTitle0"/>
          <p:cNvSpPr txBox="1"/>
          <p:nvPr/>
        </p:nvSpPr>
        <p:spPr>
          <a:xfrm>
            <a:off x="13430250" y="1504950"/>
            <a:ext cx="2381250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050" b="0">
                <a:solidFill>
                  <a:srgbClr val="000000"/>
                </a:solidFill>
                <a:latin typeface="Arial"/>
              </a:defRPr>
            </a:pPr>
          </a:p>
        </p:txBody>
      </p:sp>
      <p:sp>
        <p:nvSpPr>
          <p:cNvPr id="5" name="!!Panel1"/>
          <p:cNvSpPr/>
          <p:nvPr/>
        </p:nvSpPr>
        <p:spPr>
          <a:xfrm>
            <a:off x="16097250" y="1428750"/>
            <a:ext cx="2571750" cy="466725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6" name="!!PanelImage1" descr="ped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6602075" y="2619375"/>
            <a:ext cx="1562100" cy="3381375"/>
          </a:xfrm>
          <a:prstGeom prst="rect">
            <a:avLst/>
          </a:prstGeom>
        </p:spPr>
      </p:pic>
      <p:sp>
        <p:nvSpPr>
          <p:cNvPr id="7" name="!!PanelTitle1"/>
          <p:cNvSpPr txBox="1"/>
          <p:nvPr/>
        </p:nvSpPr>
        <p:spPr>
          <a:xfrm>
            <a:off x="16192499" y="1504950"/>
            <a:ext cx="2381250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050" b="0">
                <a:solidFill>
                  <a:srgbClr val="000000"/>
                </a:solidFill>
                <a:latin typeface="Arial"/>
              </a:defRPr>
            </a:pPr>
          </a:p>
        </p:txBody>
      </p:sp>
      <p:sp>
        <p:nvSpPr>
          <p:cNvPr id="8" name="!!Panel2"/>
          <p:cNvSpPr/>
          <p:nvPr/>
        </p:nvSpPr>
        <p:spPr>
          <a:xfrm>
            <a:off x="18859500" y="1428750"/>
            <a:ext cx="2571750" cy="466725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!!PanelImage2" descr="ramp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9364325" y="2619375"/>
            <a:ext cx="1562100" cy="3381375"/>
          </a:xfrm>
          <a:prstGeom prst="rect">
            <a:avLst/>
          </a:prstGeom>
        </p:spPr>
      </p:pic>
      <p:sp>
        <p:nvSpPr>
          <p:cNvPr id="10" name="!!PanelTitle2"/>
          <p:cNvSpPr txBox="1"/>
          <p:nvPr/>
        </p:nvSpPr>
        <p:spPr>
          <a:xfrm>
            <a:off x="18954750" y="1504950"/>
            <a:ext cx="2381250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050" b="0">
                <a:solidFill>
                  <a:srgbClr val="000000"/>
                </a:solidFill>
                <a:latin typeface="Arial"/>
              </a:defRPr>
            </a:pPr>
          </a:p>
        </p:txBody>
      </p:sp>
      <p:sp>
        <p:nvSpPr>
          <p:cNvPr id="11" name="!!Panel3"/>
          <p:cNvSpPr/>
          <p:nvPr/>
        </p:nvSpPr>
        <p:spPr>
          <a:xfrm>
            <a:off x="21621750" y="1428750"/>
            <a:ext cx="2571750" cy="466725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2" name="!!PanelImage3" descr="vnr.pn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22126575" y="2619375"/>
            <a:ext cx="1562100" cy="3381375"/>
          </a:xfrm>
          <a:prstGeom prst="rect">
            <a:avLst/>
          </a:prstGeom>
        </p:spPr>
      </p:pic>
      <p:sp>
        <p:nvSpPr>
          <p:cNvPr id="13" name="!!PanelTitle3"/>
          <p:cNvSpPr txBox="1"/>
          <p:nvPr/>
        </p:nvSpPr>
        <p:spPr>
          <a:xfrm>
            <a:off x="21717000" y="1504950"/>
            <a:ext cx="2381250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050" b="0">
                <a:solidFill>
                  <a:srgbClr val="000000"/>
                </a:solidFill>
                <a:latin typeface="Arial"/>
              </a:defRPr>
            </a:pPr>
          </a:p>
        </p:txBody>
      </p:sp>
      <p:sp>
        <p:nvSpPr>
          <p:cNvPr id="14" name="!!Headline"/>
          <p:cNvSpPr txBox="1"/>
          <p:nvPr/>
        </p:nvSpPr>
        <p:spPr>
          <a:xfrm>
            <a:off x="685800" y="1476375"/>
            <a:ext cx="10763250" cy="1619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4200" b="1">
                <a:solidFill>
                  <a:srgbClr val="FFFFFF"/>
                </a:solidFill>
                <a:latin typeface="Arial"/>
              </a:defRPr>
            </a:pPr>
            <a:r>
              <a:t>На чём основан проект.</a:t>
            </a:r>
          </a:p>
        </p:txBody>
      </p:sp>
      <p:sp>
        <p:nvSpPr>
          <p:cNvPr id="15" name="Block_14"/>
          <p:cNvSpPr/>
          <p:nvPr/>
        </p:nvSpPr>
        <p:spPr>
          <a:xfrm>
            <a:off x="762000" y="3333750"/>
            <a:ext cx="3238500" cy="38100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_15"/>
          <p:cNvSpPr txBox="1"/>
          <p:nvPr/>
        </p:nvSpPr>
        <p:spPr>
          <a:xfrm>
            <a:off x="762000" y="3714750"/>
            <a:ext cx="3238500" cy="666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2700" b="1">
                <a:solidFill>
                  <a:srgbClr val="FFCD00"/>
                </a:solidFill>
                <a:latin typeface="Arial"/>
              </a:defRPr>
            </a:pPr>
            <a:r>
              <a:t>Формулы</a:t>
            </a:r>
          </a:p>
        </p:txBody>
      </p:sp>
      <p:sp>
        <p:nvSpPr>
          <p:cNvPr id="17" name="Text_16"/>
          <p:cNvSpPr txBox="1"/>
          <p:nvPr/>
        </p:nvSpPr>
        <p:spPr>
          <a:xfrm>
            <a:off x="762000" y="4714875"/>
            <a:ext cx="3238500" cy="1333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950" b="0">
                <a:solidFill>
                  <a:srgbClr val="FFFFFF"/>
                </a:solidFill>
                <a:latin typeface="Arial"/>
              </a:defRPr>
            </a:pPr>
            <a:r>
              <a:t>Android-эталон.</a:t>
            </a:r>
          </a:p>
          <a:p>
            <a:pPr>
              <a:lnSpc>
                <a:spcPct val="104000"/>
              </a:lnSpc>
              <a:spcAft>
                <a:spcPts val="700"/>
              </a:spcAft>
              <a:defRPr sz="1950" b="0">
                <a:solidFill>
                  <a:srgbClr val="FFFFFF"/>
                </a:solidFill>
                <a:latin typeface="Arial"/>
              </a:defRPr>
            </a:pPr>
            <a:r>
              <a:t>Исходные расчёты</a:t>
            </a:r>
          </a:p>
          <a:p>
            <a:pPr>
              <a:lnSpc>
                <a:spcPct val="104000"/>
              </a:lnSpc>
              <a:spcAft>
                <a:spcPts val="700"/>
              </a:spcAft>
              <a:defRPr sz="1950" b="0">
                <a:solidFill>
                  <a:srgbClr val="FFFFFF"/>
                </a:solidFill>
                <a:latin typeface="Arial"/>
              </a:defRPr>
            </a:pPr>
            <a:r>
              <a:t>и единицы измерения.</a:t>
            </a:r>
          </a:p>
        </p:txBody>
      </p:sp>
      <p:sp>
        <p:nvSpPr>
          <p:cNvPr id="18" name="Block_17"/>
          <p:cNvSpPr/>
          <p:nvPr/>
        </p:nvSpPr>
        <p:spPr>
          <a:xfrm>
            <a:off x="4476750" y="3333750"/>
            <a:ext cx="3238500" cy="38100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_18"/>
          <p:cNvSpPr txBox="1"/>
          <p:nvPr/>
        </p:nvSpPr>
        <p:spPr>
          <a:xfrm>
            <a:off x="4476750" y="3714750"/>
            <a:ext cx="3238500" cy="666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2700" b="1">
                <a:solidFill>
                  <a:srgbClr val="FFCD00"/>
                </a:solidFill>
                <a:latin typeface="Arial"/>
              </a:defRPr>
            </a:pPr>
            <a:r>
              <a:t>Документы</a:t>
            </a:r>
          </a:p>
        </p:txBody>
      </p:sp>
      <p:sp>
        <p:nvSpPr>
          <p:cNvPr id="20" name="Text_19"/>
          <p:cNvSpPr txBox="1"/>
          <p:nvPr/>
        </p:nvSpPr>
        <p:spPr>
          <a:xfrm>
            <a:off x="4476750" y="4714875"/>
            <a:ext cx="3238500" cy="1333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950" b="0">
                <a:solidFill>
                  <a:srgbClr val="FFFFFF"/>
                </a:solidFill>
                <a:latin typeface="Arial"/>
              </a:defRPr>
            </a:pPr>
            <a:r>
              <a:t>Доступный регламент ВНР.</a:t>
            </a:r>
          </a:p>
          <a:p>
            <a:pPr>
              <a:lnSpc>
                <a:spcPct val="104000"/>
              </a:lnSpc>
              <a:spcAft>
                <a:spcPts val="700"/>
              </a:spcAft>
              <a:defRPr sz="1950" b="0">
                <a:solidFill>
                  <a:srgbClr val="FFFFFF"/>
                </a:solidFill>
                <a:latin typeface="Arial"/>
              </a:defRPr>
            </a:pPr>
            <a:r>
              <a:t>Материалы ПБ и ОТ —</a:t>
            </a:r>
          </a:p>
          <a:p>
            <a:pPr>
              <a:lnSpc>
                <a:spcPct val="104000"/>
              </a:lnSpc>
              <a:spcAft>
                <a:spcPts val="700"/>
              </a:spcAft>
              <a:defRPr sz="1950" b="0">
                <a:solidFill>
                  <a:srgbClr val="FFFFFF"/>
                </a:solidFill>
                <a:latin typeface="Arial"/>
              </a:defRPr>
            </a:pPr>
            <a:r>
              <a:t>сверка редакций.</a:t>
            </a:r>
          </a:p>
        </p:txBody>
      </p:sp>
      <p:sp>
        <p:nvSpPr>
          <p:cNvPr id="21" name="Block_20"/>
          <p:cNvSpPr/>
          <p:nvPr/>
        </p:nvSpPr>
        <p:spPr>
          <a:xfrm>
            <a:off x="8191500" y="3333750"/>
            <a:ext cx="3238500" cy="38100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_21"/>
          <p:cNvSpPr txBox="1"/>
          <p:nvPr/>
        </p:nvSpPr>
        <p:spPr>
          <a:xfrm>
            <a:off x="8191500" y="3714750"/>
            <a:ext cx="3238500" cy="666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2700" b="1">
                <a:solidFill>
                  <a:srgbClr val="FFCD00"/>
                </a:solidFill>
                <a:latin typeface="Arial"/>
              </a:defRPr>
            </a:pPr>
            <a:r>
              <a:t>Практика</a:t>
            </a:r>
          </a:p>
        </p:txBody>
      </p:sp>
      <p:sp>
        <p:nvSpPr>
          <p:cNvPr id="23" name="Text_22"/>
          <p:cNvSpPr txBox="1"/>
          <p:nvPr/>
        </p:nvSpPr>
        <p:spPr>
          <a:xfrm>
            <a:off x="8191500" y="4714875"/>
            <a:ext cx="3238500" cy="1333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950" b="0">
                <a:solidFill>
                  <a:srgbClr val="FFFFFF"/>
                </a:solidFill>
                <a:latin typeface="Arial"/>
              </a:defRPr>
            </a:pPr>
            <a:r>
              <a:t>Рабочие ситуации автора.</a:t>
            </a:r>
          </a:p>
          <a:p>
            <a:pPr>
              <a:lnSpc>
                <a:spcPct val="104000"/>
              </a:lnSpc>
              <a:spcAft>
                <a:spcPts val="700"/>
              </a:spcAft>
              <a:defRPr sz="1950" b="0">
                <a:solidFill>
                  <a:srgbClr val="FFFFFF"/>
                </a:solidFill>
                <a:latin typeface="Arial"/>
              </a:defRPr>
            </a:pPr>
            <a:r>
              <a:t>Учебные материалы</a:t>
            </a:r>
          </a:p>
          <a:p>
            <a:pPr>
              <a:lnSpc>
                <a:spcPct val="104000"/>
              </a:lnSpc>
              <a:spcAft>
                <a:spcPts val="700"/>
              </a:spcAft>
              <a:defRPr sz="1950" b="0">
                <a:solidFill>
                  <a:srgbClr val="FFFFFF"/>
                </a:solidFill>
                <a:latin typeface="Arial"/>
              </a:defRPr>
            </a:pPr>
            <a:r>
              <a:t>и обратная связь.</a:t>
            </a:r>
          </a:p>
        </p:txBody>
      </p:sp>
      <p:sp>
        <p:nvSpPr>
          <p:cNvPr id="24" name="!!Rule"/>
          <p:cNvSpPr/>
          <p:nvPr/>
        </p:nvSpPr>
        <p:spPr>
          <a:xfrm>
            <a:off x="666750" y="590550"/>
            <a:ext cx="10858500" cy="38100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!!Section"/>
          <p:cNvSpPr txBox="1"/>
          <p:nvPr/>
        </p:nvSpPr>
        <p:spPr>
          <a:xfrm>
            <a:off x="685800" y="828675"/>
            <a:ext cx="102870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ОПЕРАТОР ДНГ / ОСНОВА ПРОЕКТА</a:t>
            </a:r>
          </a:p>
        </p:txBody>
      </p:sp>
      <p:sp>
        <p:nvSpPr>
          <p:cNvPr id="26" name="!!Footer"/>
          <p:cNvSpPr txBox="1"/>
          <p:nvPr/>
        </p:nvSpPr>
        <p:spPr>
          <a:xfrm>
            <a:off x="685800" y="6381750"/>
            <a:ext cx="10096500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975" b="0">
                <a:solidFill>
                  <a:srgbClr val="FFFFFF"/>
                </a:solidFill>
                <a:latin typeface="Arial"/>
              </a:defRPr>
            </a:pPr>
            <a:r>
              <a:t>ООО «РН-Юганскнефтегаз» · проект для обсуждения</a:t>
            </a:r>
          </a:p>
        </p:txBody>
      </p:sp>
      <p:sp>
        <p:nvSpPr>
          <p:cNvPr id="27" name="SlideNumber"/>
          <p:cNvSpPr txBox="1"/>
          <p:nvPr/>
        </p:nvSpPr>
        <p:spPr>
          <a:xfrm>
            <a:off x="11096625" y="6381750"/>
            <a:ext cx="523874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975" b="0">
                <a:solidFill>
                  <a:srgbClr val="FFFFFF"/>
                </a:solidFill>
                <a:latin typeface="Arial"/>
              </a:defRPr>
            </a:pPr>
            <a:r>
              <a:t>16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 xmlns:p14="http://schemas.microsoft.com/office/powerpoint/2010/main">
    <mc:Choice Requires="p159">
      <p:transition advClick="1" spd="slow" p14:dur="1400">
        <p159:morph option="byObject"/>
      </p:transition>
    </mc:Choice>
    <mc:Fallback>
      <p:transition advClick="1" spd="slow">
        <p:push dir="l"/>
      </p:transition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Panel0"/>
          <p:cNvSpPr/>
          <p:nvPr/>
        </p:nvSpPr>
        <p:spPr>
          <a:xfrm>
            <a:off x="13335000" y="1428750"/>
            <a:ext cx="2571750" cy="466725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" name="!!PanelImage0" descr="manual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3839825" y="2619375"/>
            <a:ext cx="1562100" cy="3381375"/>
          </a:xfrm>
          <a:prstGeom prst="rect">
            <a:avLst/>
          </a:prstGeom>
        </p:spPr>
      </p:pic>
      <p:sp>
        <p:nvSpPr>
          <p:cNvPr id="4" name="!!PanelTitle0"/>
          <p:cNvSpPr txBox="1"/>
          <p:nvPr/>
        </p:nvSpPr>
        <p:spPr>
          <a:xfrm>
            <a:off x="13430250" y="1504950"/>
            <a:ext cx="2381250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050" b="0">
                <a:solidFill>
                  <a:srgbClr val="000000"/>
                </a:solidFill>
                <a:latin typeface="Arial"/>
              </a:defRPr>
            </a:pPr>
          </a:p>
        </p:txBody>
      </p:sp>
      <p:sp>
        <p:nvSpPr>
          <p:cNvPr id="5" name="!!Panel1"/>
          <p:cNvSpPr/>
          <p:nvPr/>
        </p:nvSpPr>
        <p:spPr>
          <a:xfrm>
            <a:off x="16097250" y="1428750"/>
            <a:ext cx="2571750" cy="466725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6" name="!!PanelImage1" descr="ped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6602075" y="2619375"/>
            <a:ext cx="1562100" cy="3381375"/>
          </a:xfrm>
          <a:prstGeom prst="rect">
            <a:avLst/>
          </a:prstGeom>
        </p:spPr>
      </p:pic>
      <p:sp>
        <p:nvSpPr>
          <p:cNvPr id="7" name="!!PanelTitle1"/>
          <p:cNvSpPr txBox="1"/>
          <p:nvPr/>
        </p:nvSpPr>
        <p:spPr>
          <a:xfrm>
            <a:off x="16192499" y="1504950"/>
            <a:ext cx="2381250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050" b="0">
                <a:solidFill>
                  <a:srgbClr val="000000"/>
                </a:solidFill>
                <a:latin typeface="Arial"/>
              </a:defRPr>
            </a:pPr>
          </a:p>
        </p:txBody>
      </p:sp>
      <p:sp>
        <p:nvSpPr>
          <p:cNvPr id="8" name="!!Panel2"/>
          <p:cNvSpPr/>
          <p:nvPr/>
        </p:nvSpPr>
        <p:spPr>
          <a:xfrm>
            <a:off x="18859500" y="1428750"/>
            <a:ext cx="2571750" cy="466725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!!PanelImage2" descr="ramp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9364325" y="2619375"/>
            <a:ext cx="1562100" cy="3381375"/>
          </a:xfrm>
          <a:prstGeom prst="rect">
            <a:avLst/>
          </a:prstGeom>
        </p:spPr>
      </p:pic>
      <p:sp>
        <p:nvSpPr>
          <p:cNvPr id="10" name="!!PanelTitle2"/>
          <p:cNvSpPr txBox="1"/>
          <p:nvPr/>
        </p:nvSpPr>
        <p:spPr>
          <a:xfrm>
            <a:off x="18954750" y="1504950"/>
            <a:ext cx="2381250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050" b="0">
                <a:solidFill>
                  <a:srgbClr val="000000"/>
                </a:solidFill>
                <a:latin typeface="Arial"/>
              </a:defRPr>
            </a:pPr>
          </a:p>
        </p:txBody>
      </p:sp>
      <p:sp>
        <p:nvSpPr>
          <p:cNvPr id="11" name="!!Panel3"/>
          <p:cNvSpPr/>
          <p:nvPr/>
        </p:nvSpPr>
        <p:spPr>
          <a:xfrm>
            <a:off x="21621750" y="1428750"/>
            <a:ext cx="2571750" cy="466725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2" name="!!PanelImage3" descr="vnr.pn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22126575" y="2619375"/>
            <a:ext cx="1562100" cy="3381375"/>
          </a:xfrm>
          <a:prstGeom prst="rect">
            <a:avLst/>
          </a:prstGeom>
        </p:spPr>
      </p:pic>
      <p:sp>
        <p:nvSpPr>
          <p:cNvPr id="13" name="!!PanelTitle3"/>
          <p:cNvSpPr txBox="1"/>
          <p:nvPr/>
        </p:nvSpPr>
        <p:spPr>
          <a:xfrm>
            <a:off x="21717000" y="1504950"/>
            <a:ext cx="2381250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050" b="0">
                <a:solidFill>
                  <a:srgbClr val="000000"/>
                </a:solidFill>
                <a:latin typeface="Arial"/>
              </a:defRPr>
            </a:pPr>
          </a:p>
        </p:txBody>
      </p:sp>
      <p:sp>
        <p:nvSpPr>
          <p:cNvPr id="14" name="!!Headline"/>
          <p:cNvSpPr txBox="1"/>
          <p:nvPr/>
        </p:nvSpPr>
        <p:spPr>
          <a:xfrm>
            <a:off x="723900" y="1762125"/>
            <a:ext cx="10668000" cy="15716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9750" b="1">
                <a:solidFill>
                  <a:srgbClr val="FFCD00"/>
                </a:solidFill>
                <a:latin typeface="Arial"/>
              </a:defRPr>
            </a:pPr>
            <a:r>
              <a:t>3 месяца</a:t>
            </a:r>
          </a:p>
        </p:txBody>
      </p:sp>
      <p:sp>
        <p:nvSpPr>
          <p:cNvPr id="15" name="!!Subtitle"/>
          <p:cNvSpPr txBox="1"/>
          <p:nvPr/>
        </p:nvSpPr>
        <p:spPr>
          <a:xfrm>
            <a:off x="819150" y="3667125"/>
            <a:ext cx="10477500" cy="8096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3600" b="1">
                <a:solidFill>
                  <a:srgbClr val="FFFFFF"/>
                </a:solidFill>
                <a:latin typeface="Arial"/>
              </a:defRPr>
            </a:pPr>
            <a:r>
              <a:t>разработки программы</a:t>
            </a:r>
          </a:p>
        </p:txBody>
      </p:sp>
      <p:sp>
        <p:nvSpPr>
          <p:cNvPr id="16" name="Text_15"/>
          <p:cNvSpPr txBox="1"/>
          <p:nvPr/>
        </p:nvSpPr>
        <p:spPr>
          <a:xfrm>
            <a:off x="857250" y="4953000"/>
            <a:ext cx="10477500" cy="1000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2025" b="0">
                <a:solidFill>
                  <a:srgbClr val="B7B7B7"/>
                </a:solidFill>
                <a:latin typeface="Arial"/>
              </a:defRPr>
            </a:pPr>
            <a:r>
              <a:t>Прямые денежные расходы, по оценке автора, минимальны.</a:t>
            </a:r>
          </a:p>
          <a:p>
            <a:pPr>
              <a:lnSpc>
                <a:spcPct val="104000"/>
              </a:lnSpc>
              <a:spcAft>
                <a:spcPts val="700"/>
              </a:spcAft>
              <a:defRPr sz="2025" b="0">
                <a:solidFill>
                  <a:srgbClr val="B7B7B7"/>
                </a:solidFill>
                <a:latin typeface="Arial"/>
              </a:defRPr>
            </a:pPr>
            <a:r>
              <a:t>Основной вклад — время.</a:t>
            </a:r>
          </a:p>
        </p:txBody>
      </p:sp>
      <p:sp>
        <p:nvSpPr>
          <p:cNvPr id="17" name="!!Rule"/>
          <p:cNvSpPr/>
          <p:nvPr/>
        </p:nvSpPr>
        <p:spPr>
          <a:xfrm>
            <a:off x="666750" y="590550"/>
            <a:ext cx="10858500" cy="38100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!!Section"/>
          <p:cNvSpPr txBox="1"/>
          <p:nvPr/>
        </p:nvSpPr>
        <p:spPr>
          <a:xfrm>
            <a:off x="685800" y="828675"/>
            <a:ext cx="102870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ОПЕРАТОР ДНГ / РАЗРАБОТКА</a:t>
            </a:r>
          </a:p>
        </p:txBody>
      </p:sp>
      <p:sp>
        <p:nvSpPr>
          <p:cNvPr id="19" name="!!Footer"/>
          <p:cNvSpPr txBox="1"/>
          <p:nvPr/>
        </p:nvSpPr>
        <p:spPr>
          <a:xfrm>
            <a:off x="685800" y="6381750"/>
            <a:ext cx="10096500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975" b="0">
                <a:solidFill>
                  <a:srgbClr val="FFFFFF"/>
                </a:solidFill>
                <a:latin typeface="Arial"/>
              </a:defRPr>
            </a:pPr>
            <a:r>
              <a:t>ООО «РН-Юганскнефтегаз» · проект для обсуждения</a:t>
            </a:r>
          </a:p>
        </p:txBody>
      </p:sp>
      <p:sp>
        <p:nvSpPr>
          <p:cNvPr id="20" name="SlideNumber"/>
          <p:cNvSpPr txBox="1"/>
          <p:nvPr/>
        </p:nvSpPr>
        <p:spPr>
          <a:xfrm>
            <a:off x="11096625" y="6381750"/>
            <a:ext cx="523874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975" b="0">
                <a:solidFill>
                  <a:srgbClr val="FFFFFF"/>
                </a:solidFill>
                <a:latin typeface="Arial"/>
              </a:defRPr>
            </a:pPr>
            <a:r>
              <a:t>17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 xmlns:p14="http://schemas.microsoft.com/office/powerpoint/2010/main">
    <mc:Choice Requires="p159">
      <p:transition advClick="1" spd="slow" p14:dur="1400">
        <p159:morph option="byObject"/>
      </p:transition>
    </mc:Choice>
    <mc:Fallback>
      <p:transition advClick="1" spd="slow">
        <p:push dir="l"/>
      </p:transition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Panel0"/>
          <p:cNvSpPr/>
          <p:nvPr/>
        </p:nvSpPr>
        <p:spPr>
          <a:xfrm>
            <a:off x="13335000" y="1428750"/>
            <a:ext cx="2571750" cy="466725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" name="!!PanelImage0" descr="manual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3839825" y="2619375"/>
            <a:ext cx="1562100" cy="3381375"/>
          </a:xfrm>
          <a:prstGeom prst="rect">
            <a:avLst/>
          </a:prstGeom>
        </p:spPr>
      </p:pic>
      <p:sp>
        <p:nvSpPr>
          <p:cNvPr id="4" name="!!PanelTitle0"/>
          <p:cNvSpPr txBox="1"/>
          <p:nvPr/>
        </p:nvSpPr>
        <p:spPr>
          <a:xfrm>
            <a:off x="13430250" y="1504950"/>
            <a:ext cx="2381250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050" b="0">
                <a:solidFill>
                  <a:srgbClr val="000000"/>
                </a:solidFill>
                <a:latin typeface="Arial"/>
              </a:defRPr>
            </a:pPr>
          </a:p>
        </p:txBody>
      </p:sp>
      <p:sp>
        <p:nvSpPr>
          <p:cNvPr id="5" name="!!Panel1"/>
          <p:cNvSpPr/>
          <p:nvPr/>
        </p:nvSpPr>
        <p:spPr>
          <a:xfrm>
            <a:off x="16097250" y="1428750"/>
            <a:ext cx="2571750" cy="466725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6" name="!!PanelImage1" descr="ped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6602075" y="2619375"/>
            <a:ext cx="1562100" cy="3381375"/>
          </a:xfrm>
          <a:prstGeom prst="rect">
            <a:avLst/>
          </a:prstGeom>
        </p:spPr>
      </p:pic>
      <p:sp>
        <p:nvSpPr>
          <p:cNvPr id="7" name="!!PanelTitle1"/>
          <p:cNvSpPr txBox="1"/>
          <p:nvPr/>
        </p:nvSpPr>
        <p:spPr>
          <a:xfrm>
            <a:off x="16192499" y="1504950"/>
            <a:ext cx="2381250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050" b="0">
                <a:solidFill>
                  <a:srgbClr val="000000"/>
                </a:solidFill>
                <a:latin typeface="Arial"/>
              </a:defRPr>
            </a:pPr>
          </a:p>
        </p:txBody>
      </p:sp>
      <p:sp>
        <p:nvSpPr>
          <p:cNvPr id="8" name="!!Panel2"/>
          <p:cNvSpPr/>
          <p:nvPr/>
        </p:nvSpPr>
        <p:spPr>
          <a:xfrm>
            <a:off x="18859500" y="1428750"/>
            <a:ext cx="2571750" cy="466725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!!PanelImage2" descr="ramp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9364325" y="2619375"/>
            <a:ext cx="1562100" cy="3381375"/>
          </a:xfrm>
          <a:prstGeom prst="rect">
            <a:avLst/>
          </a:prstGeom>
        </p:spPr>
      </p:pic>
      <p:sp>
        <p:nvSpPr>
          <p:cNvPr id="10" name="!!PanelTitle2"/>
          <p:cNvSpPr txBox="1"/>
          <p:nvPr/>
        </p:nvSpPr>
        <p:spPr>
          <a:xfrm>
            <a:off x="18954750" y="1504950"/>
            <a:ext cx="2381250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050" b="0">
                <a:solidFill>
                  <a:srgbClr val="000000"/>
                </a:solidFill>
                <a:latin typeface="Arial"/>
              </a:defRPr>
            </a:pPr>
          </a:p>
        </p:txBody>
      </p:sp>
      <p:sp>
        <p:nvSpPr>
          <p:cNvPr id="11" name="!!Panel3"/>
          <p:cNvSpPr/>
          <p:nvPr/>
        </p:nvSpPr>
        <p:spPr>
          <a:xfrm>
            <a:off x="21621750" y="1428750"/>
            <a:ext cx="2571750" cy="466725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2" name="!!PanelImage3" descr="vnr.pn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22126575" y="2619375"/>
            <a:ext cx="1562100" cy="3381375"/>
          </a:xfrm>
          <a:prstGeom prst="rect">
            <a:avLst/>
          </a:prstGeom>
        </p:spPr>
      </p:pic>
      <p:sp>
        <p:nvSpPr>
          <p:cNvPr id="13" name="!!PanelTitle3"/>
          <p:cNvSpPr txBox="1"/>
          <p:nvPr/>
        </p:nvSpPr>
        <p:spPr>
          <a:xfrm>
            <a:off x="21717000" y="1504950"/>
            <a:ext cx="2381250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050" b="0">
                <a:solidFill>
                  <a:srgbClr val="000000"/>
                </a:solidFill>
                <a:latin typeface="Arial"/>
              </a:defRPr>
            </a:pPr>
          </a:p>
        </p:txBody>
      </p:sp>
      <p:sp>
        <p:nvSpPr>
          <p:cNvPr id="14" name="!!Headline"/>
          <p:cNvSpPr txBox="1"/>
          <p:nvPr/>
        </p:nvSpPr>
        <p:spPr>
          <a:xfrm>
            <a:off x="723900" y="1714500"/>
            <a:ext cx="6667500" cy="1714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1700" b="1">
                <a:solidFill>
                  <a:srgbClr val="FFCD00"/>
                </a:solidFill>
                <a:latin typeface="Arial"/>
              </a:defRPr>
            </a:pPr>
            <a:r>
              <a:t>≈250</a:t>
            </a:r>
          </a:p>
        </p:txBody>
      </p:sp>
      <p:sp>
        <p:nvSpPr>
          <p:cNvPr id="15" name="!!Subtitle"/>
          <p:cNvSpPr txBox="1"/>
          <p:nvPr/>
        </p:nvSpPr>
        <p:spPr>
          <a:xfrm>
            <a:off x="828675" y="3857625"/>
            <a:ext cx="7239000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3375" b="1">
                <a:solidFill>
                  <a:srgbClr val="FFFFFF"/>
                </a:solidFill>
                <a:latin typeface="Arial"/>
              </a:defRPr>
            </a:pPr>
            <a:r>
              <a:t>потенциальных</a:t>
            </a:r>
          </a:p>
          <a:p>
            <a:pPr>
              <a:lnSpc>
                <a:spcPct val="104000"/>
              </a:lnSpc>
              <a:spcAft>
                <a:spcPts val="700"/>
              </a:spcAft>
              <a:defRPr sz="3375" b="1">
                <a:solidFill>
                  <a:srgbClr val="FFFFFF"/>
                </a:solidFill>
                <a:latin typeface="Arial"/>
              </a:defRPr>
            </a:pPr>
            <a:r>
              <a:t>пользователей</a:t>
            </a:r>
          </a:p>
        </p:txBody>
      </p:sp>
      <p:sp>
        <p:nvSpPr>
          <p:cNvPr id="16" name="Text_15"/>
          <p:cNvSpPr txBox="1"/>
          <p:nvPr/>
        </p:nvSpPr>
        <p:spPr>
          <a:xfrm>
            <a:off x="857250" y="5476875"/>
            <a:ext cx="10477500" cy="4286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875" b="0">
                <a:solidFill>
                  <a:srgbClr val="B7B7B7"/>
                </a:solidFill>
                <a:latin typeface="Arial"/>
              </a:defRPr>
            </a:pPr>
            <a:r>
              <a:t>Оценка автора · начать с ограниченного пилота</a:t>
            </a:r>
          </a:p>
        </p:txBody>
      </p:sp>
      <p:sp>
        <p:nvSpPr>
          <p:cNvPr id="17" name="Audience0"/>
          <p:cNvSpPr/>
          <p:nvPr/>
        </p:nvSpPr>
        <p:spPr>
          <a:xfrm>
            <a:off x="8572500" y="1952624"/>
            <a:ext cx="123824" cy="123824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Audience1"/>
          <p:cNvSpPr/>
          <p:nvPr/>
        </p:nvSpPr>
        <p:spPr>
          <a:xfrm>
            <a:off x="9144000" y="1952624"/>
            <a:ext cx="123824" cy="123824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Audience2"/>
          <p:cNvSpPr/>
          <p:nvPr/>
        </p:nvSpPr>
        <p:spPr>
          <a:xfrm>
            <a:off x="9715500" y="1952624"/>
            <a:ext cx="123824" cy="123824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Audience3"/>
          <p:cNvSpPr/>
          <p:nvPr/>
        </p:nvSpPr>
        <p:spPr>
          <a:xfrm>
            <a:off x="10287000" y="1952624"/>
            <a:ext cx="123824" cy="123824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Audience4"/>
          <p:cNvSpPr/>
          <p:nvPr/>
        </p:nvSpPr>
        <p:spPr>
          <a:xfrm>
            <a:off x="10858500" y="1952624"/>
            <a:ext cx="123824" cy="123824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Audience5"/>
          <p:cNvSpPr/>
          <p:nvPr/>
        </p:nvSpPr>
        <p:spPr>
          <a:xfrm>
            <a:off x="8572500" y="2266950"/>
            <a:ext cx="123824" cy="123824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Audience6"/>
          <p:cNvSpPr/>
          <p:nvPr/>
        </p:nvSpPr>
        <p:spPr>
          <a:xfrm>
            <a:off x="9144000" y="2266950"/>
            <a:ext cx="123824" cy="123824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Audience7"/>
          <p:cNvSpPr/>
          <p:nvPr/>
        </p:nvSpPr>
        <p:spPr>
          <a:xfrm>
            <a:off x="9715500" y="2266950"/>
            <a:ext cx="123824" cy="123824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Audience8"/>
          <p:cNvSpPr/>
          <p:nvPr/>
        </p:nvSpPr>
        <p:spPr>
          <a:xfrm>
            <a:off x="10287000" y="2266950"/>
            <a:ext cx="123824" cy="123824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Audience9"/>
          <p:cNvSpPr/>
          <p:nvPr/>
        </p:nvSpPr>
        <p:spPr>
          <a:xfrm>
            <a:off x="10858500" y="2266950"/>
            <a:ext cx="123824" cy="123824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Audience10"/>
          <p:cNvSpPr/>
          <p:nvPr/>
        </p:nvSpPr>
        <p:spPr>
          <a:xfrm>
            <a:off x="8572500" y="2581275"/>
            <a:ext cx="123824" cy="123824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Audience11"/>
          <p:cNvSpPr/>
          <p:nvPr/>
        </p:nvSpPr>
        <p:spPr>
          <a:xfrm>
            <a:off x="9144000" y="2581275"/>
            <a:ext cx="123824" cy="123824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Audience12"/>
          <p:cNvSpPr/>
          <p:nvPr/>
        </p:nvSpPr>
        <p:spPr>
          <a:xfrm>
            <a:off x="9715500" y="2581275"/>
            <a:ext cx="123824" cy="123824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Audience13"/>
          <p:cNvSpPr/>
          <p:nvPr/>
        </p:nvSpPr>
        <p:spPr>
          <a:xfrm>
            <a:off x="10287000" y="2581275"/>
            <a:ext cx="123824" cy="123824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Audience14"/>
          <p:cNvSpPr/>
          <p:nvPr/>
        </p:nvSpPr>
        <p:spPr>
          <a:xfrm>
            <a:off x="10858500" y="2581275"/>
            <a:ext cx="123824" cy="123824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Audience15"/>
          <p:cNvSpPr/>
          <p:nvPr/>
        </p:nvSpPr>
        <p:spPr>
          <a:xfrm>
            <a:off x="8572500" y="2895600"/>
            <a:ext cx="123824" cy="123824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Audience16"/>
          <p:cNvSpPr/>
          <p:nvPr/>
        </p:nvSpPr>
        <p:spPr>
          <a:xfrm>
            <a:off x="9144000" y="2895600"/>
            <a:ext cx="123824" cy="123824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Audience17"/>
          <p:cNvSpPr/>
          <p:nvPr/>
        </p:nvSpPr>
        <p:spPr>
          <a:xfrm>
            <a:off x="9715500" y="2895600"/>
            <a:ext cx="123824" cy="123824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Audience18"/>
          <p:cNvSpPr/>
          <p:nvPr/>
        </p:nvSpPr>
        <p:spPr>
          <a:xfrm>
            <a:off x="10287000" y="2895600"/>
            <a:ext cx="123824" cy="123824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Audience19"/>
          <p:cNvSpPr/>
          <p:nvPr/>
        </p:nvSpPr>
        <p:spPr>
          <a:xfrm>
            <a:off x="10858500" y="2895600"/>
            <a:ext cx="123824" cy="123824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Audience20"/>
          <p:cNvSpPr/>
          <p:nvPr/>
        </p:nvSpPr>
        <p:spPr>
          <a:xfrm>
            <a:off x="8572500" y="3209925"/>
            <a:ext cx="123824" cy="123824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Audience21"/>
          <p:cNvSpPr/>
          <p:nvPr/>
        </p:nvSpPr>
        <p:spPr>
          <a:xfrm>
            <a:off x="9144000" y="3209925"/>
            <a:ext cx="123824" cy="123824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Audience22"/>
          <p:cNvSpPr/>
          <p:nvPr/>
        </p:nvSpPr>
        <p:spPr>
          <a:xfrm>
            <a:off x="9715500" y="3209925"/>
            <a:ext cx="123824" cy="123824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Audience23"/>
          <p:cNvSpPr/>
          <p:nvPr/>
        </p:nvSpPr>
        <p:spPr>
          <a:xfrm>
            <a:off x="10287000" y="3209925"/>
            <a:ext cx="123824" cy="123824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Audience24"/>
          <p:cNvSpPr/>
          <p:nvPr/>
        </p:nvSpPr>
        <p:spPr>
          <a:xfrm>
            <a:off x="10858500" y="3209925"/>
            <a:ext cx="123824" cy="123824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Audience25"/>
          <p:cNvSpPr/>
          <p:nvPr/>
        </p:nvSpPr>
        <p:spPr>
          <a:xfrm>
            <a:off x="8572500" y="3524250"/>
            <a:ext cx="123824" cy="123824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Audience26"/>
          <p:cNvSpPr/>
          <p:nvPr/>
        </p:nvSpPr>
        <p:spPr>
          <a:xfrm>
            <a:off x="9144000" y="3524250"/>
            <a:ext cx="123824" cy="123824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Audience27"/>
          <p:cNvSpPr/>
          <p:nvPr/>
        </p:nvSpPr>
        <p:spPr>
          <a:xfrm>
            <a:off x="9715500" y="3524250"/>
            <a:ext cx="123824" cy="123824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Audience28"/>
          <p:cNvSpPr/>
          <p:nvPr/>
        </p:nvSpPr>
        <p:spPr>
          <a:xfrm>
            <a:off x="10287000" y="3524250"/>
            <a:ext cx="123824" cy="123824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Audience29"/>
          <p:cNvSpPr/>
          <p:nvPr/>
        </p:nvSpPr>
        <p:spPr>
          <a:xfrm>
            <a:off x="10858500" y="3524250"/>
            <a:ext cx="123824" cy="123824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Audience30"/>
          <p:cNvSpPr/>
          <p:nvPr/>
        </p:nvSpPr>
        <p:spPr>
          <a:xfrm>
            <a:off x="8572500" y="3838575"/>
            <a:ext cx="123824" cy="123824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Audience31"/>
          <p:cNvSpPr/>
          <p:nvPr/>
        </p:nvSpPr>
        <p:spPr>
          <a:xfrm>
            <a:off x="9144000" y="3838575"/>
            <a:ext cx="123824" cy="123824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Audience32"/>
          <p:cNvSpPr/>
          <p:nvPr/>
        </p:nvSpPr>
        <p:spPr>
          <a:xfrm>
            <a:off x="9715500" y="3838575"/>
            <a:ext cx="123824" cy="123824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Audience33"/>
          <p:cNvSpPr/>
          <p:nvPr/>
        </p:nvSpPr>
        <p:spPr>
          <a:xfrm>
            <a:off x="10287000" y="3838575"/>
            <a:ext cx="123824" cy="123824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Audience34"/>
          <p:cNvSpPr/>
          <p:nvPr/>
        </p:nvSpPr>
        <p:spPr>
          <a:xfrm>
            <a:off x="10858500" y="3838575"/>
            <a:ext cx="123824" cy="123824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Audience35"/>
          <p:cNvSpPr/>
          <p:nvPr/>
        </p:nvSpPr>
        <p:spPr>
          <a:xfrm>
            <a:off x="8572500" y="4152900"/>
            <a:ext cx="123824" cy="123824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" name="Audience36"/>
          <p:cNvSpPr/>
          <p:nvPr/>
        </p:nvSpPr>
        <p:spPr>
          <a:xfrm>
            <a:off x="9144000" y="4152900"/>
            <a:ext cx="123824" cy="123824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" name="Audience37"/>
          <p:cNvSpPr/>
          <p:nvPr/>
        </p:nvSpPr>
        <p:spPr>
          <a:xfrm>
            <a:off x="9715500" y="4152900"/>
            <a:ext cx="123824" cy="123824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" name="Audience38"/>
          <p:cNvSpPr/>
          <p:nvPr/>
        </p:nvSpPr>
        <p:spPr>
          <a:xfrm>
            <a:off x="10287000" y="4152900"/>
            <a:ext cx="123824" cy="123824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" name="Audience39"/>
          <p:cNvSpPr/>
          <p:nvPr/>
        </p:nvSpPr>
        <p:spPr>
          <a:xfrm>
            <a:off x="10858500" y="4152900"/>
            <a:ext cx="123824" cy="123824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" name="Audience40"/>
          <p:cNvSpPr/>
          <p:nvPr/>
        </p:nvSpPr>
        <p:spPr>
          <a:xfrm>
            <a:off x="8572500" y="4467225"/>
            <a:ext cx="123824" cy="123824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" name="Audience41"/>
          <p:cNvSpPr/>
          <p:nvPr/>
        </p:nvSpPr>
        <p:spPr>
          <a:xfrm>
            <a:off x="9144000" y="4467225"/>
            <a:ext cx="123824" cy="123824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" name="Audience42"/>
          <p:cNvSpPr/>
          <p:nvPr/>
        </p:nvSpPr>
        <p:spPr>
          <a:xfrm>
            <a:off x="9715500" y="4467225"/>
            <a:ext cx="123824" cy="123824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" name="Audience43"/>
          <p:cNvSpPr/>
          <p:nvPr/>
        </p:nvSpPr>
        <p:spPr>
          <a:xfrm>
            <a:off x="10287000" y="4467225"/>
            <a:ext cx="123824" cy="123824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1" name="Audience44"/>
          <p:cNvSpPr/>
          <p:nvPr/>
        </p:nvSpPr>
        <p:spPr>
          <a:xfrm>
            <a:off x="10858500" y="4467225"/>
            <a:ext cx="123824" cy="123824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" name="Audience45"/>
          <p:cNvSpPr/>
          <p:nvPr/>
        </p:nvSpPr>
        <p:spPr>
          <a:xfrm>
            <a:off x="8572500" y="4781550"/>
            <a:ext cx="123824" cy="123824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" name="Audience46"/>
          <p:cNvSpPr/>
          <p:nvPr/>
        </p:nvSpPr>
        <p:spPr>
          <a:xfrm>
            <a:off x="9144000" y="4781550"/>
            <a:ext cx="123824" cy="123824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" name="Audience47"/>
          <p:cNvSpPr/>
          <p:nvPr/>
        </p:nvSpPr>
        <p:spPr>
          <a:xfrm>
            <a:off x="9715500" y="4781550"/>
            <a:ext cx="123824" cy="123824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" name="Audience48"/>
          <p:cNvSpPr/>
          <p:nvPr/>
        </p:nvSpPr>
        <p:spPr>
          <a:xfrm>
            <a:off x="10287000" y="4781550"/>
            <a:ext cx="123824" cy="123824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6" name="Audience49"/>
          <p:cNvSpPr/>
          <p:nvPr/>
        </p:nvSpPr>
        <p:spPr>
          <a:xfrm>
            <a:off x="10858500" y="4781550"/>
            <a:ext cx="123824" cy="123824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7" name="!!Rule"/>
          <p:cNvSpPr/>
          <p:nvPr/>
        </p:nvSpPr>
        <p:spPr>
          <a:xfrm>
            <a:off x="666750" y="590550"/>
            <a:ext cx="10858500" cy="38100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8" name="!!Section"/>
          <p:cNvSpPr txBox="1"/>
          <p:nvPr/>
        </p:nvSpPr>
        <p:spPr>
          <a:xfrm>
            <a:off x="685800" y="828675"/>
            <a:ext cx="102870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ОПЕРАТОР ДНГ / МАСШТАБ</a:t>
            </a:r>
          </a:p>
        </p:txBody>
      </p:sp>
      <p:sp>
        <p:nvSpPr>
          <p:cNvPr id="69" name="!!Footer"/>
          <p:cNvSpPr txBox="1"/>
          <p:nvPr/>
        </p:nvSpPr>
        <p:spPr>
          <a:xfrm>
            <a:off x="685800" y="6381750"/>
            <a:ext cx="10096500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975" b="0">
                <a:solidFill>
                  <a:srgbClr val="FFFFFF"/>
                </a:solidFill>
                <a:latin typeface="Arial"/>
              </a:defRPr>
            </a:pPr>
            <a:r>
              <a:t>ООО «РН-Юганскнефтегаз» · проект для обсуждения</a:t>
            </a:r>
          </a:p>
        </p:txBody>
      </p:sp>
      <p:sp>
        <p:nvSpPr>
          <p:cNvPr id="70" name="SlideNumber"/>
          <p:cNvSpPr txBox="1"/>
          <p:nvPr/>
        </p:nvSpPr>
        <p:spPr>
          <a:xfrm>
            <a:off x="11096625" y="6381750"/>
            <a:ext cx="523874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975" b="0">
                <a:solidFill>
                  <a:srgbClr val="FFFFFF"/>
                </a:solidFill>
                <a:latin typeface="Arial"/>
              </a:defRPr>
            </a:pPr>
            <a:r>
              <a:t>18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 xmlns:p14="http://schemas.microsoft.com/office/powerpoint/2010/main">
    <mc:Choice Requires="p159">
      <p:transition advClick="1" spd="slow" p14:dur="1400">
        <p159:morph option="byObject"/>
      </p:transition>
    </mc:Choice>
    <mc:Fallback>
      <p:transition advClick="1" spd="slow">
        <p:push dir="l"/>
      </p:transition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Panel0"/>
          <p:cNvSpPr/>
          <p:nvPr/>
        </p:nvSpPr>
        <p:spPr>
          <a:xfrm>
            <a:off x="13335000" y="1428750"/>
            <a:ext cx="2571750" cy="466725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" name="!!PanelImage0" descr="manual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3839825" y="2619375"/>
            <a:ext cx="1562100" cy="3381375"/>
          </a:xfrm>
          <a:prstGeom prst="rect">
            <a:avLst/>
          </a:prstGeom>
        </p:spPr>
      </p:pic>
      <p:sp>
        <p:nvSpPr>
          <p:cNvPr id="4" name="!!PanelTitle0"/>
          <p:cNvSpPr txBox="1"/>
          <p:nvPr/>
        </p:nvSpPr>
        <p:spPr>
          <a:xfrm>
            <a:off x="13430250" y="1504950"/>
            <a:ext cx="2381250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050" b="0">
                <a:solidFill>
                  <a:srgbClr val="000000"/>
                </a:solidFill>
                <a:latin typeface="Arial"/>
              </a:defRPr>
            </a:pPr>
          </a:p>
        </p:txBody>
      </p:sp>
      <p:sp>
        <p:nvSpPr>
          <p:cNvPr id="5" name="!!Panel1"/>
          <p:cNvSpPr/>
          <p:nvPr/>
        </p:nvSpPr>
        <p:spPr>
          <a:xfrm>
            <a:off x="16097250" y="1428750"/>
            <a:ext cx="2571750" cy="466725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6" name="!!PanelImage1" descr="ped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6602075" y="2619375"/>
            <a:ext cx="1562100" cy="3381375"/>
          </a:xfrm>
          <a:prstGeom prst="rect">
            <a:avLst/>
          </a:prstGeom>
        </p:spPr>
      </p:pic>
      <p:sp>
        <p:nvSpPr>
          <p:cNvPr id="7" name="!!PanelTitle1"/>
          <p:cNvSpPr txBox="1"/>
          <p:nvPr/>
        </p:nvSpPr>
        <p:spPr>
          <a:xfrm>
            <a:off x="16192499" y="1504950"/>
            <a:ext cx="2381250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050" b="0">
                <a:solidFill>
                  <a:srgbClr val="000000"/>
                </a:solidFill>
                <a:latin typeface="Arial"/>
              </a:defRPr>
            </a:pPr>
          </a:p>
        </p:txBody>
      </p:sp>
      <p:sp>
        <p:nvSpPr>
          <p:cNvPr id="8" name="!!Panel2"/>
          <p:cNvSpPr/>
          <p:nvPr/>
        </p:nvSpPr>
        <p:spPr>
          <a:xfrm>
            <a:off x="18859500" y="1428750"/>
            <a:ext cx="2571750" cy="466725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!!PanelImage2" descr="ramp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9364325" y="2619375"/>
            <a:ext cx="1562100" cy="3381375"/>
          </a:xfrm>
          <a:prstGeom prst="rect">
            <a:avLst/>
          </a:prstGeom>
        </p:spPr>
      </p:pic>
      <p:sp>
        <p:nvSpPr>
          <p:cNvPr id="10" name="!!PanelTitle2"/>
          <p:cNvSpPr txBox="1"/>
          <p:nvPr/>
        </p:nvSpPr>
        <p:spPr>
          <a:xfrm>
            <a:off x="18954750" y="1504950"/>
            <a:ext cx="2381250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050" b="0">
                <a:solidFill>
                  <a:srgbClr val="000000"/>
                </a:solidFill>
                <a:latin typeface="Arial"/>
              </a:defRPr>
            </a:pPr>
          </a:p>
        </p:txBody>
      </p:sp>
      <p:sp>
        <p:nvSpPr>
          <p:cNvPr id="11" name="!!Panel3"/>
          <p:cNvSpPr/>
          <p:nvPr/>
        </p:nvSpPr>
        <p:spPr>
          <a:xfrm>
            <a:off x="21621750" y="1428750"/>
            <a:ext cx="2571750" cy="466725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2" name="!!PanelImage3" descr="vnr.pn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22126575" y="2619375"/>
            <a:ext cx="1562100" cy="3381375"/>
          </a:xfrm>
          <a:prstGeom prst="rect">
            <a:avLst/>
          </a:prstGeom>
        </p:spPr>
      </p:pic>
      <p:sp>
        <p:nvSpPr>
          <p:cNvPr id="13" name="!!PanelTitle3"/>
          <p:cNvSpPr txBox="1"/>
          <p:nvPr/>
        </p:nvSpPr>
        <p:spPr>
          <a:xfrm>
            <a:off x="21717000" y="1504950"/>
            <a:ext cx="2381250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050" b="0">
                <a:solidFill>
                  <a:srgbClr val="000000"/>
                </a:solidFill>
                <a:latin typeface="Arial"/>
              </a:defRPr>
            </a:pPr>
          </a:p>
        </p:txBody>
      </p:sp>
      <p:sp>
        <p:nvSpPr>
          <p:cNvPr id="14" name="!!Headline"/>
          <p:cNvSpPr txBox="1"/>
          <p:nvPr/>
        </p:nvSpPr>
        <p:spPr>
          <a:xfrm>
            <a:off x="685800" y="1476375"/>
            <a:ext cx="10763250" cy="1619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4200" b="1">
                <a:solidFill>
                  <a:srgbClr val="FFFFFF"/>
                </a:solidFill>
                <a:latin typeface="Arial"/>
              </a:defRPr>
            </a:pPr>
            <a:r>
              <a:t>Проверяемая польза.</a:t>
            </a:r>
          </a:p>
        </p:txBody>
      </p:sp>
      <p:sp>
        <p:nvSpPr>
          <p:cNvPr id="15" name="Text_14"/>
          <p:cNvSpPr txBox="1"/>
          <p:nvPr/>
        </p:nvSpPr>
        <p:spPr>
          <a:xfrm>
            <a:off x="762000" y="3238500"/>
            <a:ext cx="3333750" cy="7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2625" b="1">
                <a:solidFill>
                  <a:srgbClr val="FFCD00"/>
                </a:solidFill>
                <a:latin typeface="Arial"/>
              </a:defRPr>
            </a:pPr>
            <a:r>
              <a:t>Время</a:t>
            </a:r>
          </a:p>
        </p:txBody>
      </p:sp>
      <p:sp>
        <p:nvSpPr>
          <p:cNvPr id="16" name="Text_15"/>
          <p:cNvSpPr txBox="1"/>
          <p:nvPr/>
        </p:nvSpPr>
        <p:spPr>
          <a:xfrm>
            <a:off x="762000" y="4381500"/>
            <a:ext cx="3333750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950" b="0">
                <a:solidFill>
                  <a:srgbClr val="FFFFFF"/>
                </a:solidFill>
                <a:latin typeface="Arial"/>
              </a:defRPr>
            </a:pPr>
            <a:r>
              <a:t>Сколько занимает</a:t>
            </a:r>
          </a:p>
          <a:p>
            <a:pPr>
              <a:lnSpc>
                <a:spcPct val="104000"/>
              </a:lnSpc>
              <a:spcAft>
                <a:spcPts val="700"/>
              </a:spcAft>
              <a:defRPr sz="1950" b="0">
                <a:solidFill>
                  <a:srgbClr val="FFFFFF"/>
                </a:solidFill>
                <a:latin typeface="Arial"/>
              </a:defRPr>
            </a:pPr>
            <a:r>
              <a:t>типовая операция.</a:t>
            </a:r>
          </a:p>
        </p:txBody>
      </p:sp>
      <p:sp>
        <p:nvSpPr>
          <p:cNvPr id="17" name="Text_16"/>
          <p:cNvSpPr txBox="1"/>
          <p:nvPr/>
        </p:nvSpPr>
        <p:spPr>
          <a:xfrm>
            <a:off x="4476750" y="3238500"/>
            <a:ext cx="3333750" cy="7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2625" b="1">
                <a:solidFill>
                  <a:srgbClr val="FFCD00"/>
                </a:solidFill>
                <a:latin typeface="Arial"/>
              </a:defRPr>
            </a:pPr>
            <a:r>
              <a:t>Корректность</a:t>
            </a:r>
          </a:p>
        </p:txBody>
      </p:sp>
      <p:sp>
        <p:nvSpPr>
          <p:cNvPr id="18" name="Text_17"/>
          <p:cNvSpPr txBox="1"/>
          <p:nvPr/>
        </p:nvSpPr>
        <p:spPr>
          <a:xfrm>
            <a:off x="4476750" y="4381500"/>
            <a:ext cx="3333750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950" b="0">
                <a:solidFill>
                  <a:srgbClr val="FFFFFF"/>
                </a:solidFill>
                <a:latin typeface="Arial"/>
              </a:defRPr>
            </a:pPr>
            <a:r>
              <a:t>Расчёт и последовательность</a:t>
            </a:r>
          </a:p>
          <a:p>
            <a:pPr>
              <a:lnSpc>
                <a:spcPct val="104000"/>
              </a:lnSpc>
              <a:spcAft>
                <a:spcPts val="700"/>
              </a:spcAft>
              <a:defRPr sz="1950" b="0">
                <a:solidFill>
                  <a:srgbClr val="FFFFFF"/>
                </a:solidFill>
                <a:latin typeface="Arial"/>
              </a:defRPr>
            </a:pPr>
            <a:r>
              <a:t>в учебном сценарии.</a:t>
            </a:r>
          </a:p>
        </p:txBody>
      </p:sp>
      <p:sp>
        <p:nvSpPr>
          <p:cNvPr id="19" name="Text_18"/>
          <p:cNvSpPr txBox="1"/>
          <p:nvPr/>
        </p:nvSpPr>
        <p:spPr>
          <a:xfrm>
            <a:off x="8191500" y="3238500"/>
            <a:ext cx="3333750" cy="7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2625" b="1">
                <a:solidFill>
                  <a:srgbClr val="FFCD00"/>
                </a:solidFill>
                <a:latin typeface="Arial"/>
              </a:defRPr>
            </a:pPr>
            <a:r>
              <a:t>Доступность</a:t>
            </a:r>
          </a:p>
        </p:txBody>
      </p:sp>
      <p:sp>
        <p:nvSpPr>
          <p:cNvPr id="20" name="Text_19"/>
          <p:cNvSpPr txBox="1"/>
          <p:nvPr/>
        </p:nvSpPr>
        <p:spPr>
          <a:xfrm>
            <a:off x="8191500" y="4381500"/>
            <a:ext cx="3333750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950" b="0">
                <a:solidFill>
                  <a:srgbClr val="FFFFFF"/>
                </a:solidFill>
                <a:latin typeface="Arial"/>
              </a:defRPr>
            </a:pPr>
            <a:r>
              <a:t>Нужные материалы</a:t>
            </a:r>
          </a:p>
          <a:p>
            <a:pPr>
              <a:lnSpc>
                <a:spcPct val="104000"/>
              </a:lnSpc>
              <a:spcAft>
                <a:spcPts val="700"/>
              </a:spcAft>
              <a:defRPr sz="1950" b="0">
                <a:solidFill>
                  <a:srgbClr val="FFFFFF"/>
                </a:solidFill>
                <a:latin typeface="Arial"/>
              </a:defRPr>
            </a:pPr>
            <a:r>
              <a:t>без интернета.</a:t>
            </a:r>
          </a:p>
        </p:txBody>
      </p:sp>
      <p:sp>
        <p:nvSpPr>
          <p:cNvPr id="21" name="Text_20"/>
          <p:cNvSpPr txBox="1"/>
          <p:nvPr/>
        </p:nvSpPr>
        <p:spPr>
          <a:xfrm>
            <a:off x="781050" y="5810250"/>
            <a:ext cx="106680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575" b="0">
                <a:solidFill>
                  <a:srgbClr val="B7B7B7"/>
                </a:solidFill>
                <a:latin typeface="Arial"/>
              </a:defRPr>
            </a:pPr>
            <a:r>
              <a:t>Финансовый эффект — по данным пилота, без вымышленных сумм.</a:t>
            </a:r>
          </a:p>
        </p:txBody>
      </p:sp>
      <p:sp>
        <p:nvSpPr>
          <p:cNvPr id="22" name="!!Rule"/>
          <p:cNvSpPr/>
          <p:nvPr/>
        </p:nvSpPr>
        <p:spPr>
          <a:xfrm>
            <a:off x="666750" y="590550"/>
            <a:ext cx="10858500" cy="38100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!!Section"/>
          <p:cNvSpPr txBox="1"/>
          <p:nvPr/>
        </p:nvSpPr>
        <p:spPr>
          <a:xfrm>
            <a:off x="685800" y="828675"/>
            <a:ext cx="102870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ОПЕРАТОР ДНГ / ОЦЕНКА ПОЛЬЗЫ</a:t>
            </a:r>
          </a:p>
        </p:txBody>
      </p:sp>
      <p:sp>
        <p:nvSpPr>
          <p:cNvPr id="24" name="!!Footer"/>
          <p:cNvSpPr txBox="1"/>
          <p:nvPr/>
        </p:nvSpPr>
        <p:spPr>
          <a:xfrm>
            <a:off x="685800" y="6381750"/>
            <a:ext cx="10096500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975" b="0">
                <a:solidFill>
                  <a:srgbClr val="FFFFFF"/>
                </a:solidFill>
                <a:latin typeface="Arial"/>
              </a:defRPr>
            </a:pPr>
            <a:r>
              <a:t>ООО «РН-Юганскнефтегаз» · проект для обсуждения</a:t>
            </a:r>
          </a:p>
        </p:txBody>
      </p:sp>
      <p:sp>
        <p:nvSpPr>
          <p:cNvPr id="25" name="SlideNumber"/>
          <p:cNvSpPr txBox="1"/>
          <p:nvPr/>
        </p:nvSpPr>
        <p:spPr>
          <a:xfrm>
            <a:off x="11096625" y="6381750"/>
            <a:ext cx="523874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975" b="0">
                <a:solidFill>
                  <a:srgbClr val="FFFFFF"/>
                </a:solidFill>
                <a:latin typeface="Arial"/>
              </a:defRPr>
            </a:pPr>
            <a:r>
              <a:t>19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 xmlns:p14="http://schemas.microsoft.com/office/powerpoint/2010/main">
    <mc:Choice Requires="p159">
      <p:transition advClick="1" spd="slow" p14:dur="1400">
        <p159:morph option="byObject"/>
      </p:transition>
    </mc:Choice>
    <mc:Fallback>
      <p:transition advClick="1" spd="slow">
        <p:push dir="l"/>
      </p:transition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Panel0"/>
          <p:cNvSpPr/>
          <p:nvPr/>
        </p:nvSpPr>
        <p:spPr>
          <a:xfrm>
            <a:off x="13335000" y="1428750"/>
            <a:ext cx="2571750" cy="466725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" name="!!PanelImage0" descr="manual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3839825" y="2619375"/>
            <a:ext cx="1562100" cy="3381375"/>
          </a:xfrm>
          <a:prstGeom prst="rect">
            <a:avLst/>
          </a:prstGeom>
        </p:spPr>
      </p:pic>
      <p:sp>
        <p:nvSpPr>
          <p:cNvPr id="4" name="!!PanelTitle0"/>
          <p:cNvSpPr txBox="1"/>
          <p:nvPr/>
        </p:nvSpPr>
        <p:spPr>
          <a:xfrm>
            <a:off x="13430250" y="1504950"/>
            <a:ext cx="2381250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050" b="0">
                <a:solidFill>
                  <a:srgbClr val="000000"/>
                </a:solidFill>
                <a:latin typeface="Arial"/>
              </a:defRPr>
            </a:pPr>
          </a:p>
        </p:txBody>
      </p:sp>
      <p:sp>
        <p:nvSpPr>
          <p:cNvPr id="5" name="!!Panel1"/>
          <p:cNvSpPr/>
          <p:nvPr/>
        </p:nvSpPr>
        <p:spPr>
          <a:xfrm>
            <a:off x="16097250" y="1428750"/>
            <a:ext cx="2571750" cy="466725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6" name="!!PanelImage1" descr="ped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6602075" y="2619375"/>
            <a:ext cx="1562100" cy="3381375"/>
          </a:xfrm>
          <a:prstGeom prst="rect">
            <a:avLst/>
          </a:prstGeom>
        </p:spPr>
      </p:pic>
      <p:sp>
        <p:nvSpPr>
          <p:cNvPr id="7" name="!!PanelTitle1"/>
          <p:cNvSpPr txBox="1"/>
          <p:nvPr/>
        </p:nvSpPr>
        <p:spPr>
          <a:xfrm>
            <a:off x="16192499" y="1504950"/>
            <a:ext cx="2381250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050" b="0">
                <a:solidFill>
                  <a:srgbClr val="000000"/>
                </a:solidFill>
                <a:latin typeface="Arial"/>
              </a:defRPr>
            </a:pPr>
          </a:p>
        </p:txBody>
      </p:sp>
      <p:sp>
        <p:nvSpPr>
          <p:cNvPr id="8" name="!!Panel2"/>
          <p:cNvSpPr/>
          <p:nvPr/>
        </p:nvSpPr>
        <p:spPr>
          <a:xfrm>
            <a:off x="18859500" y="1428750"/>
            <a:ext cx="2571750" cy="466725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!!PanelImage2" descr="ramp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9364325" y="2619375"/>
            <a:ext cx="1562100" cy="3381375"/>
          </a:xfrm>
          <a:prstGeom prst="rect">
            <a:avLst/>
          </a:prstGeom>
        </p:spPr>
      </p:pic>
      <p:sp>
        <p:nvSpPr>
          <p:cNvPr id="10" name="!!PanelTitle2"/>
          <p:cNvSpPr txBox="1"/>
          <p:nvPr/>
        </p:nvSpPr>
        <p:spPr>
          <a:xfrm>
            <a:off x="18954750" y="1504950"/>
            <a:ext cx="2381250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050" b="0">
                <a:solidFill>
                  <a:srgbClr val="000000"/>
                </a:solidFill>
                <a:latin typeface="Arial"/>
              </a:defRPr>
            </a:pPr>
          </a:p>
        </p:txBody>
      </p:sp>
      <p:sp>
        <p:nvSpPr>
          <p:cNvPr id="11" name="!!Panel3"/>
          <p:cNvSpPr/>
          <p:nvPr/>
        </p:nvSpPr>
        <p:spPr>
          <a:xfrm>
            <a:off x="21621750" y="1428750"/>
            <a:ext cx="2571750" cy="466725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2" name="!!PanelImage3" descr="vnr.pn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22126575" y="2619375"/>
            <a:ext cx="1562100" cy="3381375"/>
          </a:xfrm>
          <a:prstGeom prst="rect">
            <a:avLst/>
          </a:prstGeom>
        </p:spPr>
      </p:pic>
      <p:sp>
        <p:nvSpPr>
          <p:cNvPr id="13" name="!!PanelTitle3"/>
          <p:cNvSpPr txBox="1"/>
          <p:nvPr/>
        </p:nvSpPr>
        <p:spPr>
          <a:xfrm>
            <a:off x="21717000" y="1504950"/>
            <a:ext cx="2381250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050" b="0">
                <a:solidFill>
                  <a:srgbClr val="000000"/>
                </a:solidFill>
                <a:latin typeface="Arial"/>
              </a:defRPr>
            </a:pPr>
          </a:p>
        </p:txBody>
      </p:sp>
      <p:sp>
        <p:nvSpPr>
          <p:cNvPr id="14" name="!!Headline"/>
          <p:cNvSpPr txBox="1"/>
          <p:nvPr/>
        </p:nvSpPr>
        <p:spPr>
          <a:xfrm>
            <a:off x="685800" y="1476375"/>
            <a:ext cx="10668000" cy="1619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4200" b="1">
                <a:solidFill>
                  <a:srgbClr val="FFFFFF"/>
                </a:solidFill>
                <a:latin typeface="Arial"/>
              </a:defRPr>
            </a:pPr>
            <a:r>
              <a:t>Предложение: пилот.</a:t>
            </a:r>
          </a:p>
        </p:txBody>
      </p:sp>
      <p:sp>
        <p:nvSpPr>
          <p:cNvPr id="15" name="!!Subtitle"/>
          <p:cNvSpPr txBox="1"/>
          <p:nvPr/>
        </p:nvSpPr>
        <p:spPr>
          <a:xfrm>
            <a:off x="723900" y="2905125"/>
            <a:ext cx="10668000" cy="152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2025" b="0">
                <a:solidFill>
                  <a:srgbClr val="B7B7B7"/>
                </a:solidFill>
                <a:latin typeface="Arial"/>
              </a:defRPr>
            </a:pPr>
            <a:r>
              <a:t>Проверить содержание. Оценить применение.</a:t>
            </a:r>
          </a:p>
          <a:p>
            <a:pPr>
              <a:lnSpc>
                <a:spcPct val="104000"/>
              </a:lnSpc>
              <a:spcAft>
                <a:spcPts val="700"/>
              </a:spcAft>
              <a:defRPr sz="2025" b="0">
                <a:solidFill>
                  <a:srgbClr val="B7B7B7"/>
                </a:solidFill>
                <a:latin typeface="Arial"/>
              </a:defRPr>
            </a:pPr>
            <a:r>
              <a:t>Принять решение по результатам.</a:t>
            </a:r>
          </a:p>
        </p:txBody>
      </p:sp>
      <p:sp>
        <p:nvSpPr>
          <p:cNvPr id="16" name="!!PilotLine"/>
          <p:cNvSpPr/>
          <p:nvPr/>
        </p:nvSpPr>
        <p:spPr>
          <a:xfrm>
            <a:off x="809625" y="4667250"/>
            <a:ext cx="10287000" cy="28575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Block_16"/>
          <p:cNvSpPr/>
          <p:nvPr/>
        </p:nvSpPr>
        <p:spPr>
          <a:xfrm>
            <a:off x="809625" y="4600575"/>
            <a:ext cx="142875" cy="142875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_17"/>
          <p:cNvSpPr txBox="1"/>
          <p:nvPr/>
        </p:nvSpPr>
        <p:spPr>
          <a:xfrm>
            <a:off x="809625" y="5048250"/>
            <a:ext cx="2571750" cy="52387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2325" b="1">
                <a:solidFill>
                  <a:srgbClr val="FFFFFF"/>
                </a:solidFill>
                <a:latin typeface="Arial"/>
              </a:defRPr>
            </a:pPr>
            <a:r>
              <a:t>Проверка</a:t>
            </a:r>
          </a:p>
        </p:txBody>
      </p:sp>
      <p:sp>
        <p:nvSpPr>
          <p:cNvPr id="19" name="Text_18"/>
          <p:cNvSpPr txBox="1"/>
          <p:nvPr/>
        </p:nvSpPr>
        <p:spPr>
          <a:xfrm>
            <a:off x="809625" y="5667375"/>
            <a:ext cx="2571750" cy="4286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350" b="0">
                <a:solidFill>
                  <a:srgbClr val="B7B7B7"/>
                </a:solidFill>
                <a:latin typeface="Arial"/>
              </a:defRPr>
            </a:pPr>
            <a:r>
              <a:t>Профильные специалисты</a:t>
            </a:r>
          </a:p>
        </p:txBody>
      </p:sp>
      <p:sp>
        <p:nvSpPr>
          <p:cNvPr id="20" name="Block_19"/>
          <p:cNvSpPr/>
          <p:nvPr/>
        </p:nvSpPr>
        <p:spPr>
          <a:xfrm>
            <a:off x="3571875" y="4600575"/>
            <a:ext cx="142875" cy="142875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_20"/>
          <p:cNvSpPr txBox="1"/>
          <p:nvPr/>
        </p:nvSpPr>
        <p:spPr>
          <a:xfrm>
            <a:off x="3571875" y="5048250"/>
            <a:ext cx="2571750" cy="52387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2325" b="1">
                <a:solidFill>
                  <a:srgbClr val="FFFFFF"/>
                </a:solidFill>
                <a:latin typeface="Arial"/>
              </a:defRPr>
            </a:pPr>
            <a:r>
              <a:t>Пилот</a:t>
            </a:r>
          </a:p>
        </p:txBody>
      </p:sp>
      <p:sp>
        <p:nvSpPr>
          <p:cNvPr id="22" name="Text_21"/>
          <p:cNvSpPr txBox="1"/>
          <p:nvPr/>
        </p:nvSpPr>
        <p:spPr>
          <a:xfrm>
            <a:off x="3571875" y="5667375"/>
            <a:ext cx="2571750" cy="4286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350" b="0">
                <a:solidFill>
                  <a:srgbClr val="B7B7B7"/>
                </a:solidFill>
                <a:latin typeface="Arial"/>
              </a:defRPr>
            </a:pPr>
            <a:r>
              <a:t>Ограниченная группа</a:t>
            </a:r>
          </a:p>
        </p:txBody>
      </p:sp>
      <p:sp>
        <p:nvSpPr>
          <p:cNvPr id="23" name="Block_22"/>
          <p:cNvSpPr/>
          <p:nvPr/>
        </p:nvSpPr>
        <p:spPr>
          <a:xfrm>
            <a:off x="6334125" y="4600575"/>
            <a:ext cx="142875" cy="142875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_23"/>
          <p:cNvSpPr txBox="1"/>
          <p:nvPr/>
        </p:nvSpPr>
        <p:spPr>
          <a:xfrm>
            <a:off x="6334125" y="5048250"/>
            <a:ext cx="2571750" cy="52387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2325" b="1">
                <a:solidFill>
                  <a:srgbClr val="FFFFFF"/>
                </a:solidFill>
                <a:latin typeface="Arial"/>
              </a:defRPr>
            </a:pPr>
            <a:r>
              <a:t>Измерения</a:t>
            </a:r>
          </a:p>
        </p:txBody>
      </p:sp>
      <p:sp>
        <p:nvSpPr>
          <p:cNvPr id="25" name="Text_24"/>
          <p:cNvSpPr txBox="1"/>
          <p:nvPr/>
        </p:nvSpPr>
        <p:spPr>
          <a:xfrm>
            <a:off x="6334125" y="5667375"/>
            <a:ext cx="2571750" cy="4286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350" b="0">
                <a:solidFill>
                  <a:srgbClr val="B7B7B7"/>
                </a:solidFill>
                <a:latin typeface="Arial"/>
              </a:defRPr>
            </a:pPr>
            <a:r>
              <a:t>Единые показатели</a:t>
            </a:r>
          </a:p>
        </p:txBody>
      </p:sp>
      <p:sp>
        <p:nvSpPr>
          <p:cNvPr id="26" name="Block_25"/>
          <p:cNvSpPr/>
          <p:nvPr/>
        </p:nvSpPr>
        <p:spPr>
          <a:xfrm>
            <a:off x="9096375" y="4600575"/>
            <a:ext cx="142875" cy="142875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_26"/>
          <p:cNvSpPr txBox="1"/>
          <p:nvPr/>
        </p:nvSpPr>
        <p:spPr>
          <a:xfrm>
            <a:off x="9096375" y="5048250"/>
            <a:ext cx="2571750" cy="52387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2325" b="1">
                <a:solidFill>
                  <a:srgbClr val="FFFFFF"/>
                </a:solidFill>
                <a:latin typeface="Arial"/>
              </a:defRPr>
            </a:pPr>
            <a:r>
              <a:t>Решение</a:t>
            </a:r>
          </a:p>
        </p:txBody>
      </p:sp>
      <p:sp>
        <p:nvSpPr>
          <p:cNvPr id="28" name="Text_27"/>
          <p:cNvSpPr txBox="1"/>
          <p:nvPr/>
        </p:nvSpPr>
        <p:spPr>
          <a:xfrm>
            <a:off x="9096375" y="5667375"/>
            <a:ext cx="2571750" cy="4286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350" b="0">
                <a:solidFill>
                  <a:srgbClr val="B7B7B7"/>
                </a:solidFill>
                <a:latin typeface="Arial"/>
              </a:defRPr>
            </a:pPr>
            <a:r>
              <a:t>Подтверждённый эффект</a:t>
            </a:r>
          </a:p>
        </p:txBody>
      </p:sp>
      <p:sp>
        <p:nvSpPr>
          <p:cNvPr id="29" name="!!Rule"/>
          <p:cNvSpPr/>
          <p:nvPr/>
        </p:nvSpPr>
        <p:spPr>
          <a:xfrm>
            <a:off x="666750" y="590550"/>
            <a:ext cx="10858500" cy="38100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!!Section"/>
          <p:cNvSpPr txBox="1"/>
          <p:nvPr/>
        </p:nvSpPr>
        <p:spPr>
          <a:xfrm>
            <a:off x="685800" y="828675"/>
            <a:ext cx="102870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ОПЕРАТОР ДНГ / ПРЕДЛОЖЕНИЕ</a:t>
            </a:r>
          </a:p>
        </p:txBody>
      </p:sp>
      <p:sp>
        <p:nvSpPr>
          <p:cNvPr id="31" name="!!Footer"/>
          <p:cNvSpPr txBox="1"/>
          <p:nvPr/>
        </p:nvSpPr>
        <p:spPr>
          <a:xfrm>
            <a:off x="685800" y="6381750"/>
            <a:ext cx="10096500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975" b="0">
                <a:solidFill>
                  <a:srgbClr val="FFFFFF"/>
                </a:solidFill>
                <a:latin typeface="Arial"/>
              </a:defRPr>
            </a:pPr>
            <a:r>
              <a:t>ООО «РН-Юганскнефтегаз» · проект для обсуждения</a:t>
            </a:r>
          </a:p>
        </p:txBody>
      </p:sp>
      <p:sp>
        <p:nvSpPr>
          <p:cNvPr id="32" name="SlideNumber"/>
          <p:cNvSpPr txBox="1"/>
          <p:nvPr/>
        </p:nvSpPr>
        <p:spPr>
          <a:xfrm>
            <a:off x="11096625" y="6381750"/>
            <a:ext cx="523874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975" b="0">
                <a:solidFill>
                  <a:srgbClr val="FFFFFF"/>
                </a:solidFill>
                <a:latin typeface="Arial"/>
              </a:defRPr>
            </a:pPr>
            <a:r>
              <a:t>20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 xmlns:p14="http://schemas.microsoft.com/office/powerpoint/2010/main">
    <mc:Choice Requires="p159">
      <p:transition advClick="1" spd="slow" p14:dur="1400">
        <p159:morph option="byObject"/>
      </p:transition>
    </mc:Choice>
    <mc:Fallback>
      <p:transition advClick="1" spd="slow">
        <p:push dir="l"/>
      </p:transition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Panel0"/>
          <p:cNvSpPr/>
          <p:nvPr/>
        </p:nvSpPr>
        <p:spPr>
          <a:xfrm>
            <a:off x="13335000" y="1428750"/>
            <a:ext cx="2571750" cy="466725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" name="!!PanelImage0" descr="manual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3839825" y="2619375"/>
            <a:ext cx="1562100" cy="3381375"/>
          </a:xfrm>
          <a:prstGeom prst="rect">
            <a:avLst/>
          </a:prstGeom>
        </p:spPr>
      </p:pic>
      <p:sp>
        <p:nvSpPr>
          <p:cNvPr id="4" name="!!PanelTitle0"/>
          <p:cNvSpPr txBox="1"/>
          <p:nvPr/>
        </p:nvSpPr>
        <p:spPr>
          <a:xfrm>
            <a:off x="13430250" y="1504950"/>
            <a:ext cx="2381250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050" b="0">
                <a:solidFill>
                  <a:srgbClr val="000000"/>
                </a:solidFill>
                <a:latin typeface="Arial"/>
              </a:defRPr>
            </a:pPr>
          </a:p>
        </p:txBody>
      </p:sp>
      <p:sp>
        <p:nvSpPr>
          <p:cNvPr id="5" name="!!Panel1"/>
          <p:cNvSpPr/>
          <p:nvPr/>
        </p:nvSpPr>
        <p:spPr>
          <a:xfrm>
            <a:off x="16097250" y="1428750"/>
            <a:ext cx="2571750" cy="466725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6" name="!!PanelImage1" descr="ped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6602075" y="2619375"/>
            <a:ext cx="1562100" cy="3381375"/>
          </a:xfrm>
          <a:prstGeom prst="rect">
            <a:avLst/>
          </a:prstGeom>
        </p:spPr>
      </p:pic>
      <p:sp>
        <p:nvSpPr>
          <p:cNvPr id="7" name="!!PanelTitle1"/>
          <p:cNvSpPr txBox="1"/>
          <p:nvPr/>
        </p:nvSpPr>
        <p:spPr>
          <a:xfrm>
            <a:off x="16192499" y="1504950"/>
            <a:ext cx="2381250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050" b="0">
                <a:solidFill>
                  <a:srgbClr val="000000"/>
                </a:solidFill>
                <a:latin typeface="Arial"/>
              </a:defRPr>
            </a:pPr>
          </a:p>
        </p:txBody>
      </p:sp>
      <p:sp>
        <p:nvSpPr>
          <p:cNvPr id="8" name="!!Panel2"/>
          <p:cNvSpPr/>
          <p:nvPr/>
        </p:nvSpPr>
        <p:spPr>
          <a:xfrm>
            <a:off x="18859500" y="1428750"/>
            <a:ext cx="2571750" cy="466725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!!PanelImage2" descr="ramp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9364325" y="2619375"/>
            <a:ext cx="1562100" cy="3381375"/>
          </a:xfrm>
          <a:prstGeom prst="rect">
            <a:avLst/>
          </a:prstGeom>
        </p:spPr>
      </p:pic>
      <p:sp>
        <p:nvSpPr>
          <p:cNvPr id="10" name="!!PanelTitle2"/>
          <p:cNvSpPr txBox="1"/>
          <p:nvPr/>
        </p:nvSpPr>
        <p:spPr>
          <a:xfrm>
            <a:off x="18954750" y="1504950"/>
            <a:ext cx="2381250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050" b="0">
                <a:solidFill>
                  <a:srgbClr val="000000"/>
                </a:solidFill>
                <a:latin typeface="Arial"/>
              </a:defRPr>
            </a:pPr>
          </a:p>
        </p:txBody>
      </p:sp>
      <p:sp>
        <p:nvSpPr>
          <p:cNvPr id="11" name="!!Panel3"/>
          <p:cNvSpPr/>
          <p:nvPr/>
        </p:nvSpPr>
        <p:spPr>
          <a:xfrm>
            <a:off x="21621750" y="1428750"/>
            <a:ext cx="2571750" cy="466725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2" name="!!PanelImage3" descr="vnr.pn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22126575" y="2619375"/>
            <a:ext cx="1562100" cy="3381375"/>
          </a:xfrm>
          <a:prstGeom prst="rect">
            <a:avLst/>
          </a:prstGeom>
        </p:spPr>
      </p:pic>
      <p:sp>
        <p:nvSpPr>
          <p:cNvPr id="13" name="!!PanelTitle3"/>
          <p:cNvSpPr txBox="1"/>
          <p:nvPr/>
        </p:nvSpPr>
        <p:spPr>
          <a:xfrm>
            <a:off x="21717000" y="1504950"/>
            <a:ext cx="2381250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050" b="0">
                <a:solidFill>
                  <a:srgbClr val="000000"/>
                </a:solidFill>
                <a:latin typeface="Arial"/>
              </a:defRPr>
            </a:pPr>
          </a:p>
        </p:txBody>
      </p:sp>
      <p:pic>
        <p:nvPicPr>
          <p:cNvPr id="14" name="!!OilfieldImage" descr="image.png"/>
          <p:cNvPicPr>
            <a:picLocks noChangeAspect="1"/>
          </p:cNvPicPr>
          <p:nvPr/>
        </p:nvPicPr>
        <p:blipFill>
          <a:blip r:embed="rId6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!!ProductTitle"/>
          <p:cNvSpPr txBox="1"/>
          <p:nvPr/>
        </p:nvSpPr>
        <p:spPr>
          <a:xfrm>
            <a:off x="685800" y="1476375"/>
            <a:ext cx="9048750" cy="9048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5250" b="1">
                <a:solidFill>
                  <a:srgbClr val="FFFFFF"/>
                </a:solidFill>
                <a:latin typeface="Arial"/>
              </a:defRPr>
            </a:pPr>
            <a:r>
              <a:t>ОПЕРАТОР ДНГ</a:t>
            </a:r>
          </a:p>
        </p:txBody>
      </p:sp>
      <p:sp>
        <p:nvSpPr>
          <p:cNvPr id="16" name="!!ProductSubtitle"/>
          <p:cNvSpPr txBox="1"/>
          <p:nvPr/>
        </p:nvSpPr>
        <p:spPr>
          <a:xfrm>
            <a:off x="733425" y="3000375"/>
            <a:ext cx="8096249" cy="152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4050" b="1">
                <a:solidFill>
                  <a:srgbClr val="FFCD00"/>
                </a:solidFill>
                <a:latin typeface="Arial"/>
              </a:defRPr>
            </a:pPr>
            <a:r>
              <a:t>Рабочие инструменты.</a:t>
            </a:r>
          </a:p>
          <a:p>
            <a:pPr>
              <a:lnSpc>
                <a:spcPct val="104000"/>
              </a:lnSpc>
              <a:spcAft>
                <a:spcPts val="700"/>
              </a:spcAft>
              <a:defRPr sz="4050" b="1">
                <a:solidFill>
                  <a:srgbClr val="FFCD00"/>
                </a:solidFill>
                <a:latin typeface="Arial"/>
              </a:defRPr>
            </a:pPr>
            <a:r>
              <a:t>Всегда рядом.</a:t>
            </a:r>
          </a:p>
        </p:txBody>
      </p:sp>
      <p:sp>
        <p:nvSpPr>
          <p:cNvPr id="17" name="Text_16"/>
          <p:cNvSpPr txBox="1"/>
          <p:nvPr/>
        </p:nvSpPr>
        <p:spPr>
          <a:xfrm>
            <a:off x="762000" y="5238750"/>
            <a:ext cx="8572500" cy="666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2175" b="0">
                <a:solidFill>
                  <a:srgbClr val="FFFFFF"/>
                </a:solidFill>
                <a:latin typeface="Arial"/>
              </a:defRPr>
            </a:pPr>
            <a:r>
              <a:t>Предложение: профильная проверка и пилот.</a:t>
            </a:r>
          </a:p>
        </p:txBody>
      </p:sp>
      <p:sp>
        <p:nvSpPr>
          <p:cNvPr id="18" name="!!Rule"/>
          <p:cNvSpPr/>
          <p:nvPr/>
        </p:nvSpPr>
        <p:spPr>
          <a:xfrm>
            <a:off x="666750" y="590550"/>
            <a:ext cx="10858500" cy="38100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!!Section"/>
          <p:cNvSpPr txBox="1"/>
          <p:nvPr/>
        </p:nvSpPr>
        <p:spPr>
          <a:xfrm>
            <a:off x="685800" y="828675"/>
            <a:ext cx="102870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ОПЕРАТОР ДНГ / ОПЕРАТОР ДНГ</a:t>
            </a:r>
          </a:p>
        </p:txBody>
      </p:sp>
      <p:sp>
        <p:nvSpPr>
          <p:cNvPr id="20" name="!!Footer"/>
          <p:cNvSpPr txBox="1"/>
          <p:nvPr/>
        </p:nvSpPr>
        <p:spPr>
          <a:xfrm>
            <a:off x="685800" y="6381750"/>
            <a:ext cx="10096500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975" b="0">
                <a:solidFill>
                  <a:srgbClr val="FFFFFF"/>
                </a:solidFill>
                <a:latin typeface="Arial"/>
              </a:defRPr>
            </a:pPr>
            <a:r>
              <a:t>ООО «РН-Юганскнефтегаз» · проект для обсуждения</a:t>
            </a:r>
          </a:p>
        </p:txBody>
      </p:sp>
      <p:sp>
        <p:nvSpPr>
          <p:cNvPr id="21" name="SlideNumber"/>
          <p:cNvSpPr txBox="1"/>
          <p:nvPr/>
        </p:nvSpPr>
        <p:spPr>
          <a:xfrm>
            <a:off x="11096625" y="6381750"/>
            <a:ext cx="523874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975" b="0">
                <a:solidFill>
                  <a:srgbClr val="FFFFFF"/>
                </a:solidFill>
                <a:latin typeface="Arial"/>
              </a:defRPr>
            </a:pPr>
            <a:r>
              <a:t>21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 xmlns:p14="http://schemas.microsoft.com/office/powerpoint/2010/main">
    <mc:Choice Requires="p159">
      <p:transition advClick="1" spd="slow" p14:dur="1400">
        <p159:morph option="byObject"/>
      </p:transition>
    </mc:Choice>
    <mc:Fallback>
      <p:transition advClick="1" spd="slow">
        <p:push dir="l"/>
      </p:transition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Panel0"/>
          <p:cNvSpPr/>
          <p:nvPr/>
        </p:nvSpPr>
        <p:spPr>
          <a:xfrm>
            <a:off x="13335000" y="1428750"/>
            <a:ext cx="2571750" cy="466725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" name="!!PanelImage0" descr="manual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3839825" y="2619375"/>
            <a:ext cx="1562100" cy="3381375"/>
          </a:xfrm>
          <a:prstGeom prst="rect">
            <a:avLst/>
          </a:prstGeom>
        </p:spPr>
      </p:pic>
      <p:sp>
        <p:nvSpPr>
          <p:cNvPr id="4" name="!!PanelTitle0"/>
          <p:cNvSpPr txBox="1"/>
          <p:nvPr/>
        </p:nvSpPr>
        <p:spPr>
          <a:xfrm>
            <a:off x="13430250" y="1504950"/>
            <a:ext cx="2381250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050" b="0">
                <a:solidFill>
                  <a:srgbClr val="000000"/>
                </a:solidFill>
                <a:latin typeface="Arial"/>
              </a:defRPr>
            </a:pPr>
          </a:p>
        </p:txBody>
      </p:sp>
      <p:sp>
        <p:nvSpPr>
          <p:cNvPr id="5" name="!!Panel1"/>
          <p:cNvSpPr/>
          <p:nvPr/>
        </p:nvSpPr>
        <p:spPr>
          <a:xfrm>
            <a:off x="16097250" y="1428750"/>
            <a:ext cx="2571750" cy="466725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6" name="!!PanelImage1" descr="ped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6602075" y="2619375"/>
            <a:ext cx="1562100" cy="3381375"/>
          </a:xfrm>
          <a:prstGeom prst="rect">
            <a:avLst/>
          </a:prstGeom>
        </p:spPr>
      </p:pic>
      <p:sp>
        <p:nvSpPr>
          <p:cNvPr id="7" name="!!PanelTitle1"/>
          <p:cNvSpPr txBox="1"/>
          <p:nvPr/>
        </p:nvSpPr>
        <p:spPr>
          <a:xfrm>
            <a:off x="16192499" y="1504950"/>
            <a:ext cx="2381250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050" b="0">
                <a:solidFill>
                  <a:srgbClr val="000000"/>
                </a:solidFill>
                <a:latin typeface="Arial"/>
              </a:defRPr>
            </a:pPr>
          </a:p>
        </p:txBody>
      </p:sp>
      <p:sp>
        <p:nvSpPr>
          <p:cNvPr id="8" name="!!Panel2"/>
          <p:cNvSpPr/>
          <p:nvPr/>
        </p:nvSpPr>
        <p:spPr>
          <a:xfrm>
            <a:off x="18859500" y="1428750"/>
            <a:ext cx="2571750" cy="466725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!!PanelImage2" descr="ramp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9364325" y="2619375"/>
            <a:ext cx="1562100" cy="3381375"/>
          </a:xfrm>
          <a:prstGeom prst="rect">
            <a:avLst/>
          </a:prstGeom>
        </p:spPr>
      </p:pic>
      <p:sp>
        <p:nvSpPr>
          <p:cNvPr id="10" name="!!PanelTitle2"/>
          <p:cNvSpPr txBox="1"/>
          <p:nvPr/>
        </p:nvSpPr>
        <p:spPr>
          <a:xfrm>
            <a:off x="18954750" y="1504950"/>
            <a:ext cx="2381250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050" b="0">
                <a:solidFill>
                  <a:srgbClr val="000000"/>
                </a:solidFill>
                <a:latin typeface="Arial"/>
              </a:defRPr>
            </a:pPr>
          </a:p>
        </p:txBody>
      </p:sp>
      <p:sp>
        <p:nvSpPr>
          <p:cNvPr id="11" name="!!Panel3"/>
          <p:cNvSpPr/>
          <p:nvPr/>
        </p:nvSpPr>
        <p:spPr>
          <a:xfrm>
            <a:off x="21621750" y="1428750"/>
            <a:ext cx="2571750" cy="466725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2" name="!!PanelImage3" descr="vnr.pn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22126575" y="2619375"/>
            <a:ext cx="1562100" cy="3381375"/>
          </a:xfrm>
          <a:prstGeom prst="rect">
            <a:avLst/>
          </a:prstGeom>
        </p:spPr>
      </p:pic>
      <p:sp>
        <p:nvSpPr>
          <p:cNvPr id="13" name="!!PanelTitle3"/>
          <p:cNvSpPr txBox="1"/>
          <p:nvPr/>
        </p:nvSpPr>
        <p:spPr>
          <a:xfrm>
            <a:off x="21717000" y="1504950"/>
            <a:ext cx="2381250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050" b="0">
                <a:solidFill>
                  <a:srgbClr val="000000"/>
                </a:solidFill>
                <a:latin typeface="Arial"/>
              </a:defRPr>
            </a:pPr>
          </a:p>
        </p:txBody>
      </p:sp>
      <p:sp>
        <p:nvSpPr>
          <p:cNvPr id="14" name="!!Headline"/>
          <p:cNvSpPr txBox="1"/>
          <p:nvPr/>
        </p:nvSpPr>
        <p:spPr>
          <a:xfrm>
            <a:off x="685800" y="1476375"/>
            <a:ext cx="7239000" cy="1619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4200" b="1">
                <a:solidFill>
                  <a:srgbClr val="FFFFFF"/>
                </a:solidFill>
                <a:latin typeface="Arial"/>
              </a:defRPr>
            </a:pPr>
            <a:r>
              <a:t>Автор проекта</a:t>
            </a:r>
          </a:p>
        </p:txBody>
      </p:sp>
      <p:sp>
        <p:nvSpPr>
          <p:cNvPr id="15" name="!!Subtitle"/>
          <p:cNvSpPr txBox="1"/>
          <p:nvPr/>
        </p:nvSpPr>
        <p:spPr>
          <a:xfrm>
            <a:off x="723900" y="3476625"/>
            <a:ext cx="7239000" cy="152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2025" b="0">
                <a:solidFill>
                  <a:srgbClr val="B7B7B7"/>
                </a:solidFill>
                <a:latin typeface="Arial"/>
              </a:defRPr>
            </a:pPr>
            <a:r>
              <a:t>[ФИО]</a:t>
            </a:r>
          </a:p>
          <a:p>
            <a:pPr>
              <a:lnSpc>
                <a:spcPct val="104000"/>
              </a:lnSpc>
              <a:spcAft>
                <a:spcPts val="700"/>
              </a:spcAft>
              <a:defRPr sz="2025" b="0">
                <a:solidFill>
                  <a:srgbClr val="B7B7B7"/>
                </a:solidFill>
                <a:latin typeface="Arial"/>
              </a:defRPr>
            </a:pPr>
            <a:r>
              <a:t>[Должность · номер цеха]</a:t>
            </a:r>
          </a:p>
        </p:txBody>
      </p:sp>
      <p:sp>
        <p:nvSpPr>
          <p:cNvPr id="16" name="PortraitFrame"/>
          <p:cNvSpPr/>
          <p:nvPr/>
        </p:nvSpPr>
        <p:spPr>
          <a:xfrm>
            <a:off x="8334375" y="1524000"/>
            <a:ext cx="2857500" cy="4286250"/>
          </a:xfrm>
          <a:prstGeom prst="rect">
            <a:avLst/>
          </a:prstGeom>
          <a:solidFill>
            <a:srgbClr val="24242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_16"/>
          <p:cNvSpPr txBox="1"/>
          <p:nvPr/>
        </p:nvSpPr>
        <p:spPr>
          <a:xfrm>
            <a:off x="8763000" y="3238500"/>
            <a:ext cx="2047875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2025" b="0">
                <a:solidFill>
                  <a:srgbClr val="B7B7B7"/>
                </a:solidFill>
                <a:latin typeface="Arial"/>
              </a:defRPr>
            </a:pPr>
            <a:r>
              <a:t>Фото автора</a:t>
            </a:r>
          </a:p>
          <a:p>
            <a:pPr>
              <a:lnSpc>
                <a:spcPct val="104000"/>
              </a:lnSpc>
              <a:spcAft>
                <a:spcPts val="700"/>
              </a:spcAft>
              <a:defRPr sz="2025" b="0">
                <a:solidFill>
                  <a:srgbClr val="B7B7B7"/>
                </a:solidFill>
                <a:latin typeface="Arial"/>
              </a:defRPr>
            </a:pPr>
            <a:r>
              <a:t>пока не получено</a:t>
            </a:r>
          </a:p>
        </p:txBody>
      </p:sp>
      <p:sp>
        <p:nvSpPr>
          <p:cNvPr id="18" name="!!Rule"/>
          <p:cNvSpPr/>
          <p:nvPr/>
        </p:nvSpPr>
        <p:spPr>
          <a:xfrm>
            <a:off x="666750" y="590550"/>
            <a:ext cx="10858500" cy="38100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!!Section"/>
          <p:cNvSpPr txBox="1"/>
          <p:nvPr/>
        </p:nvSpPr>
        <p:spPr>
          <a:xfrm>
            <a:off x="685800" y="828675"/>
            <a:ext cx="102870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ОПЕРАТОР ДНГ / АВТОР / ЗАПАСНОЙ</a:t>
            </a:r>
          </a:p>
        </p:txBody>
      </p:sp>
      <p:sp>
        <p:nvSpPr>
          <p:cNvPr id="20" name="!!Footer"/>
          <p:cNvSpPr txBox="1"/>
          <p:nvPr/>
        </p:nvSpPr>
        <p:spPr>
          <a:xfrm>
            <a:off x="685800" y="6381750"/>
            <a:ext cx="10096500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975" b="0">
                <a:solidFill>
                  <a:srgbClr val="FFFFFF"/>
                </a:solidFill>
                <a:latin typeface="Arial"/>
              </a:defRPr>
            </a:pPr>
            <a:r>
              <a:t>ООО «РН-Юганскнефтегаз» · проект для обсуждения</a:t>
            </a:r>
          </a:p>
        </p:txBody>
      </p:sp>
      <p:sp>
        <p:nvSpPr>
          <p:cNvPr id="21" name="SlideNumber"/>
          <p:cNvSpPr txBox="1"/>
          <p:nvPr/>
        </p:nvSpPr>
        <p:spPr>
          <a:xfrm>
            <a:off x="11096625" y="6381750"/>
            <a:ext cx="523874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975" b="0">
                <a:solidFill>
                  <a:srgbClr val="FFFFFF"/>
                </a:solidFill>
                <a:latin typeface="Arial"/>
              </a:defRPr>
            </a:pPr>
            <a:r>
              <a:t>22</a:t>
            </a:r>
          </a:p>
        </p:txBody>
      </p:sp>
    </p:spTree>
  </p:cSld>
  <p:clrMapOvr>
    <a:masterClrMapping/>
  </p:clrMapOvr>
  <p:transition advClick="1">
    <p:fade/>
  </p:transition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Panel0"/>
          <p:cNvSpPr/>
          <p:nvPr/>
        </p:nvSpPr>
        <p:spPr>
          <a:xfrm>
            <a:off x="13335000" y="1428750"/>
            <a:ext cx="2571750" cy="466725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" name="!!PanelImage0" descr="manual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3839825" y="2619375"/>
            <a:ext cx="1562100" cy="3381375"/>
          </a:xfrm>
          <a:prstGeom prst="rect">
            <a:avLst/>
          </a:prstGeom>
        </p:spPr>
      </p:pic>
      <p:sp>
        <p:nvSpPr>
          <p:cNvPr id="4" name="!!PanelTitle0"/>
          <p:cNvSpPr txBox="1"/>
          <p:nvPr/>
        </p:nvSpPr>
        <p:spPr>
          <a:xfrm>
            <a:off x="13430250" y="1504950"/>
            <a:ext cx="2381250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050" b="0">
                <a:solidFill>
                  <a:srgbClr val="000000"/>
                </a:solidFill>
                <a:latin typeface="Arial"/>
              </a:defRPr>
            </a:pPr>
          </a:p>
        </p:txBody>
      </p:sp>
      <p:sp>
        <p:nvSpPr>
          <p:cNvPr id="5" name="!!Panel1"/>
          <p:cNvSpPr/>
          <p:nvPr/>
        </p:nvSpPr>
        <p:spPr>
          <a:xfrm>
            <a:off x="16097250" y="1428750"/>
            <a:ext cx="2571750" cy="466725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6" name="!!PanelImage1" descr="ped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6602075" y="2619375"/>
            <a:ext cx="1562100" cy="3381375"/>
          </a:xfrm>
          <a:prstGeom prst="rect">
            <a:avLst/>
          </a:prstGeom>
        </p:spPr>
      </p:pic>
      <p:sp>
        <p:nvSpPr>
          <p:cNvPr id="7" name="!!PanelTitle1"/>
          <p:cNvSpPr txBox="1"/>
          <p:nvPr/>
        </p:nvSpPr>
        <p:spPr>
          <a:xfrm>
            <a:off x="16192499" y="1504950"/>
            <a:ext cx="2381250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050" b="0">
                <a:solidFill>
                  <a:srgbClr val="000000"/>
                </a:solidFill>
                <a:latin typeface="Arial"/>
              </a:defRPr>
            </a:pPr>
          </a:p>
        </p:txBody>
      </p:sp>
      <p:sp>
        <p:nvSpPr>
          <p:cNvPr id="8" name="!!Panel2"/>
          <p:cNvSpPr/>
          <p:nvPr/>
        </p:nvSpPr>
        <p:spPr>
          <a:xfrm>
            <a:off x="18859500" y="1428750"/>
            <a:ext cx="2571750" cy="466725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!!PanelImage2" descr="ramp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9364325" y="2619375"/>
            <a:ext cx="1562100" cy="3381375"/>
          </a:xfrm>
          <a:prstGeom prst="rect">
            <a:avLst/>
          </a:prstGeom>
        </p:spPr>
      </p:pic>
      <p:sp>
        <p:nvSpPr>
          <p:cNvPr id="10" name="!!PanelTitle2"/>
          <p:cNvSpPr txBox="1"/>
          <p:nvPr/>
        </p:nvSpPr>
        <p:spPr>
          <a:xfrm>
            <a:off x="18954750" y="1504950"/>
            <a:ext cx="2381250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050" b="0">
                <a:solidFill>
                  <a:srgbClr val="000000"/>
                </a:solidFill>
                <a:latin typeface="Arial"/>
              </a:defRPr>
            </a:pPr>
          </a:p>
        </p:txBody>
      </p:sp>
      <p:sp>
        <p:nvSpPr>
          <p:cNvPr id="11" name="!!Panel3"/>
          <p:cNvSpPr/>
          <p:nvPr/>
        </p:nvSpPr>
        <p:spPr>
          <a:xfrm>
            <a:off x="21621750" y="1428750"/>
            <a:ext cx="2571750" cy="466725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2" name="!!PanelImage3" descr="vnr.pn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22126575" y="2619375"/>
            <a:ext cx="1562100" cy="3381375"/>
          </a:xfrm>
          <a:prstGeom prst="rect">
            <a:avLst/>
          </a:prstGeom>
        </p:spPr>
      </p:pic>
      <p:sp>
        <p:nvSpPr>
          <p:cNvPr id="13" name="!!PanelTitle3"/>
          <p:cNvSpPr txBox="1"/>
          <p:nvPr/>
        </p:nvSpPr>
        <p:spPr>
          <a:xfrm>
            <a:off x="21717000" y="1504950"/>
            <a:ext cx="2381250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050" b="0">
                <a:solidFill>
                  <a:srgbClr val="000000"/>
                </a:solidFill>
                <a:latin typeface="Arial"/>
              </a:defRPr>
            </a:pPr>
          </a:p>
        </p:txBody>
      </p:sp>
      <p:sp>
        <p:nvSpPr>
          <p:cNvPr id="14" name="!!Headline"/>
          <p:cNvSpPr txBox="1"/>
          <p:nvPr/>
        </p:nvSpPr>
        <p:spPr>
          <a:xfrm>
            <a:off x="685800" y="1476375"/>
            <a:ext cx="10763250" cy="1619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4050" b="1">
                <a:solidFill>
                  <a:srgbClr val="FFFFFF"/>
                </a:solidFill>
                <a:latin typeface="Arial"/>
              </a:defRPr>
            </a:pPr>
            <a:r>
              <a:t>Расчёты и ограничения</a:t>
            </a:r>
          </a:p>
        </p:txBody>
      </p:sp>
      <p:sp>
        <p:nvSpPr>
          <p:cNvPr id="15" name="Block_14"/>
          <p:cNvSpPr/>
          <p:nvPr/>
        </p:nvSpPr>
        <p:spPr>
          <a:xfrm>
            <a:off x="723900" y="3352800"/>
            <a:ext cx="38100" cy="228600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ow0"/>
          <p:cNvSpPr txBox="1"/>
          <p:nvPr/>
        </p:nvSpPr>
        <p:spPr>
          <a:xfrm>
            <a:off x="933449" y="3286125"/>
            <a:ext cx="10572750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800" b="0">
                <a:solidFill>
                  <a:srgbClr val="FFFFFF"/>
                </a:solidFill>
                <a:latin typeface="Arial"/>
              </a:defRPr>
            </a:pPr>
            <a:r>
              <a:t>Q = 86,4 × V / t  ·  литры, секунды → м³/сут</a:t>
            </a:r>
          </a:p>
        </p:txBody>
      </p:sp>
      <p:sp>
        <p:nvSpPr>
          <p:cNvPr id="17" name="Block_16"/>
          <p:cNvSpPr/>
          <p:nvPr/>
        </p:nvSpPr>
        <p:spPr>
          <a:xfrm>
            <a:off x="723900" y="4000500"/>
            <a:ext cx="38100" cy="228600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Row1"/>
          <p:cNvSpPr txBox="1"/>
          <p:nvPr/>
        </p:nvSpPr>
        <p:spPr>
          <a:xfrm>
            <a:off x="933449" y="3933824"/>
            <a:ext cx="10572750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800" b="0">
                <a:solidFill>
                  <a:srgbClr val="FFFFFF"/>
                </a:solidFill>
                <a:latin typeface="Arial"/>
              </a:defRPr>
            </a:pPr>
            <a:r>
              <a:t>100 л / 60 с → 144 м³/сут; 100 л / 1200 с → 7,2 м³/сут</a:t>
            </a:r>
          </a:p>
        </p:txBody>
      </p:sp>
      <p:sp>
        <p:nvSpPr>
          <p:cNvPr id="19" name="Block_18"/>
          <p:cNvSpPr/>
          <p:nvPr/>
        </p:nvSpPr>
        <p:spPr>
          <a:xfrm>
            <a:off x="723900" y="4648200"/>
            <a:ext cx="38100" cy="228600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ow2"/>
          <p:cNvSpPr txBox="1"/>
          <p:nvPr/>
        </p:nvSpPr>
        <p:spPr>
          <a:xfrm>
            <a:off x="933449" y="4581525"/>
            <a:ext cx="10572750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800" b="0">
                <a:solidFill>
                  <a:srgbClr val="FFFFFF"/>
                </a:solidFill>
                <a:latin typeface="Arial"/>
              </a:defRPr>
            </a:pPr>
            <a:r>
              <a:t>Отчёт PWA v3: 58 тестов, 479 эталонных наборов, 6 проверок сборки</a:t>
            </a:r>
          </a:p>
        </p:txBody>
      </p:sp>
      <p:sp>
        <p:nvSpPr>
          <p:cNvPr id="21" name="Block_20"/>
          <p:cNvSpPr/>
          <p:nvPr/>
        </p:nvSpPr>
        <p:spPr>
          <a:xfrm>
            <a:off x="723900" y="5295900"/>
            <a:ext cx="38100" cy="228600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Row3"/>
          <p:cNvSpPr txBox="1"/>
          <p:nvPr/>
        </p:nvSpPr>
        <p:spPr>
          <a:xfrm>
            <a:off x="933449" y="5229225"/>
            <a:ext cx="10572750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800" b="0">
                <a:solidFill>
                  <a:srgbClr val="FFFFFF"/>
                </a:solidFill>
                <a:latin typeface="Arial"/>
              </a:defRPr>
            </a:pPr>
            <a:r>
              <a:t>Реальные iPhone, Android и PowerPoint здесь не испытаны</a:t>
            </a:r>
          </a:p>
        </p:txBody>
      </p:sp>
      <p:sp>
        <p:nvSpPr>
          <p:cNvPr id="23" name="!!Rule"/>
          <p:cNvSpPr/>
          <p:nvPr/>
        </p:nvSpPr>
        <p:spPr>
          <a:xfrm>
            <a:off x="666750" y="590550"/>
            <a:ext cx="10858500" cy="38100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!!Section"/>
          <p:cNvSpPr txBox="1"/>
          <p:nvPr/>
        </p:nvSpPr>
        <p:spPr>
          <a:xfrm>
            <a:off x="685800" y="828675"/>
            <a:ext cx="102870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ОПЕРАТОР ДНГ / ВОПРОСЫ / ЗАПАСНОЙ</a:t>
            </a:r>
          </a:p>
        </p:txBody>
      </p:sp>
      <p:sp>
        <p:nvSpPr>
          <p:cNvPr id="25" name="!!Footer"/>
          <p:cNvSpPr txBox="1"/>
          <p:nvPr/>
        </p:nvSpPr>
        <p:spPr>
          <a:xfrm>
            <a:off x="685800" y="6381750"/>
            <a:ext cx="10096500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975" b="0">
                <a:solidFill>
                  <a:srgbClr val="FFFFFF"/>
                </a:solidFill>
                <a:latin typeface="Arial"/>
              </a:defRPr>
            </a:pPr>
            <a:r>
              <a:t>ООО «РН-Юганскнефтегаз» · проект для обсуждения</a:t>
            </a:r>
          </a:p>
        </p:txBody>
      </p:sp>
      <p:sp>
        <p:nvSpPr>
          <p:cNvPr id="26" name="SlideNumber"/>
          <p:cNvSpPr txBox="1"/>
          <p:nvPr/>
        </p:nvSpPr>
        <p:spPr>
          <a:xfrm>
            <a:off x="11096625" y="6381750"/>
            <a:ext cx="523874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975" b="0">
                <a:solidFill>
                  <a:srgbClr val="FFFFFF"/>
                </a:solidFill>
                <a:latin typeface="Arial"/>
              </a:defRPr>
            </a:pPr>
            <a:r>
              <a:t>23</a:t>
            </a:r>
          </a:p>
        </p:txBody>
      </p:sp>
    </p:spTree>
  </p:cSld>
  <p:clrMapOvr>
    <a:masterClrMapping/>
  </p:clrMapOvr>
  <p:transition advClick="1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Оператор ДНГ — рабочая презентация</dc:title>
  <dc:subject>Цель, четыре согласованные задачи, функции и предложение пилота</dc:subject>
  <dc:creator>Автор проекта — данные уточняются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