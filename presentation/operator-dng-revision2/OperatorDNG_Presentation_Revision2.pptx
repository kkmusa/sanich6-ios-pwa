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Представиться: [ФИО], [должность], [цех]. Название «Оператор ДНГ». Изображение промысла создано для оформления, не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расчёты и материалы рядом с оператором. Согласованное вступление сохранено.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упростить доступ к расчётам и рабочим материалам на месте работы. Далее четыре согласованные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приложение целиком. Четыре карточки — разные рабочие ситуации, а не весь перечень функций. На карточки можно нажать для открытия раздела. Для последовательного выступления достаточно листать дальше.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 же окно меняет содержимое на длительный интервал. Скриншоты двух фрагментов одного состояния PWA: 18.10.2026 19:30 до 19.10.2026 07:30 — 12 часов, 1000 литров → 2 м³/сут. Даты примера иллюстративны. Внутри окна сохранены реальные элементы выбора и реальный результат приложения. Можно задавать разные даты, в том числе переход через полночь.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сценарии автора. 1) Слишком быстрый разгон может сопровождаться выносом количества взвешенных частиц и риском износа УЭЦН; приложение помогает сверить расчёт и порядок действий. Конкретную причинность, темп и ограничения подтверждают технологи. 2) Ошибка последовательности перевода в РИЧ может вызвать нежелательный режим или остановку; пошаговые материалы помогают снизить вероятность такой ошибки. Приложение не управляет станцией и не блокирует ошибочную команду. 3) При выводе на режим расчёт притока и проверка условий охлаждения ПЭД — рабочая задача оператора. Недостаток охлаждения связан с риском перегрева и отказа. Конкретную обязательность, периодичность и критерии устанавливает действующая технологическая документация. Нельзя обещать гарантированное предотвращение отказа или уже измеренную экономию.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Android — функциональный эталон формул и данных. Регламент ВНР отдельно от названных автором документов ПБ и ОТ в пяти томах. Название со слов автора: «Инструкции по промышленной безопасности и охране труда для работников структурных подразделений ООО „РН-Юганскнефтегаз“». Полноту интеграции всех томов и актуальность редакций не утверждать. Предоставленные учебные материалы RosPump и «Качество данных» использованы как контекст, интеграции с этими системами нет.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календарных месяца по данным автора. Прямые денежные расходы минимальны по его оценке. Основной вклад — время. Не называть труд бесплатным и не превращать календарный срок в человеко-месяцы. Проверка, внедрение и сопровождение имеют отдельные затраты.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по оценке автора, не действующие пользователи. 250 человеческих силуэтов, каждый обозначает одного человека. Иконки не показывают распределение должностей, полов или статусов внедрения.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Пользу предлагается измерять в сопоставимых заданиях: время выполнения, корректность расчёта и последовательности, доступность материалов без сети. Снижение риска ошибок — ожидаемый эффект для проверки. Не заявлять уже предотвращённые ремонты или сохранённую добычу. Финансовые ставки и частота событий пока не подтверждены.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Пилот — отдельное предложение руководству, не пятая задача проекта. Начать с проверки формул, материалов и редакций ответственными специалистами. Определить группу, задания и показатели. Затем принять решение по измеренным результатам.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Закончить конкретным предложением: согласовать профильную проверку и ограниченный пилот. Дать аудитории время на вопросы. Не представлять приложение как уже утверждённое корпоративное решение.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скрытый слайд. Фото, ФИО, точная должность и номер цеха ещё не предоставлены. Не подставлять вымышленную личность.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Проверены примеры новой редакции: 1000 л за 60 минут → 24 м³/сут; 1000 л за 12 часов → 2 м³/сут; 50×(16,2/20)²=32,805, отображается 32.8 м³/сут. Численные функции PWA не менялись ради презентации. Реальный iPhone и воспроизведение в Microsoft PowerPoint здесь не проверены.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6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slide" Target="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Relationship Id="rId5" Type="http://schemas.openxmlformats.org/officeDocument/2006/relationships/slide" Target="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Relationship Id="rId5" Type="http://schemas.openxmlformats.org/officeDocument/2006/relationships/slide" Target="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0" y="0"/>
            <a:ext cx="12192000" cy="6858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8191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troEyebrow"/>
          <p:cNvSpPr txBox="1"/>
          <p:nvPr/>
        </p:nvSpPr>
        <p:spPr>
          <a:xfrm>
            <a:off x="666750" y="838200"/>
            <a:ext cx="108585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FFCD00"/>
                </a:solidFill>
                <a:latin typeface="Arial"/>
              </a:defRPr>
            </a:pPr>
            <a:r>
              <a:t>ПРОЕКТ ЦИФРОВОГО ПОМОЩНИКА</a:t>
            </a:r>
          </a:p>
        </p:txBody>
      </p:sp>
      <p:sp>
        <p:nvSpPr>
          <p:cNvPr id="6" name="IntroCaption"/>
          <p:cNvSpPr txBox="1"/>
          <p:nvPr/>
        </p:nvSpPr>
        <p:spPr>
          <a:xfrm>
            <a:off x="695325" y="5286375"/>
            <a:ext cx="107632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FFFFFF"/>
                </a:solidFill>
                <a:latin typeface="Arial"/>
              </a:defRPr>
            </a:pPr>
            <a:r>
              <a:t>ОПЕРАТОРУ ДОБЫЧИ НЕФТИ И ГАЗА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8191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1381125"/>
            <a:ext cx="8096249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45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714625"/>
            <a:ext cx="6286500" cy="2095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Рабочие инструменты.</a:t>
            </a:r>
          </a:p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Всегда рядом.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l="37099"/>
          <a:stretch>
            <a:fillRect/>
          </a:stretch>
        </p:blipFill>
        <p:spPr>
          <a:xfrm>
            <a:off x="6191250" y="952500"/>
            <a:ext cx="5429250" cy="485775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48577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95250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6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238375"/>
            <a:ext cx="495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Цель проекта</a:t>
            </a:r>
          </a:p>
        </p:txBody>
      </p:sp>
      <p:sp>
        <p:nvSpPr>
          <p:cNvPr id="7" name="Goal"/>
          <p:cNvSpPr txBox="1"/>
          <p:nvPr/>
        </p:nvSpPr>
        <p:spPr>
          <a:xfrm>
            <a:off x="723900" y="3476625"/>
            <a:ext cx="48577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Упростить доступ оператора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к расчётам и рабочим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материалам на месте работы.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75" b="1">
                <a:solidFill>
                  <a:srgbClr val="FFFFFF"/>
                </a:solidFill>
                <a:latin typeface="Arial"/>
              </a:defRPr>
            </a:pPr>
            <a:r>
              <a:t>Задачи проекта</a:t>
            </a:r>
          </a:p>
        </p:txBody>
      </p:sp>
      <p:sp>
        <p:nvSpPr>
          <p:cNvPr id="3" name="!!TaskNumber0"/>
          <p:cNvSpPr txBox="1"/>
          <p:nvPr/>
        </p:nvSpPr>
        <p:spPr>
          <a:xfrm>
            <a:off x="72390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askRule0"/>
          <p:cNvSpPr/>
          <p:nvPr/>
        </p:nvSpPr>
        <p:spPr>
          <a:xfrm>
            <a:off x="161925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TaskTitle0"/>
          <p:cNvSpPr txBox="1"/>
          <p:nvPr/>
        </p:nvSpPr>
        <p:spPr>
          <a:xfrm>
            <a:off x="1866899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6" name="TaskDescription0"/>
          <p:cNvSpPr txBox="1"/>
          <p:nvPr/>
        </p:nvSpPr>
        <p:spPr>
          <a:xfrm>
            <a:off x="1866899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собрать расчёты, инструкции и справочные материалы в одном приложении.</a:t>
            </a:r>
          </a:p>
        </p:txBody>
      </p:sp>
      <p:sp>
        <p:nvSpPr>
          <p:cNvPr id="7" name="!!TaskNumber1"/>
          <p:cNvSpPr txBox="1"/>
          <p:nvPr/>
        </p:nvSpPr>
        <p:spPr>
          <a:xfrm>
            <a:off x="634365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askRule1"/>
          <p:cNvSpPr/>
          <p:nvPr/>
        </p:nvSpPr>
        <p:spPr>
          <a:xfrm>
            <a:off x="723900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TaskTitle1"/>
          <p:cNvSpPr txBox="1"/>
          <p:nvPr/>
        </p:nvSpPr>
        <p:spPr>
          <a:xfrm>
            <a:off x="7486650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0" name="TaskDescription1"/>
          <p:cNvSpPr txBox="1"/>
          <p:nvPr/>
        </p:nvSpPr>
        <p:spPr>
          <a:xfrm>
            <a:off x="7486650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автоматизировать вычисления, отсчёт времени и сохранение результатов.</a:t>
            </a:r>
          </a:p>
        </p:txBody>
      </p:sp>
      <p:sp>
        <p:nvSpPr>
          <p:cNvPr id="11" name="!!TaskNumber2"/>
          <p:cNvSpPr txBox="1"/>
          <p:nvPr/>
        </p:nvSpPr>
        <p:spPr>
          <a:xfrm>
            <a:off x="72390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2" name="TaskRule2"/>
          <p:cNvSpPr/>
          <p:nvPr/>
        </p:nvSpPr>
        <p:spPr>
          <a:xfrm>
            <a:off x="161925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TaskTitle2"/>
          <p:cNvSpPr txBox="1"/>
          <p:nvPr/>
        </p:nvSpPr>
        <p:spPr>
          <a:xfrm>
            <a:off x="1866899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4" name="TaskDescription2"/>
          <p:cNvSpPr txBox="1"/>
          <p:nvPr/>
        </p:nvSpPr>
        <p:spPr>
          <a:xfrm>
            <a:off x="1866899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предоставить инструкции и фотографии для конкретных моделей станций управления.</a:t>
            </a:r>
          </a:p>
        </p:txBody>
      </p:sp>
      <p:sp>
        <p:nvSpPr>
          <p:cNvPr id="15" name="!!TaskNumber3"/>
          <p:cNvSpPr txBox="1"/>
          <p:nvPr/>
        </p:nvSpPr>
        <p:spPr>
          <a:xfrm>
            <a:off x="634365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askRule3"/>
          <p:cNvSpPr/>
          <p:nvPr/>
        </p:nvSpPr>
        <p:spPr>
          <a:xfrm>
            <a:off x="723900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TaskTitle3"/>
          <p:cNvSpPr txBox="1"/>
          <p:nvPr/>
        </p:nvSpPr>
        <p:spPr>
          <a:xfrm>
            <a:off x="7486650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18" name="TaskDescription3"/>
          <p:cNvSpPr txBox="1"/>
          <p:nvPr/>
        </p:nvSpPr>
        <p:spPr>
          <a:xfrm>
            <a:off x="7486650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реализовать поиск, закладки и работу предварительно загруженных материалов без интернета.</a:t>
            </a:r>
          </a:p>
        </p:txBody>
      </p:sp>
      <p:sp>
        <p:nvSpPr>
          <p:cNvPr id="19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1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2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>
            <a:hlinkClick action="ppaction://hlinksldjump" r:id="rId7"/>
          </p:cNvPr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>
            <a:hlinkClick action="ppaction://hlinksldjump" r:id="rId7"/>
          </p:cNvPr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>
            <a:hlinkClick action="ppaction://hlinksldjump" r:id="rId8"/>
          </p:cNvPr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>
            <a:hlinkClick action="ppaction://hlinksldjump" r:id="rId8"/>
          </p:cNvPr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>
            <a:hlinkClick action="ppaction://hlinksldjump" r:id="rId9"/>
          </p:cNvPr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>
            <a:hlinkClick action="ppaction://hlinksldjump" r:id="rId9"/>
          </p:cNvPr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>
            <a:hlinkClick action="ppaction://hlinksldjump" r:id="rId10"/>
          </p:cNvPr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>
            <a:hlinkClick action="ppaction://hlinksldjump" r:id="rId10"/>
          </p:cNvPr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96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Длительный интервал.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Даже через полночь.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96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Указываем даты и время.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Продолжительность считает приложение.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571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Задаём диаметр, мощность,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колонну и толщину стенки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2195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152900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Выбираем доступный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86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1967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Вводим токи — получаем приток</a:t>
            </a:r>
          </a:p>
        </p:txBody>
      </p:sp>
      <p:sp>
        <p:nvSpPr>
          <p:cNvPr id="9" name="ParameterFrame"/>
          <p:cNvSpPr/>
          <p:nvPr/>
        </p:nvSpPr>
        <p:spPr>
          <a:xfrm>
            <a:off x="6581775" y="1390650"/>
            <a:ext cx="233362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6715125" y="1533525"/>
            <a:ext cx="207645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01 · Параметры</a:t>
            </a:r>
          </a:p>
        </p:txBody>
      </p:sp>
      <p:pic>
        <p:nvPicPr>
          <p:cNvPr id="11" name="CoolingParameters" descr="ped-parameter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90321" y="2047875"/>
            <a:ext cx="1716531" cy="3714750"/>
          </a:xfrm>
          <a:prstGeom prst="rect">
            <a:avLst/>
          </a:prstGeom>
        </p:spPr>
      </p:pic>
      <p:sp>
        <p:nvSpPr>
          <p:cNvPr id="12" name="!!DemoWindow"/>
          <p:cNvSpPr/>
          <p:nvPr/>
        </p:nvSpPr>
        <p:spPr>
          <a:xfrm>
            <a:off x="9096375" y="1390650"/>
            <a:ext cx="242887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emoCaption"/>
          <p:cNvSpPr txBox="1"/>
          <p:nvPr/>
        </p:nvSpPr>
        <p:spPr>
          <a:xfrm>
            <a:off x="9239250" y="1533525"/>
            <a:ext cx="2143125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02 · Токи и результат</a:t>
            </a:r>
          </a:p>
        </p:txBody>
      </p:sp>
      <p:pic>
        <p:nvPicPr>
          <p:cNvPr id="14" name="!!DemoContent" descr="ped-exampl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229725" y="2657054"/>
            <a:ext cx="2162175" cy="1696291"/>
          </a:xfrm>
          <a:prstGeom prst="rect">
            <a:avLst/>
          </a:prstGeom>
        </p:spPr>
      </p:pic>
      <p:sp>
        <p:nvSpPr>
          <p:cNvPr id="15" name="CoolingResult"/>
          <p:cNvSpPr txBox="1"/>
          <p:nvPr/>
        </p:nvSpPr>
        <p:spPr>
          <a:xfrm>
            <a:off x="9267825" y="5048250"/>
            <a:ext cx="210502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781050" y="6048375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Параметры и токи в работе — по данным конкретного оборудования.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21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для своей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762000" y="6076950"/>
            <a:ext cx="106680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Рабочие сценарии автора. Ожидаемый эффект проверяем на пилоте.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Формулы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Android-эталон.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Расчёты, единицы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проверенные примеры.</a:t>
            </a:r>
          </a:p>
        </p:txBody>
      </p:sp>
      <p:sp>
        <p:nvSpPr>
          <p:cNvPr id="6" name="Block_5"/>
          <p:cNvSpPr/>
          <p:nvPr/>
        </p:nvSpPr>
        <p:spPr>
          <a:xfrm>
            <a:off x="447675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447675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Документы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447675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Доступный регламент ВНР.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ПБ и ОТ — сверка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редакций и состава.</a:t>
            </a:r>
          </a:p>
        </p:txBody>
      </p:sp>
      <p:sp>
        <p:nvSpPr>
          <p:cNvPr id="9" name="Block_8"/>
          <p:cNvSpPr/>
          <p:nvPr/>
        </p:nvSpPr>
        <p:spPr>
          <a:xfrm>
            <a:off x="81915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81915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Практика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1915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Рабочие ситуации автора.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Учебные материалы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обратная связь.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ОСНОВА ПРОЕКТА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10668000" cy="157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819150" y="3667125"/>
            <a:ext cx="10477500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57250" y="4953000"/>
            <a:ext cx="10477500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Прямые денежные расходы, по оценке автора,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Основной вклад — время.</a:t>
            </a:r>
          </a:p>
        </p:txBody>
      </p:sp>
      <p:sp>
        <p:nvSpPr>
          <p:cNvPr id="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38200" y="5505450"/>
            <a:ext cx="5810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B7B7B7"/>
                </a:solidFill>
                <a:latin typeface="Arial"/>
              </a:defRPr>
            </a:pPr>
            <a:r>
              <a:t>По оценке автора · пилот перед масштабированием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5" name="Text_254"/>
          <p:cNvSpPr txBox="1"/>
          <p:nvPr/>
        </p:nvSpPr>
        <p:spPr>
          <a:xfrm>
            <a:off x="7115175" y="5972175"/>
            <a:ext cx="4333875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FFCD00"/>
                </a:solidFill>
                <a:latin typeface="Arial"/>
              </a:defRPr>
            </a:pPr>
            <a:r>
              <a:t>250 силуэтов · один силуэт — один человек</a:t>
            </a:r>
          </a:p>
        </p:txBody>
      </p: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750" b="1">
                <a:solidFill>
                  <a:srgbClr val="FFFFFF"/>
                </a:solidFill>
                <a:latin typeface="Arial"/>
              </a:defRPr>
            </a:pPr>
            <a:r>
              <a:t>Пользу проверяем в работе.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620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Время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7620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Сопоставимые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типовые операции.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47675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Корректность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Расчёт и порядок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в учебном сценарии.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1915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Доступность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81915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Нужный материал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на месте работы.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86450"/>
            <a:ext cx="1066800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B7B7B7"/>
                </a:solidFill>
                <a:latin typeface="Arial"/>
              </a:defRPr>
            </a:pPr>
            <a:r>
              <a:t>Денежный эффект — по данным пилота, без вымышленных сумм.</a:t>
            </a:r>
          </a:p>
        </p:txBody>
      </p:sp>
      <p:sp>
        <p:nvSpPr>
          <p:cNvPr id="1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ПРОВЕРКА ЭФФЕКТА</a:t>
            </a:r>
          </a:p>
        </p:txBody>
      </p:sp>
      <p:sp>
        <p:nvSpPr>
          <p:cNvPr id="1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66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FFFF"/>
                </a:solidFill>
                <a:latin typeface="Arial"/>
              </a:defRPr>
            </a:pPr>
            <a:r>
              <a:t>Предложение: пилот.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2905125"/>
            <a:ext cx="10668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Проверить содержание. Оценить применение.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Принять решение по результатам.</a:t>
            </a:r>
          </a:p>
        </p:txBody>
      </p:sp>
      <p:sp>
        <p:nvSpPr>
          <p:cNvPr id="4" name="!!PilotLine"/>
          <p:cNvSpPr/>
          <p:nvPr/>
        </p:nvSpPr>
        <p:spPr>
          <a:xfrm>
            <a:off x="809625" y="4667250"/>
            <a:ext cx="10287000" cy="285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lock_4"/>
          <p:cNvSpPr/>
          <p:nvPr/>
        </p:nvSpPr>
        <p:spPr>
          <a:xfrm>
            <a:off x="8096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_5"/>
          <p:cNvSpPr txBox="1"/>
          <p:nvPr/>
        </p:nvSpPr>
        <p:spPr>
          <a:xfrm>
            <a:off x="8096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Проверка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096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Профильные специалисты</a:t>
            </a:r>
          </a:p>
        </p:txBody>
      </p:sp>
      <p:sp>
        <p:nvSpPr>
          <p:cNvPr id="8" name="Block_7"/>
          <p:cNvSpPr/>
          <p:nvPr/>
        </p:nvSpPr>
        <p:spPr>
          <a:xfrm>
            <a:off x="35718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35718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Пилот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35718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Ограниченная группа</a:t>
            </a:r>
          </a:p>
        </p:txBody>
      </p:sp>
      <p:sp>
        <p:nvSpPr>
          <p:cNvPr id="11" name="Block_10"/>
          <p:cNvSpPr/>
          <p:nvPr/>
        </p:nvSpPr>
        <p:spPr>
          <a:xfrm>
            <a:off x="63341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63341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Измерения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63341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Единые показатели</a:t>
            </a:r>
          </a:p>
        </p:txBody>
      </p:sp>
      <p:sp>
        <p:nvSpPr>
          <p:cNvPr id="14" name="Block_13"/>
          <p:cNvSpPr/>
          <p:nvPr/>
        </p:nvSpPr>
        <p:spPr>
          <a:xfrm>
            <a:off x="90963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_14"/>
          <p:cNvSpPr txBox="1"/>
          <p:nvPr/>
        </p:nvSpPr>
        <p:spPr>
          <a:xfrm>
            <a:off x="90963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Решение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90963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Подтверждённый эффект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ProductTitle"/>
          <p:cNvSpPr txBox="1"/>
          <p:nvPr/>
        </p:nvSpPr>
        <p:spPr>
          <a:xfrm>
            <a:off x="685800" y="1476375"/>
            <a:ext cx="904875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250" b="1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4" name="!!ProductSubtitle"/>
          <p:cNvSpPr txBox="1"/>
          <p:nvPr/>
        </p:nvSpPr>
        <p:spPr>
          <a:xfrm>
            <a:off x="733425" y="3000375"/>
            <a:ext cx="8096249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Расчёты. Пояснения.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Рабочие инструкции.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5238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0">
                <a:solidFill>
                  <a:srgbClr val="FFFFFF"/>
                </a:solidFill>
                <a:latin typeface="Arial"/>
              </a:defRPr>
            </a:pPr>
            <a:r>
              <a:t>Предложение: профильная проверка и пилот.</a:t>
            </a:r>
          </a:p>
        </p:txBody>
      </p:sp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ОПЕРАТОР ДНГ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00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476625"/>
            <a:ext cx="7239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[ФИО]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[Должность · номер цеха]</a:t>
            </a:r>
          </a:p>
        </p:txBody>
      </p:sp>
      <p:sp>
        <p:nvSpPr>
          <p:cNvPr id="4" name="PortraitFrame"/>
          <p:cNvSpPr/>
          <p:nvPr/>
        </p:nvSpPr>
        <p:spPr>
          <a:xfrm>
            <a:off x="8334375" y="1524000"/>
            <a:ext cx="2857500" cy="428625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_4"/>
          <p:cNvSpPr txBox="1"/>
          <p:nvPr/>
        </p:nvSpPr>
        <p:spPr>
          <a:xfrm>
            <a:off x="8763000" y="3238500"/>
            <a:ext cx="204787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Фото автора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пока не получено</a:t>
            </a:r>
          </a:p>
        </p:txBody>
      </p:sp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/ ЗАПАСНОЙ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  <p:transition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76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Примеры расчётов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051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3850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60 мин → 24 м³/сут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3943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876674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12 часов → 2 м³/сут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5815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51485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Токи примера: номинальный 20 А; рабочий 16,2 А</a:t>
            </a:r>
          </a:p>
        </p:txBody>
      </p:sp>
      <p:sp>
        <p:nvSpPr>
          <p:cNvPr id="9" name="Block_8"/>
          <p:cNvSpPr/>
          <p:nvPr/>
        </p:nvSpPr>
        <p:spPr>
          <a:xfrm>
            <a:off x="723900" y="5219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w3"/>
          <p:cNvSpPr txBox="1"/>
          <p:nvPr/>
        </p:nvSpPr>
        <p:spPr>
          <a:xfrm>
            <a:off x="933449" y="5153025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50 × (16,2 / 20)² = 32,805 → 32,8 м³/сут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781050" y="60483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Демонстрационные примеры, не рекомендации уставок оборудования.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ПРИМЕРЫ / ЗАПАСНОЙ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  <p:transition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рабочая презентация, редакция 2</dc:title>
  <dc:subject>Согласованные задачи, реальные расчёты, пошаговые инструкции и практическая польза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