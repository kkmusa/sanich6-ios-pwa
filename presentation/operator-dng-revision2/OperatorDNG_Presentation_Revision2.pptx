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Представиться: [ФИО], [должность], [цех]. Название «Оператор ДНГ». Изображение промысла создано для оформления, не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Рабочие расчёты и материалы рядом с оператором. Согласованное вступление сохранено.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упростить доступ к расчётам и рабочим материалам на месте работы. Далее четыре согласованные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реальными фрагментами приложения.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приложение целиком. Четыре карточки — разные рабочие ситуации, а не весь перечень функций. На карточки можно нажать для открытия раздела. Для последовательного выступления достаточно листать дальше.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 же окно меняет содержимое на длительный интервал. Скриншоты двух фрагментов одного состояния PWA: 18.10.2026 19:30 до 19.10.2026 07:30 — 12 часов, 1000 литров → 2 м³/сут. Даты примера иллюстративны. Внутри окна сохранены реальные элементы выбора и реальный результат приложения. Можно задавать разные даты, в том числе переход через полночь.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Рабочий ток ниже номинального на 19%.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Рабочие сценарии автора. 1) Слишком быстрый разгон может сопровождаться выносом количества взвешенных частиц и риском износа УЭЦН; приложение помогает сверить расчёт и порядок действий. Конкретную причинность, темп и ограничения подтверждают технологи. 2) Ошибка последовательности перевода в РИЧ может вызвать нежелательный режим или остановку; пошаговые материалы помогают снизить вероятность такой ошибки. Приложение не управляет станцией и не блокирует ошибочную команду. 3) При выводе на режим расчёт притока и проверка условий охлаждения ПЭД — рабочая задача оператора. Недостаток охлаждения связан с риском перегрева и отказа. Конкретную обязательность, периодичность и критерии устанавливает действующая технологическая документация. Нельзя обещать гарантированное предотвращение отказа или уже измеренную экономию.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Android — функциональный эталон формул и данных. Регламент ВНР отдельно от названных автором документов ПБ и ОТ в пяти томах. Название со слов автора: «Инструкции по промышленной безопасности и охране труда для работников структурных подразделений ООО „РН-Юганскнефтегаз“». Полноту интеграции всех томов и актуальность редакций не утверждать. Предоставленные учебные материалы RosPump и «Качество данных» использованы как контекст, интеграции с этими системами нет.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календарных месяца по данным автора. Прямые денежные расходы минимальны по его оценке. Основной вклад — время. Не называть труд бесплатным и не превращать календарный срок в человеко-месяцы. Проверка, внедрение и сопровождение имеют отдельные затраты.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по оценке автора, не действующие пользователи. 25 человеческих силуэтов, каждый условно обозначает около 10 человек. Иконки не показывают распределение должностей, полов или статусов внедрения.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Пользу предлагается измерять в сопоставимых заданиях: время выполнения, корректность расчёта и последовательности, доступность материалов без сети. Снижение риска ошибок — ожидаемый эффект для проверки. Не заявлять уже предотвращённые ремонты или сохранённую добычу. Финансовые ставки и частота событий пока не подтверждены.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Пилот — отдельное предложение руководству, не пятая задача проекта. Начать с проверки формул, материалов и редакций ответственными специалистами. Определить группу, задания и показатели. Затем принять решение по измеренным результатам.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Закончить конкретным предложением: согласовать профильную проверку и ограниченный пилот. Дать аудитории время на вопросы. Не представлять приложение как уже утверждённое корпоративное решение.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скрытый слайд. Фото, ФИО, точная должность и номер цеха ещё не предоставлены. Не подставлять вымышленную личность.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Проверены примеры новой редакции: 1000 л за 60 минут → 24 м³/сут; 1000 л за 12 часов → 2 м³/сут; 20 А → 16,2 А, снижение на 19%; 50×(16,2/20)²=32,805, отображается 32.8 м³/сут. Численные функции PWA не менялись ради презентации. Реальный iPhone и воспроизведение в Microsoft PowerPoint здесь не проверены.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6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slide" Target="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Relationship Id="rId5" Type="http://schemas.openxmlformats.org/officeDocument/2006/relationships/slide" Target="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Relationship Id="rId4" Type="http://schemas.openxmlformats.org/officeDocument/2006/relationships/slide" Target="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0" y="0"/>
            <a:ext cx="12192000" cy="6858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8191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troEyebrow"/>
          <p:cNvSpPr txBox="1"/>
          <p:nvPr/>
        </p:nvSpPr>
        <p:spPr>
          <a:xfrm>
            <a:off x="666750" y="838200"/>
            <a:ext cx="108585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FFCD00"/>
                </a:solidFill>
                <a:latin typeface="Arial"/>
              </a:defRPr>
            </a:pPr>
            <a:r>
              <a:t>ПРОЕКТ ЦИФРОВОГО ПОМОЩНИКА</a:t>
            </a:r>
          </a:p>
        </p:txBody>
      </p:sp>
      <p:sp>
        <p:nvSpPr>
          <p:cNvPr id="6" name="IntroCaption"/>
          <p:cNvSpPr txBox="1"/>
          <p:nvPr/>
        </p:nvSpPr>
        <p:spPr>
          <a:xfrm>
            <a:off x="695325" y="5286375"/>
            <a:ext cx="107632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FFFFFF"/>
                </a:solidFill>
                <a:latin typeface="Arial"/>
              </a:defRPr>
            </a:pPr>
            <a:r>
              <a:t>ОПЕРАТОРУ ДОБЫЧИ НЕФТИ И ГАЗА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-307772774" y="-363283500"/>
            <a:ext cx="1341120000" cy="754380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8191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roductTitle"/>
          <p:cNvSpPr txBox="1"/>
          <p:nvPr/>
        </p:nvSpPr>
        <p:spPr>
          <a:xfrm>
            <a:off x="666750" y="1381125"/>
            <a:ext cx="8096249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4500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6" name="!!ProductSubtitle"/>
          <p:cNvSpPr txBox="1"/>
          <p:nvPr/>
        </p:nvSpPr>
        <p:spPr>
          <a:xfrm>
            <a:off x="704850" y="2714625"/>
            <a:ext cx="6286500" cy="2095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Рабочие инструменты.</a:t>
            </a:r>
          </a:p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Всегда рядом.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l="37099"/>
          <a:stretch>
            <a:fillRect/>
          </a:stretch>
        </p:blipFill>
        <p:spPr>
          <a:xfrm>
            <a:off x="6191250" y="952500"/>
            <a:ext cx="5429250" cy="485775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-307772774" y="-363283500"/>
            <a:ext cx="1341120000" cy="754380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48577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roductTitle"/>
          <p:cNvSpPr txBox="1"/>
          <p:nvPr/>
        </p:nvSpPr>
        <p:spPr>
          <a:xfrm>
            <a:off x="666750" y="952500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600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6" name="!!ProductSubtitle"/>
          <p:cNvSpPr txBox="1"/>
          <p:nvPr/>
        </p:nvSpPr>
        <p:spPr>
          <a:xfrm>
            <a:off x="704850" y="2238375"/>
            <a:ext cx="4953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Цель проекта</a:t>
            </a:r>
          </a:p>
        </p:txBody>
      </p:sp>
      <p:sp>
        <p:nvSpPr>
          <p:cNvPr id="7" name="Goal"/>
          <p:cNvSpPr txBox="1"/>
          <p:nvPr/>
        </p:nvSpPr>
        <p:spPr>
          <a:xfrm>
            <a:off x="723900" y="3476625"/>
            <a:ext cx="48577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Упростить доступ оператора</a:t>
            </a:r>
          </a:p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к расчётам и рабочим</a:t>
            </a:r>
          </a:p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материалам на месте работы.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Четыре задачи. Один помощник.</a:t>
            </a:r>
          </a:p>
        </p:txBody>
      </p:sp>
      <p:sp>
        <p:nvSpPr>
          <p:cNvPr id="3" name="!!ObjectiveCard0"/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lock_3"/>
          <p:cNvSpPr/>
          <p:nvPr/>
        </p:nvSpPr>
        <p:spPr>
          <a:xfrm>
            <a:off x="666750" y="2428875"/>
            <a:ext cx="2571750" cy="5715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askNumber0"/>
          <p:cNvSpPr txBox="1"/>
          <p:nvPr/>
        </p:nvSpPr>
        <p:spPr>
          <a:xfrm>
            <a:off x="828675" y="2667000"/>
            <a:ext cx="2095499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pic>
        <p:nvPicPr>
          <p:cNvPr id="6" name="ObjectiveImage0" descr="home.png"/>
          <p:cNvPicPr>
            <a:picLocks noChangeAspect="1"/>
          </p:cNvPicPr>
          <p:nvPr/>
        </p:nvPicPr>
        <p:blipFill>
          <a:blip r:embed="rId2"/>
          <a:srcRect t="13000" b="66226"/>
          <a:stretch>
            <a:fillRect/>
          </a:stretch>
        </p:blipFill>
        <p:spPr>
          <a:xfrm>
            <a:off x="819150" y="3286125"/>
            <a:ext cx="2266950" cy="1019174"/>
          </a:xfrm>
          <a:prstGeom prst="rect">
            <a:avLst/>
          </a:prstGeom>
        </p:spPr>
      </p:pic>
      <p:sp>
        <p:nvSpPr>
          <p:cNvPr id="7" name="TaskTitle0"/>
          <p:cNvSpPr txBox="1"/>
          <p:nvPr/>
        </p:nvSpPr>
        <p:spPr>
          <a:xfrm>
            <a:off x="828675" y="4572000"/>
            <a:ext cx="22479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sp>
        <p:nvSpPr>
          <p:cNvPr id="8" name="!!ObjectiveCard1"/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lock_8"/>
          <p:cNvSpPr/>
          <p:nvPr/>
        </p:nvSpPr>
        <p:spPr>
          <a:xfrm>
            <a:off x="3429000" y="2428875"/>
            <a:ext cx="2571750" cy="5715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askNumber1"/>
          <p:cNvSpPr txBox="1"/>
          <p:nvPr/>
        </p:nvSpPr>
        <p:spPr>
          <a:xfrm>
            <a:off x="3590925" y="2667000"/>
            <a:ext cx="2095499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pic>
        <p:nvPicPr>
          <p:cNvPr id="11" name="ObjectiveImage1" descr="manual-minutes.png"/>
          <p:cNvPicPr>
            <a:picLocks noChangeAspect="1"/>
          </p:cNvPicPr>
          <p:nvPr/>
        </p:nvPicPr>
        <p:blipFill>
          <a:blip r:embed="rId3"/>
          <a:srcRect t="8000" b="71226"/>
          <a:stretch>
            <a:fillRect/>
          </a:stretch>
        </p:blipFill>
        <p:spPr>
          <a:xfrm>
            <a:off x="3581400" y="3286125"/>
            <a:ext cx="2266950" cy="1019174"/>
          </a:xfrm>
          <a:prstGeom prst="rect">
            <a:avLst/>
          </a:prstGeom>
        </p:spPr>
      </p:pic>
      <p:sp>
        <p:nvSpPr>
          <p:cNvPr id="12" name="TaskTitle1"/>
          <p:cNvSpPr txBox="1"/>
          <p:nvPr/>
        </p:nvSpPr>
        <p:spPr>
          <a:xfrm>
            <a:off x="3590925" y="4572000"/>
            <a:ext cx="22479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sp>
        <p:nvSpPr>
          <p:cNvPr id="13" name="!!ObjectiveCard2"/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_13"/>
          <p:cNvSpPr/>
          <p:nvPr/>
        </p:nvSpPr>
        <p:spPr>
          <a:xfrm>
            <a:off x="6191250" y="2428875"/>
            <a:ext cx="2571750" cy="5715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askNumber2"/>
          <p:cNvSpPr txBox="1"/>
          <p:nvPr/>
        </p:nvSpPr>
        <p:spPr>
          <a:xfrm>
            <a:off x="6353175" y="2667000"/>
            <a:ext cx="2095499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pic>
        <p:nvPicPr>
          <p:cNvPr id="16" name="ObjectiveImage2" descr="ramp-1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343650" y="3399829"/>
            <a:ext cx="2266950" cy="791765"/>
          </a:xfrm>
          <a:prstGeom prst="rect">
            <a:avLst/>
          </a:prstGeom>
        </p:spPr>
      </p:pic>
      <p:sp>
        <p:nvSpPr>
          <p:cNvPr id="17" name="TaskTitle2"/>
          <p:cNvSpPr txBox="1"/>
          <p:nvPr/>
        </p:nvSpPr>
        <p:spPr>
          <a:xfrm>
            <a:off x="6353175" y="4572000"/>
            <a:ext cx="22479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sp>
        <p:nvSpPr>
          <p:cNvPr id="18" name="!!ObjectiveCard3"/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Block_18"/>
          <p:cNvSpPr/>
          <p:nvPr/>
        </p:nvSpPr>
        <p:spPr>
          <a:xfrm>
            <a:off x="8953500" y="2428875"/>
            <a:ext cx="2571750" cy="5715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skNumber3"/>
          <p:cNvSpPr txBox="1"/>
          <p:nvPr/>
        </p:nvSpPr>
        <p:spPr>
          <a:xfrm>
            <a:off x="9115425" y="2667000"/>
            <a:ext cx="2095499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000000"/>
                </a:solidFill>
                <a:latin typeface="Arial"/>
              </a:defRPr>
            </a:pPr>
            <a:r>
              <a:t>04</a:t>
            </a:r>
          </a:p>
        </p:txBody>
      </p:sp>
      <p:pic>
        <p:nvPicPr>
          <p:cNvPr id="21" name="ObjectiveImage3" descr="vnr.png"/>
          <p:cNvPicPr>
            <a:picLocks noChangeAspect="1"/>
          </p:cNvPicPr>
          <p:nvPr/>
        </p:nvPicPr>
        <p:blipFill>
          <a:blip r:embed="rId5"/>
          <a:srcRect t="8000" b="71226"/>
          <a:stretch>
            <a:fillRect/>
          </a:stretch>
        </p:blipFill>
        <p:spPr>
          <a:xfrm>
            <a:off x="9105900" y="3286125"/>
            <a:ext cx="2266950" cy="1019174"/>
          </a:xfrm>
          <a:prstGeom prst="rect">
            <a:avLst/>
          </a:prstGeom>
        </p:spPr>
      </p:pic>
      <p:sp>
        <p:nvSpPr>
          <p:cNvPr id="22" name="TaskTitle3"/>
          <p:cNvSpPr txBox="1"/>
          <p:nvPr/>
        </p:nvSpPr>
        <p:spPr>
          <a:xfrm>
            <a:off x="9115425" y="4572000"/>
            <a:ext cx="22479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1">
                <a:solidFill>
                  <a:srgbClr val="000000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sp>
        <p:nvSpPr>
          <p:cNvPr id="2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6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>
            <a:hlinkClick action="ppaction://hlinksldjump" r:id="rId7"/>
          </p:cNvPr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>
            <a:hlinkClick action="ppaction://hlinksldjump" r:id="rId7"/>
          </p:cNvPr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>
            <a:hlinkClick action="ppaction://hlinksldjump" r:id="rId8"/>
          </p:cNvPr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>
            <a:hlinkClick action="ppaction://hlinksldjump" r:id="rId8"/>
          </p:cNvPr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>
            <a:hlinkClick action="ppaction://hlinksldjump" r:id="rId9"/>
          </p:cNvPr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>
            <a:hlinkClick action="ppaction://hlinksldjump" r:id="rId9"/>
          </p:cNvPr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>
            <a:hlinkClick action="ppaction://hlinksldjump" r:id="rId10"/>
          </p:cNvPr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>
            <a:hlinkClick action="ppaction://hlinksldjump" r:id="rId10"/>
          </p:cNvPr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96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Длительный интервал.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Даже через полночь.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96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Указываем даты и время.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Продолжительность считает приложение.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Охлаждение ПЭД.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Расчёт виден.</a:t>
            </a:r>
          </a:p>
        </p:txBody>
      </p:sp>
      <p:sp>
        <p:nvSpPr>
          <p:cNvPr id="3" name="CurrentPair"/>
          <p:cNvSpPr txBox="1"/>
          <p:nvPr/>
        </p:nvSpPr>
        <p:spPr>
          <a:xfrm>
            <a:off x="762000" y="3305175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125" b="1">
                <a:solidFill>
                  <a:srgbClr val="FFCD00"/>
                </a:solidFill>
                <a:latin typeface="Arial"/>
              </a:defRPr>
            </a:pPr>
            <a:r>
              <a:t>20 А → 16,2 А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790575" y="4086225"/>
            <a:ext cx="59055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250" b="0">
                <a:solidFill>
                  <a:srgbClr val="FFFFFF"/>
                </a:solidFill>
                <a:latin typeface="Arial"/>
              </a:defRPr>
            </a:pPr>
            <a:r>
              <a:t>Рабочий ток ниже на 19%</a:t>
            </a:r>
          </a:p>
        </p:txBody>
      </p:sp>
      <p:sp>
        <p:nvSpPr>
          <p:cNvPr id="5" name="CoolingFormula"/>
          <p:cNvSpPr txBox="1"/>
          <p:nvPr/>
        </p:nvSpPr>
        <p:spPr>
          <a:xfrm>
            <a:off x="800100" y="4857750"/>
            <a:ext cx="5810250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250" b="1">
                <a:solidFill>
                  <a:srgbClr val="FFFFFF"/>
                </a:solidFill>
                <a:latin typeface="Arial"/>
              </a:defRPr>
            </a:pPr>
            <a:r>
              <a:t>50 × (16,2 / 20)² ≈ 32,8 м³/сут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809625" y="5772150"/>
            <a:ext cx="5810250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Расчётный пример · токи демонстрационные</a:t>
            </a:r>
          </a:p>
        </p:txBody>
      </p:sp>
      <p:sp>
        <p:nvSpPr>
          <p:cNvPr id="7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DemoCaption"/>
          <p:cNvSpPr txBox="1"/>
          <p:nvPr/>
        </p:nvSpPr>
        <p:spPr>
          <a:xfrm>
            <a:off x="7286625" y="1524000"/>
            <a:ext cx="4000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Расчёт охлаждения</a:t>
            </a:r>
          </a:p>
        </p:txBody>
      </p:sp>
      <p:pic>
        <p:nvPicPr>
          <p:cNvPr id="9" name="!!DemoContent" descr="ped-examp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248525" y="2210852"/>
            <a:ext cx="4076700" cy="3198295"/>
          </a:xfrm>
          <a:prstGeom prst="rect">
            <a:avLst/>
          </a:prstGeom>
        </p:spPr>
      </p:pic>
      <p:sp>
        <p:nvSpPr>
          <p:cNvPr id="1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4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704850" y="2476500"/>
            <a:ext cx="3476625" cy="15716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838200" y="2581275"/>
            <a:ext cx="32099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 t="8000" b="79797"/>
          <a:stretch>
            <a:fillRect/>
          </a:stretch>
        </p:blipFill>
        <p:spPr>
          <a:xfrm>
            <a:off x="838200" y="3057525"/>
            <a:ext cx="3209925" cy="847725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4419600" y="2476500"/>
            <a:ext cx="3476625" cy="15716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4552950" y="2581275"/>
            <a:ext cx="32099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 t="8000" b="79797"/>
          <a:stretch>
            <a:fillRect/>
          </a:stretch>
        </p:blipFill>
        <p:spPr>
          <a:xfrm>
            <a:off x="4552950" y="3057525"/>
            <a:ext cx="3209925" cy="847725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8134350" y="2476500"/>
            <a:ext cx="3476625" cy="15716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8267699" y="2581275"/>
            <a:ext cx="32099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 t="8000" b="79797"/>
          <a:stretch>
            <a:fillRect/>
          </a:stretch>
        </p:blipFill>
        <p:spPr>
          <a:xfrm>
            <a:off x="8267699" y="3057525"/>
            <a:ext cx="3209925" cy="847725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704850" y="4229100"/>
            <a:ext cx="3476625" cy="15716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838200" y="4333875"/>
            <a:ext cx="32099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 t="8000" b="79797"/>
          <a:stretch>
            <a:fillRect/>
          </a:stretch>
        </p:blipFill>
        <p:spPr>
          <a:xfrm>
            <a:off x="838200" y="4810125"/>
            <a:ext cx="3209925" cy="847725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4419600" y="4229100"/>
            <a:ext cx="3476625" cy="15716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4552950" y="4333875"/>
            <a:ext cx="32099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 t="8000" b="79797"/>
          <a:stretch>
            <a:fillRect/>
          </a:stretch>
        </p:blipFill>
        <p:spPr>
          <a:xfrm>
            <a:off x="4552950" y="4810125"/>
            <a:ext cx="3209925" cy="847725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8134350" y="4229100"/>
            <a:ext cx="3476625" cy="15716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8267699" y="4333875"/>
            <a:ext cx="32099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 t="8000" b="79797"/>
          <a:stretch>
            <a:fillRect/>
          </a:stretch>
        </p:blipFill>
        <p:spPr>
          <a:xfrm>
            <a:off x="8267699" y="4810125"/>
            <a:ext cx="3209925" cy="847725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293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для своей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762000" y="6076950"/>
            <a:ext cx="106680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Рабочие сценарии автора. Ожидаемый эффект проверяем на пилоте.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Формулы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Android-эталон.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Расчёты, единицы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и проверенные примеры.</a:t>
            </a:r>
          </a:p>
        </p:txBody>
      </p:sp>
      <p:sp>
        <p:nvSpPr>
          <p:cNvPr id="6" name="Block_5"/>
          <p:cNvSpPr/>
          <p:nvPr/>
        </p:nvSpPr>
        <p:spPr>
          <a:xfrm>
            <a:off x="447675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447675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Документы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447675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Доступный регламент ВНР.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ПБ и ОТ — сверка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редакций и состава.</a:t>
            </a:r>
          </a:p>
        </p:txBody>
      </p:sp>
      <p:sp>
        <p:nvSpPr>
          <p:cNvPr id="9" name="Block_8"/>
          <p:cNvSpPr/>
          <p:nvPr/>
        </p:nvSpPr>
        <p:spPr>
          <a:xfrm>
            <a:off x="819150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819150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Практика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19150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Рабочие ситуации автора.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Учебные материалы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и обратная связь.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ОСНОВА ПРОЕКТА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723900" y="1762125"/>
            <a:ext cx="10668000" cy="157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819150" y="3667125"/>
            <a:ext cx="10477500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857250" y="4953000"/>
            <a:ext cx="10477500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Прямые денежные расходы, по оценке автора,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Основной вклад — время.</a:t>
            </a:r>
          </a:p>
        </p:txBody>
      </p:sp>
      <p:sp>
        <p:nvSpPr>
          <p:cNvPr id="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838200" y="5505450"/>
            <a:ext cx="58102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B7B7B7"/>
                </a:solidFill>
                <a:latin typeface="Arial"/>
              </a:defRPr>
            </a:pPr>
            <a:r>
              <a:t>По оценке автора · пилот перед масштабированием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7229475" y="1790700"/>
            <a:ext cx="228600" cy="556259"/>
            <a:chOff x="7229475" y="1790700"/>
            <a:chExt cx="228600" cy="556259"/>
          </a:xfrm>
        </p:grpSpPr>
        <p:sp>
          <p:nvSpPr>
            <p:cNvPr id="6" name="Oval 5"/>
            <p:cNvSpPr/>
            <p:nvPr/>
          </p:nvSpPr>
          <p:spPr>
            <a:xfrm>
              <a:off x="7282815" y="17907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229475" y="19507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244715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7366635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8096249" y="1790700"/>
            <a:ext cx="228600" cy="556259"/>
            <a:chOff x="8096249" y="1790700"/>
            <a:chExt cx="228600" cy="556259"/>
          </a:xfrm>
        </p:grpSpPr>
        <p:sp>
          <p:nvSpPr>
            <p:cNvPr id="11" name="Oval 10"/>
            <p:cNvSpPr/>
            <p:nvPr/>
          </p:nvSpPr>
          <p:spPr>
            <a:xfrm>
              <a:off x="8149590" y="17907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096249" y="19507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111490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233410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8963025" y="1790700"/>
            <a:ext cx="228600" cy="556259"/>
            <a:chOff x="8963025" y="1790700"/>
            <a:chExt cx="228600" cy="556259"/>
          </a:xfrm>
        </p:grpSpPr>
        <p:sp>
          <p:nvSpPr>
            <p:cNvPr id="16" name="Oval 15"/>
            <p:cNvSpPr/>
            <p:nvPr/>
          </p:nvSpPr>
          <p:spPr>
            <a:xfrm>
              <a:off x="9016365" y="17907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963025" y="19507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8978265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100185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9829800" y="1790700"/>
            <a:ext cx="228600" cy="556259"/>
            <a:chOff x="9829800" y="1790700"/>
            <a:chExt cx="228600" cy="556259"/>
          </a:xfrm>
        </p:grpSpPr>
        <p:sp>
          <p:nvSpPr>
            <p:cNvPr id="21" name="Oval 20"/>
            <p:cNvSpPr/>
            <p:nvPr/>
          </p:nvSpPr>
          <p:spPr>
            <a:xfrm>
              <a:off x="9883139" y="17907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829800" y="19507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9845040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966960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10696575" y="1790700"/>
            <a:ext cx="228600" cy="556259"/>
            <a:chOff x="10696575" y="1790700"/>
            <a:chExt cx="228600" cy="556259"/>
          </a:xfrm>
        </p:grpSpPr>
        <p:sp>
          <p:nvSpPr>
            <p:cNvPr id="26" name="Oval 25"/>
            <p:cNvSpPr/>
            <p:nvPr/>
          </p:nvSpPr>
          <p:spPr>
            <a:xfrm>
              <a:off x="10749915" y="17907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10696575" y="19507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0711814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33735" y="2125979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229475" y="2600325"/>
            <a:ext cx="228600" cy="556260"/>
            <a:chOff x="7229475" y="2600325"/>
            <a:chExt cx="228600" cy="556260"/>
          </a:xfrm>
        </p:grpSpPr>
        <p:sp>
          <p:nvSpPr>
            <p:cNvPr id="31" name="Oval 30"/>
            <p:cNvSpPr/>
            <p:nvPr/>
          </p:nvSpPr>
          <p:spPr>
            <a:xfrm>
              <a:off x="7282815" y="260032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229475" y="276034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244715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366635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8096249" y="2600325"/>
            <a:ext cx="228600" cy="556260"/>
            <a:chOff x="8096249" y="2600325"/>
            <a:chExt cx="228600" cy="556260"/>
          </a:xfrm>
        </p:grpSpPr>
        <p:sp>
          <p:nvSpPr>
            <p:cNvPr id="36" name="Oval 35"/>
            <p:cNvSpPr/>
            <p:nvPr/>
          </p:nvSpPr>
          <p:spPr>
            <a:xfrm>
              <a:off x="8149590" y="260032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8096249" y="276034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111490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8233410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963025" y="2600325"/>
            <a:ext cx="228600" cy="556260"/>
            <a:chOff x="8963025" y="2600325"/>
            <a:chExt cx="228600" cy="556260"/>
          </a:xfrm>
        </p:grpSpPr>
        <p:sp>
          <p:nvSpPr>
            <p:cNvPr id="41" name="Oval 40"/>
            <p:cNvSpPr/>
            <p:nvPr/>
          </p:nvSpPr>
          <p:spPr>
            <a:xfrm>
              <a:off x="9016365" y="260032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963025" y="276034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978265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100185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9829800" y="2600325"/>
            <a:ext cx="228600" cy="556260"/>
            <a:chOff x="9829800" y="2600325"/>
            <a:chExt cx="228600" cy="556260"/>
          </a:xfrm>
        </p:grpSpPr>
        <p:sp>
          <p:nvSpPr>
            <p:cNvPr id="46" name="Oval 45"/>
            <p:cNvSpPr/>
            <p:nvPr/>
          </p:nvSpPr>
          <p:spPr>
            <a:xfrm>
              <a:off x="9883139" y="260032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9829800" y="276034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9845040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9966960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10696575" y="2600325"/>
            <a:ext cx="228600" cy="556260"/>
            <a:chOff x="10696575" y="2600325"/>
            <a:chExt cx="228600" cy="556260"/>
          </a:xfrm>
        </p:grpSpPr>
        <p:sp>
          <p:nvSpPr>
            <p:cNvPr id="51" name="Oval 50"/>
            <p:cNvSpPr/>
            <p:nvPr/>
          </p:nvSpPr>
          <p:spPr>
            <a:xfrm>
              <a:off x="10749915" y="260032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10696575" y="276034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10711814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10833735" y="293560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7229475" y="3409950"/>
            <a:ext cx="228600" cy="556260"/>
            <a:chOff x="7229475" y="3409950"/>
            <a:chExt cx="228600" cy="556260"/>
          </a:xfrm>
        </p:grpSpPr>
        <p:sp>
          <p:nvSpPr>
            <p:cNvPr id="56" name="Oval 55"/>
            <p:cNvSpPr/>
            <p:nvPr/>
          </p:nvSpPr>
          <p:spPr>
            <a:xfrm>
              <a:off x="7282815" y="340995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7229475" y="356997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7244715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366635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096249" y="3409950"/>
            <a:ext cx="228600" cy="556260"/>
            <a:chOff x="8096249" y="3409950"/>
            <a:chExt cx="228600" cy="556260"/>
          </a:xfrm>
        </p:grpSpPr>
        <p:sp>
          <p:nvSpPr>
            <p:cNvPr id="61" name="Oval 60"/>
            <p:cNvSpPr/>
            <p:nvPr/>
          </p:nvSpPr>
          <p:spPr>
            <a:xfrm>
              <a:off x="8149590" y="340995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096249" y="356997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111490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233410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8963025" y="3409950"/>
            <a:ext cx="228600" cy="556260"/>
            <a:chOff x="8963025" y="3409950"/>
            <a:chExt cx="228600" cy="556260"/>
          </a:xfrm>
        </p:grpSpPr>
        <p:sp>
          <p:nvSpPr>
            <p:cNvPr id="66" name="Oval 65"/>
            <p:cNvSpPr/>
            <p:nvPr/>
          </p:nvSpPr>
          <p:spPr>
            <a:xfrm>
              <a:off x="9016365" y="340995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8963025" y="356997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8978265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00185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829800" y="3409950"/>
            <a:ext cx="228600" cy="556260"/>
            <a:chOff x="9829800" y="3409950"/>
            <a:chExt cx="228600" cy="556260"/>
          </a:xfrm>
        </p:grpSpPr>
        <p:sp>
          <p:nvSpPr>
            <p:cNvPr id="71" name="Oval 70"/>
            <p:cNvSpPr/>
            <p:nvPr/>
          </p:nvSpPr>
          <p:spPr>
            <a:xfrm>
              <a:off x="9883139" y="340995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829800" y="356997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845040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966960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10696575" y="3409950"/>
            <a:ext cx="228600" cy="556260"/>
            <a:chOff x="10696575" y="3409950"/>
            <a:chExt cx="228600" cy="556260"/>
          </a:xfrm>
        </p:grpSpPr>
        <p:sp>
          <p:nvSpPr>
            <p:cNvPr id="76" name="Oval 75"/>
            <p:cNvSpPr/>
            <p:nvPr/>
          </p:nvSpPr>
          <p:spPr>
            <a:xfrm>
              <a:off x="10749915" y="340995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10696575" y="356997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10711814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0833735" y="374523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7229475" y="4219575"/>
            <a:ext cx="228600" cy="556260"/>
            <a:chOff x="7229475" y="4219575"/>
            <a:chExt cx="228600" cy="556260"/>
          </a:xfrm>
        </p:grpSpPr>
        <p:sp>
          <p:nvSpPr>
            <p:cNvPr id="81" name="Oval 80"/>
            <p:cNvSpPr/>
            <p:nvPr/>
          </p:nvSpPr>
          <p:spPr>
            <a:xfrm>
              <a:off x="7282815" y="421957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7229475" y="437959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7244715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7366635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8096249" y="4219575"/>
            <a:ext cx="228600" cy="556260"/>
            <a:chOff x="8096249" y="4219575"/>
            <a:chExt cx="228600" cy="556260"/>
          </a:xfrm>
        </p:grpSpPr>
        <p:sp>
          <p:nvSpPr>
            <p:cNvPr id="86" name="Oval 85"/>
            <p:cNvSpPr/>
            <p:nvPr/>
          </p:nvSpPr>
          <p:spPr>
            <a:xfrm>
              <a:off x="8149590" y="421957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8096249" y="437959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8111490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8233410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8963025" y="4219575"/>
            <a:ext cx="228600" cy="556260"/>
            <a:chOff x="8963025" y="4219575"/>
            <a:chExt cx="228600" cy="556260"/>
          </a:xfrm>
        </p:grpSpPr>
        <p:sp>
          <p:nvSpPr>
            <p:cNvPr id="91" name="Oval 90"/>
            <p:cNvSpPr/>
            <p:nvPr/>
          </p:nvSpPr>
          <p:spPr>
            <a:xfrm>
              <a:off x="9016365" y="421957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8963025" y="437959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8978265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9100185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9829800" y="4219575"/>
            <a:ext cx="228600" cy="556260"/>
            <a:chOff x="9829800" y="4219575"/>
            <a:chExt cx="228600" cy="556260"/>
          </a:xfrm>
        </p:grpSpPr>
        <p:sp>
          <p:nvSpPr>
            <p:cNvPr id="96" name="Oval 95"/>
            <p:cNvSpPr/>
            <p:nvPr/>
          </p:nvSpPr>
          <p:spPr>
            <a:xfrm>
              <a:off x="9883139" y="421957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9829800" y="437959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9845040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9966960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696575" y="4219575"/>
            <a:ext cx="228600" cy="556260"/>
            <a:chOff x="10696575" y="4219575"/>
            <a:chExt cx="228600" cy="556260"/>
          </a:xfrm>
        </p:grpSpPr>
        <p:sp>
          <p:nvSpPr>
            <p:cNvPr id="101" name="Oval 100"/>
            <p:cNvSpPr/>
            <p:nvPr/>
          </p:nvSpPr>
          <p:spPr>
            <a:xfrm>
              <a:off x="10749915" y="4219575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696575" y="4379595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711814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833735" y="4554855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7229475" y="5029200"/>
            <a:ext cx="228600" cy="556260"/>
            <a:chOff x="7229475" y="5029200"/>
            <a:chExt cx="228600" cy="556260"/>
          </a:xfrm>
        </p:grpSpPr>
        <p:sp>
          <p:nvSpPr>
            <p:cNvPr id="106" name="Oval 105"/>
            <p:cNvSpPr/>
            <p:nvPr/>
          </p:nvSpPr>
          <p:spPr>
            <a:xfrm>
              <a:off x="7282815" y="50292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7229475" y="51892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7244715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7366635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8096249" y="5029200"/>
            <a:ext cx="228600" cy="556260"/>
            <a:chOff x="8096249" y="5029200"/>
            <a:chExt cx="228600" cy="556260"/>
          </a:xfrm>
        </p:grpSpPr>
        <p:sp>
          <p:nvSpPr>
            <p:cNvPr id="111" name="Oval 110"/>
            <p:cNvSpPr/>
            <p:nvPr/>
          </p:nvSpPr>
          <p:spPr>
            <a:xfrm>
              <a:off x="8149590" y="50292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8096249" y="51892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8111490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8233410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8963025" y="5029200"/>
            <a:ext cx="228600" cy="556260"/>
            <a:chOff x="8963025" y="5029200"/>
            <a:chExt cx="228600" cy="556260"/>
          </a:xfrm>
        </p:grpSpPr>
        <p:sp>
          <p:nvSpPr>
            <p:cNvPr id="116" name="Oval 115"/>
            <p:cNvSpPr/>
            <p:nvPr/>
          </p:nvSpPr>
          <p:spPr>
            <a:xfrm>
              <a:off x="9016365" y="50292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8963025" y="51892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8978265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9100185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9829800" y="5029200"/>
            <a:ext cx="228600" cy="556260"/>
            <a:chOff x="9829800" y="5029200"/>
            <a:chExt cx="228600" cy="556260"/>
          </a:xfrm>
        </p:grpSpPr>
        <p:sp>
          <p:nvSpPr>
            <p:cNvPr id="121" name="Oval 120"/>
            <p:cNvSpPr/>
            <p:nvPr/>
          </p:nvSpPr>
          <p:spPr>
            <a:xfrm>
              <a:off x="9883139" y="50292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9829800" y="51892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9845040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9966960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0696575" y="5029200"/>
            <a:ext cx="228600" cy="556260"/>
            <a:chOff x="10696575" y="5029200"/>
            <a:chExt cx="228600" cy="556260"/>
          </a:xfrm>
        </p:grpSpPr>
        <p:sp>
          <p:nvSpPr>
            <p:cNvPr id="126" name="Oval 125"/>
            <p:cNvSpPr/>
            <p:nvPr/>
          </p:nvSpPr>
          <p:spPr>
            <a:xfrm>
              <a:off x="10749915" y="5029200"/>
              <a:ext cx="121920" cy="121920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0696575" y="5189220"/>
              <a:ext cx="228600" cy="220980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0711814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0833735" y="5364480"/>
              <a:ext cx="76200" cy="220980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0" name="Text_29"/>
          <p:cNvSpPr txBox="1"/>
          <p:nvPr/>
        </p:nvSpPr>
        <p:spPr>
          <a:xfrm>
            <a:off x="7115175" y="5972175"/>
            <a:ext cx="4333875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FFCD00"/>
                </a:solidFill>
                <a:latin typeface="Arial"/>
              </a:defRPr>
            </a:pPr>
            <a:r>
              <a:t>Один силуэт ≈ 10 человек</a:t>
            </a:r>
          </a:p>
        </p:txBody>
      </p:sp>
      <p:sp>
        <p:nvSpPr>
          <p:cNvPr id="13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3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34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750" b="1">
                <a:solidFill>
                  <a:srgbClr val="FFFFFF"/>
                </a:solidFill>
                <a:latin typeface="Arial"/>
              </a:defRPr>
            </a:pPr>
            <a:r>
              <a:t>Пользу проверяем в работе.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6200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Время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76200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Сопоставимые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типовые операции.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47675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Корректность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Расчёт и порядок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в учебном сценарии.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819150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Доступность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819150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Нужный материал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на месте работы.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86450"/>
            <a:ext cx="10668000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B7B7B7"/>
                </a:solidFill>
                <a:latin typeface="Arial"/>
              </a:defRPr>
            </a:pPr>
            <a:r>
              <a:t>Денежный эффект — по данным пилота, без вымышленных сумм.</a:t>
            </a:r>
          </a:p>
        </p:txBody>
      </p:sp>
      <p:sp>
        <p:nvSpPr>
          <p:cNvPr id="1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ПРОВЕРКА ЭФФЕКТА</a:t>
            </a:r>
          </a:p>
        </p:txBody>
      </p:sp>
      <p:sp>
        <p:nvSpPr>
          <p:cNvPr id="1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66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FFFF"/>
                </a:solidFill>
                <a:latin typeface="Arial"/>
              </a:defRPr>
            </a:pPr>
            <a:r>
              <a:t>Предложение: пилот.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2905125"/>
            <a:ext cx="10668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Проверить содержание. Оценить применение.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Принять решение по результатам.</a:t>
            </a:r>
          </a:p>
        </p:txBody>
      </p:sp>
      <p:sp>
        <p:nvSpPr>
          <p:cNvPr id="4" name="!!PilotLine"/>
          <p:cNvSpPr/>
          <p:nvPr/>
        </p:nvSpPr>
        <p:spPr>
          <a:xfrm>
            <a:off x="809625" y="4667250"/>
            <a:ext cx="10287000" cy="285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lock_4"/>
          <p:cNvSpPr/>
          <p:nvPr/>
        </p:nvSpPr>
        <p:spPr>
          <a:xfrm>
            <a:off x="80962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_5"/>
          <p:cNvSpPr txBox="1"/>
          <p:nvPr/>
        </p:nvSpPr>
        <p:spPr>
          <a:xfrm>
            <a:off x="80962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Проверка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80962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Профильные специалисты</a:t>
            </a:r>
          </a:p>
        </p:txBody>
      </p:sp>
      <p:sp>
        <p:nvSpPr>
          <p:cNvPr id="8" name="Block_7"/>
          <p:cNvSpPr/>
          <p:nvPr/>
        </p:nvSpPr>
        <p:spPr>
          <a:xfrm>
            <a:off x="357187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357187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Пилот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357187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Ограниченная группа</a:t>
            </a:r>
          </a:p>
        </p:txBody>
      </p:sp>
      <p:sp>
        <p:nvSpPr>
          <p:cNvPr id="11" name="Block_10"/>
          <p:cNvSpPr/>
          <p:nvPr/>
        </p:nvSpPr>
        <p:spPr>
          <a:xfrm>
            <a:off x="633412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633412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Измерения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633412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Единые показатели</a:t>
            </a:r>
          </a:p>
        </p:txBody>
      </p:sp>
      <p:sp>
        <p:nvSpPr>
          <p:cNvPr id="14" name="Block_13"/>
          <p:cNvSpPr/>
          <p:nvPr/>
        </p:nvSpPr>
        <p:spPr>
          <a:xfrm>
            <a:off x="909637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_14"/>
          <p:cNvSpPr txBox="1"/>
          <p:nvPr/>
        </p:nvSpPr>
        <p:spPr>
          <a:xfrm>
            <a:off x="909637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Решение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909637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Подтверждённый эффект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ProductTitle"/>
          <p:cNvSpPr txBox="1"/>
          <p:nvPr/>
        </p:nvSpPr>
        <p:spPr>
          <a:xfrm>
            <a:off x="685800" y="1476375"/>
            <a:ext cx="904875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250" b="1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4" name="!!ProductSubtitle"/>
          <p:cNvSpPr txBox="1"/>
          <p:nvPr/>
        </p:nvSpPr>
        <p:spPr>
          <a:xfrm>
            <a:off x="733425" y="3000375"/>
            <a:ext cx="8096249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CD00"/>
                </a:solidFill>
                <a:latin typeface="Arial"/>
              </a:defRPr>
            </a:pPr>
            <a:r>
              <a:t>Расчёты. Пояснения.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CD00"/>
                </a:solidFill>
                <a:latin typeface="Arial"/>
              </a:defRPr>
            </a:pPr>
            <a:r>
              <a:t>Рабочие инструкции.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5238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0">
                <a:solidFill>
                  <a:srgbClr val="FFFFFF"/>
                </a:solidFill>
                <a:latin typeface="Arial"/>
              </a:defRPr>
            </a:pPr>
            <a:r>
              <a:t>Предложение: профильная проверка и пилот.</a:t>
            </a:r>
          </a:p>
        </p:txBody>
      </p:sp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ОПЕРАТОР ДНГ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7239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00" b="1">
                <a:solidFill>
                  <a:srgbClr val="FFFFFF"/>
                </a:solidFill>
                <a:latin typeface="Arial"/>
              </a:defRPr>
            </a:pPr>
            <a:r>
              <a:t>Автор проекта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476625"/>
            <a:ext cx="7239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[ФИО]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[Должность · номер цеха]</a:t>
            </a:r>
          </a:p>
        </p:txBody>
      </p:sp>
      <p:sp>
        <p:nvSpPr>
          <p:cNvPr id="4" name="PortraitFrame"/>
          <p:cNvSpPr/>
          <p:nvPr/>
        </p:nvSpPr>
        <p:spPr>
          <a:xfrm>
            <a:off x="8334375" y="1524000"/>
            <a:ext cx="2857500" cy="428625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_4"/>
          <p:cNvSpPr txBox="1"/>
          <p:nvPr/>
        </p:nvSpPr>
        <p:spPr>
          <a:xfrm>
            <a:off x="8763000" y="3238500"/>
            <a:ext cx="2047875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Фото автора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пока не получено</a:t>
            </a:r>
          </a:p>
        </p:txBody>
      </p:sp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/ ЗАПАСНОЙ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  <p:transition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76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Примеры расчётов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051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3850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60 мин → 24 м³/сут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3943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3876674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12 часов → 2 м³/сут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45815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451485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20 А → 16,2 А: рабочий ток ниже на 19%</a:t>
            </a:r>
          </a:p>
        </p:txBody>
      </p:sp>
      <p:sp>
        <p:nvSpPr>
          <p:cNvPr id="9" name="Block_8"/>
          <p:cNvSpPr/>
          <p:nvPr/>
        </p:nvSpPr>
        <p:spPr>
          <a:xfrm>
            <a:off x="723900" y="5219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w3"/>
          <p:cNvSpPr txBox="1"/>
          <p:nvPr/>
        </p:nvSpPr>
        <p:spPr>
          <a:xfrm>
            <a:off x="933449" y="5153025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50 × (16,2 / 20)² = 32,805 → 32,8 м³/сут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781050" y="60483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Демонстрационные примеры, не рекомендации уставок оборудования.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ПРИМЕРЫ / ЗАПАСНОЙ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  <p:transition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рабочая презентация, редакция 2</dc:title>
  <dc:subject>Согласованные задачи, реальные расчёты, пошаговые инструкции и практическая польза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