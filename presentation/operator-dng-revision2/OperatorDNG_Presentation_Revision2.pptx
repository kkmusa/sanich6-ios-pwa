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Представиться: [ФИО], [должность], [цех]. Название «Оператор ДНГ». Изображение промысла создано для оформления, не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расчёты и материалы рядом с оператором. Согласованное вступление сохранено.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— упростить доступ к расчётам и рабочим материалам на месте работы. Далее четыре согласованные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приложение целиком. Четыре карточки — разные рабочие ситуации, а не весь перечень функций. На карточки можно нажать для открытия раздела. Для последовательного выступления достаточно листать дальше.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 же окно меняет содержимое на длительный интервал. Скриншоты двух фрагментов одного состояния PWA: 18.10.2026 19:30 до 19.10.2026 07:30 — 12 часов, 1000 литров → 2 м³/сут. Даты примера иллюстративны. Внутри окна сохранены реальные элементы выбора и реальный результат приложения. Можно задавать разные даты, в том числе переход через полночь.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Рабочие сценарии автора. 1) Слишком быстрый разгон может сопровождаться выносом количества взвешенных частиц и риском износа УЭЦН; приложение помогает сверить расчёт и порядок действий. Конкретную причинность, темп и ограничения подтверждают технологи. 2) Ошибка последовательности перевода в РИЧ может вызвать нежелательный режим или остановку; пошаговые материалы помогают снизить вероятность такой ошибки. Приложение не управляет станцией и не блокирует ошибочную команду. 3) При выводе на режим расчёт притока и проверка условий охлаждения ПЭД — рабочая задача оператора. Недостаток охлаждения связан с риском перегрева и отказа. Конкретную обязательность, периодичность и критерии устанавливает действующая технологическая документация. Нельзя обещать гарантированное предотвращение отказа или уже измеренную экономию.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Android — функциональный эталон формул и данных. Регламент ВНР отдельно от названных автором документов ПБ и ОТ в пяти томах. Название со слов автора: «Инструкции по промышленной безопасности и охране труда для работников структурных подразделений ООО „РН-Юганскнефтегаз“». Полноту интеграции всех томов и актуальность редакций не утверждать. Предоставленные учебные материалы RosPump и «Качество данных» использованы как контекст, интеграции с этими системами нет.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календарных месяца по данным автора. Прямые денежные расходы минимальны по его оценке. Основной вклад — время. Не называть труд бесплатным и не превращать календарный срок в человеко-месяцы. Проверка, внедрение и сопровождение имеют отдельные затраты.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по оценке автора, не действующие пользователи. 250 человеческих силуэтов, каждый обозначает одного человека. Иконки не показывают распределение должностей, полов или статусов внедрения.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Пользу предлагается измерять в сопоставимых заданиях: время выполнения, корректность расчёта и последовательности, доступность материалов без сети. Снижение риска ошибок — ожидаемый эффект для проверки. Не заявлять уже предотвращённые ремонты или сохранённую добычу. Финансовые ставки и частота событий пока не подтверждены.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Пилот — отдельное предложение руководству, не пятая задача проекта. Начать с проверки формул, материалов и редакций ответственными специалистами. Определить группу, задания и показатели. Затем принять решение по измеренным результатам.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Закончить конкретным предложением: согласовать профильную проверку и ограниченный пилот. Дать аудитории время на вопросы. Не представлять приложение как уже утверждённое корпоративное решение.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Запасной скрытый слайд. Фото, ФИО, точная должность и номер цеха ещё не предоставлены. Не подставлять вымышленную личность.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6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slide" Target="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Relationship Id="rId5" Type="http://schemas.openxmlformats.org/officeDocument/2006/relationships/slide" Target="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Relationship Id="rId4" Type="http://schemas.openxmlformats.org/officeDocument/2006/relationships/slide" Target="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0" y="0"/>
            <a:ext cx="12192000" cy="6858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ntroEyebrow"/>
          <p:cNvSpPr txBox="1"/>
          <p:nvPr/>
        </p:nvSpPr>
        <p:spPr>
          <a:xfrm>
            <a:off x="666750" y="838200"/>
            <a:ext cx="108585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FFCD00"/>
                </a:solidFill>
                <a:latin typeface="Arial"/>
              </a:defRPr>
            </a:pPr>
            <a:r>
              <a:t>ПРОЕКТ ЦИФРОВОГО ПОМОЩНИКА</a:t>
            </a:r>
          </a:p>
        </p:txBody>
      </p:sp>
      <p:sp>
        <p:nvSpPr>
          <p:cNvPr id="6" name="IntroCaption"/>
          <p:cNvSpPr txBox="1"/>
          <p:nvPr/>
        </p:nvSpPr>
        <p:spPr>
          <a:xfrm>
            <a:off x="695325" y="5286375"/>
            <a:ext cx="107632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800">
                <a:solidFill>
                  <a:srgbClr val="FFFFFF"/>
                </a:solidFill>
                <a:latin typeface="Arial"/>
              </a:defRPr>
            </a:pPr>
            <a:r>
              <a:t>ОПЕРАТОРУ ДОБЫЧИ НЕФТИ И ГАЗА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8191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1381125"/>
            <a:ext cx="8096249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45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714625"/>
            <a:ext cx="6286500" cy="2095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Рабочие инструменты.</a:t>
            </a:r>
          </a:p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Всегда рядом.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oilfield_illustration.png"/>
          <p:cNvPicPr>
            <a:picLocks noChangeAspect="1"/>
          </p:cNvPicPr>
          <p:nvPr/>
        </p:nvPicPr>
        <p:blipFill>
          <a:blip r:embed="rId2"/>
          <a:srcRect l="37099"/>
          <a:stretch>
            <a:fillRect/>
          </a:stretch>
        </p:blipFill>
        <p:spPr>
          <a:xfrm>
            <a:off x="6191250" y="952500"/>
            <a:ext cx="5429250" cy="4857750"/>
          </a:xfrm>
          <a:prstGeom prst="rect">
            <a:avLst/>
          </a:prstGeom>
        </p:spPr>
      </p:pic>
      <p:sp>
        <p:nvSpPr>
          <p:cNvPr id="3" name="!!WordAperture"/>
          <p:cNvSpPr/>
          <p:nvPr/>
        </p:nvSpPr>
        <p:spPr>
          <a:xfrm>
            <a:off x="-307772774" y="-363283500"/>
            <a:ext cx="1341120000" cy="754380000"/>
          </a:xfrm>
          <a:solidFill>
            <a:srgbClr val="000000"/>
          </a:solidFill>
          <a:ln w="6985">
            <a:solidFill>
              <a:srgbClr val="8C7950"/>
            </a:solidFill>
          </a:ln>
          <a:custGeom>
            <a:avLst/>
            <a:gdLst/>
            <a:ahLst/>
            <a:cxnLst/>
            <a:rect l="0" t="0" r="w" b="h"/>
            <a:pathLst>
              <a:path w="128000" h="72000" fill="norm" stroke="false">
                <a:moveTo>
                  <a:pt x="0" y="0"/>
                </a:moveTo>
                <a:lnTo>
                  <a:pt x="128000" y="0"/>
                </a:lnTo>
                <a:lnTo>
                  <a:pt x="128000" y="72000"/>
                </a:lnTo>
                <a:lnTo>
                  <a:pt x="0" y="72000"/>
                </a:lnTo>
                <a:close/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  <a:path w="128000" h="72000" fill="none" stroke="true">
                <a:moveTo>
                  <a:pt x="17120" y="33368"/>
                </a:moveTo>
                <a:cubicBezTo>
                  <a:pt x="17120" y="34565"/>
                  <a:pt x="16914" y="35618"/>
                  <a:pt x="16501" y="36526"/>
                </a:cubicBezTo>
                <a:cubicBezTo>
                  <a:pt x="16089" y="37435"/>
                  <a:pt x="15498" y="38130"/>
                  <a:pt x="14730" y="38611"/>
                </a:cubicBezTo>
                <a:cubicBezTo>
                  <a:pt x="13962" y="39093"/>
                  <a:pt x="13066" y="39334"/>
                  <a:pt x="12042" y="39334"/>
                </a:cubicBezTo>
                <a:cubicBezTo>
                  <a:pt x="10468" y="39334"/>
                  <a:pt x="9234" y="38802"/>
                  <a:pt x="8341" y="37738"/>
                </a:cubicBezTo>
                <a:cubicBezTo>
                  <a:pt x="7447" y="36674"/>
                  <a:pt x="7000" y="35218"/>
                  <a:pt x="7000" y="33368"/>
                </a:cubicBezTo>
                <a:cubicBezTo>
                  <a:pt x="7000" y="31523"/>
                  <a:pt x="7446" y="30084"/>
                  <a:pt x="8337" y="29051"/>
                </a:cubicBezTo>
                <a:cubicBezTo>
                  <a:pt x="9228" y="28017"/>
                  <a:pt x="10468" y="27500"/>
                  <a:pt x="12056" y="27500"/>
                </a:cubicBezTo>
                <a:cubicBezTo>
                  <a:pt x="13645" y="27500"/>
                  <a:pt x="14886" y="28022"/>
                  <a:pt x="15779" y="29067"/>
                </a:cubicBezTo>
                <a:cubicBezTo>
                  <a:pt x="16673" y="30112"/>
                  <a:pt x="17120" y="31545"/>
                  <a:pt x="17120" y="33368"/>
                </a:cubicBezTo>
                <a:close/>
                <a:moveTo>
                  <a:pt x="14979" y="33368"/>
                </a:moveTo>
                <a:cubicBezTo>
                  <a:pt x="14979" y="32127"/>
                  <a:pt x="14723" y="31155"/>
                  <a:pt x="14211" y="30450"/>
                </a:cubicBezTo>
                <a:cubicBezTo>
                  <a:pt x="13699" y="29746"/>
                  <a:pt x="12981" y="29393"/>
                  <a:pt x="12056" y="29393"/>
                </a:cubicBezTo>
                <a:cubicBezTo>
                  <a:pt x="11118" y="29393"/>
                  <a:pt x="10392" y="29743"/>
                  <a:pt x="9880" y="30442"/>
                </a:cubicBezTo>
                <a:cubicBezTo>
                  <a:pt x="9368" y="31141"/>
                  <a:pt x="9112" y="32116"/>
                  <a:pt x="9112" y="33368"/>
                </a:cubicBezTo>
                <a:cubicBezTo>
                  <a:pt x="9112" y="34630"/>
                  <a:pt x="9374" y="35624"/>
                  <a:pt x="9898" y="36351"/>
                </a:cubicBezTo>
                <a:cubicBezTo>
                  <a:pt x="10422" y="37077"/>
                  <a:pt x="11137" y="37440"/>
                  <a:pt x="12042" y="37440"/>
                </a:cubicBezTo>
                <a:cubicBezTo>
                  <a:pt x="12981" y="37440"/>
                  <a:pt x="13705" y="37087"/>
                  <a:pt x="14215" y="36379"/>
                </a:cubicBezTo>
                <a:cubicBezTo>
                  <a:pt x="14724" y="35672"/>
                  <a:pt x="14979" y="34668"/>
                  <a:pt x="14979" y="33368"/>
                </a:cubicBezTo>
                <a:close/>
                <a:moveTo>
                  <a:pt x="25199" y="39170"/>
                </a:moveTo>
                <a:lnTo>
                  <a:pt x="27226" y="39170"/>
                </a:lnTo>
                <a:lnTo>
                  <a:pt x="27226" y="27671"/>
                </a:lnTo>
                <a:lnTo>
                  <a:pt x="18706" y="27671"/>
                </a:lnTo>
                <a:lnTo>
                  <a:pt x="18706" y="39170"/>
                </a:lnTo>
                <a:lnTo>
                  <a:pt x="20797" y="39170"/>
                </a:lnTo>
                <a:lnTo>
                  <a:pt x="20797" y="29663"/>
                </a:lnTo>
                <a:lnTo>
                  <a:pt x="25199" y="29663"/>
                </a:lnTo>
                <a:close/>
                <a:moveTo>
                  <a:pt x="29174" y="39170"/>
                </a:moveTo>
                <a:lnTo>
                  <a:pt x="29174" y="27671"/>
                </a:lnTo>
                <a:lnTo>
                  <a:pt x="37054" y="27671"/>
                </a:lnTo>
                <a:lnTo>
                  <a:pt x="37054" y="29532"/>
                </a:lnTo>
                <a:lnTo>
                  <a:pt x="31272" y="29532"/>
                </a:lnTo>
                <a:lnTo>
                  <a:pt x="31272" y="32421"/>
                </a:lnTo>
                <a:lnTo>
                  <a:pt x="36620" y="32421"/>
                </a:lnTo>
                <a:lnTo>
                  <a:pt x="36620" y="34282"/>
                </a:lnTo>
                <a:lnTo>
                  <a:pt x="31272" y="34282"/>
                </a:lnTo>
                <a:lnTo>
                  <a:pt x="31272" y="37310"/>
                </a:lnTo>
                <a:lnTo>
                  <a:pt x="37345" y="37310"/>
                </a:lnTo>
                <a:lnTo>
                  <a:pt x="37345" y="39170"/>
                </a:lnTo>
                <a:close/>
                <a:moveTo>
                  <a:pt x="47131" y="31311"/>
                </a:moveTo>
                <a:cubicBezTo>
                  <a:pt x="47131" y="32051"/>
                  <a:pt x="46984" y="32712"/>
                  <a:pt x="46690" y="33294"/>
                </a:cubicBezTo>
                <a:cubicBezTo>
                  <a:pt x="46396" y="33876"/>
                  <a:pt x="45975" y="34327"/>
                  <a:pt x="45428" y="34645"/>
                </a:cubicBezTo>
                <a:cubicBezTo>
                  <a:pt x="44880" y="34963"/>
                  <a:pt x="44230" y="35122"/>
                  <a:pt x="43476" y="35122"/>
                </a:cubicBezTo>
                <a:lnTo>
                  <a:pt x="40987" y="35122"/>
                </a:lnTo>
                <a:lnTo>
                  <a:pt x="40987" y="39170"/>
                </a:lnTo>
                <a:lnTo>
                  <a:pt x="38889" y="39170"/>
                </a:lnTo>
                <a:lnTo>
                  <a:pt x="38889" y="27671"/>
                </a:lnTo>
                <a:lnTo>
                  <a:pt x="43390" y="27671"/>
                </a:lnTo>
                <a:cubicBezTo>
                  <a:pt x="44590" y="27671"/>
                  <a:pt x="45513" y="27988"/>
                  <a:pt x="46160" y="28622"/>
                </a:cubicBezTo>
                <a:cubicBezTo>
                  <a:pt x="46808" y="29256"/>
                  <a:pt x="47131" y="30152"/>
                  <a:pt x="47131" y="31311"/>
                </a:cubicBezTo>
                <a:close/>
                <a:moveTo>
                  <a:pt x="45019" y="31352"/>
                </a:moveTo>
                <a:cubicBezTo>
                  <a:pt x="45019" y="30144"/>
                  <a:pt x="44398" y="29540"/>
                  <a:pt x="43156" y="29540"/>
                </a:cubicBezTo>
                <a:lnTo>
                  <a:pt x="40987" y="29540"/>
                </a:lnTo>
                <a:lnTo>
                  <a:pt x="40987" y="33270"/>
                </a:lnTo>
                <a:lnTo>
                  <a:pt x="43213" y="33270"/>
                </a:lnTo>
                <a:cubicBezTo>
                  <a:pt x="43791" y="33270"/>
                  <a:pt x="44237" y="33105"/>
                  <a:pt x="44550" y="32776"/>
                </a:cubicBezTo>
                <a:cubicBezTo>
                  <a:pt x="44863" y="32447"/>
                  <a:pt x="45019" y="31972"/>
                  <a:pt x="45019" y="31352"/>
                </a:cubicBezTo>
                <a:close/>
                <a:moveTo>
                  <a:pt x="55686" y="39170"/>
                </a:moveTo>
                <a:lnTo>
                  <a:pt x="54798" y="36232"/>
                </a:lnTo>
                <a:lnTo>
                  <a:pt x="50979" y="36232"/>
                </a:lnTo>
                <a:lnTo>
                  <a:pt x="50090" y="39170"/>
                </a:lnTo>
                <a:lnTo>
                  <a:pt x="47992" y="39170"/>
                </a:lnTo>
                <a:lnTo>
                  <a:pt x="51647" y="27671"/>
                </a:lnTo>
                <a:lnTo>
                  <a:pt x="54122" y="27671"/>
                </a:lnTo>
                <a:lnTo>
                  <a:pt x="57763" y="39170"/>
                </a:lnTo>
                <a:close/>
                <a:moveTo>
                  <a:pt x="52884" y="29442"/>
                </a:moveTo>
                <a:lnTo>
                  <a:pt x="52842" y="29622"/>
                </a:lnTo>
                <a:cubicBezTo>
                  <a:pt x="52794" y="29818"/>
                  <a:pt x="52737" y="30041"/>
                  <a:pt x="52671" y="30291"/>
                </a:cubicBezTo>
                <a:cubicBezTo>
                  <a:pt x="52605" y="30541"/>
                  <a:pt x="52197" y="31918"/>
                  <a:pt x="51448" y="34421"/>
                </a:cubicBezTo>
                <a:lnTo>
                  <a:pt x="54328" y="34421"/>
                </a:lnTo>
                <a:lnTo>
                  <a:pt x="53340" y="31115"/>
                </a:lnTo>
                <a:lnTo>
                  <a:pt x="53034" y="30005"/>
                </a:lnTo>
                <a:close/>
                <a:moveTo>
                  <a:pt x="63644" y="29532"/>
                </a:moveTo>
                <a:lnTo>
                  <a:pt x="63644" y="39170"/>
                </a:lnTo>
                <a:lnTo>
                  <a:pt x="61546" y="39170"/>
                </a:lnTo>
                <a:lnTo>
                  <a:pt x="61546" y="29532"/>
                </a:lnTo>
                <a:lnTo>
                  <a:pt x="58311" y="29532"/>
                </a:lnTo>
                <a:lnTo>
                  <a:pt x="58311" y="27671"/>
                </a:lnTo>
                <a:lnTo>
                  <a:pt x="66887" y="27671"/>
                </a:lnTo>
                <a:lnTo>
                  <a:pt x="66887" y="29532"/>
                </a:lnTo>
                <a:close/>
                <a:moveTo>
                  <a:pt x="77761" y="33368"/>
                </a:moveTo>
                <a:cubicBezTo>
                  <a:pt x="77761" y="34565"/>
                  <a:pt x="77555" y="35618"/>
                  <a:pt x="77142" y="36526"/>
                </a:cubicBezTo>
                <a:cubicBezTo>
                  <a:pt x="76730" y="37435"/>
                  <a:pt x="76140" y="38130"/>
                  <a:pt x="75372" y="38611"/>
                </a:cubicBezTo>
                <a:cubicBezTo>
                  <a:pt x="74603" y="39093"/>
                  <a:pt x="73707" y="39334"/>
                  <a:pt x="72683" y="39334"/>
                </a:cubicBezTo>
                <a:cubicBezTo>
                  <a:pt x="71109" y="39334"/>
                  <a:pt x="69875" y="38802"/>
                  <a:pt x="68982" y="37738"/>
                </a:cubicBezTo>
                <a:cubicBezTo>
                  <a:pt x="68088" y="36674"/>
                  <a:pt x="67641" y="35218"/>
                  <a:pt x="67641" y="33368"/>
                </a:cubicBezTo>
                <a:cubicBezTo>
                  <a:pt x="67641" y="31523"/>
                  <a:pt x="68087" y="30084"/>
                  <a:pt x="68978" y="29051"/>
                </a:cubicBezTo>
                <a:cubicBezTo>
                  <a:pt x="69869" y="28017"/>
                  <a:pt x="71109" y="27500"/>
                  <a:pt x="72698" y="27500"/>
                </a:cubicBezTo>
                <a:cubicBezTo>
                  <a:pt x="74286" y="27500"/>
                  <a:pt x="75527" y="28022"/>
                  <a:pt x="76421" y="29067"/>
                </a:cubicBezTo>
                <a:cubicBezTo>
                  <a:pt x="77314" y="30112"/>
                  <a:pt x="77761" y="31545"/>
                  <a:pt x="77761" y="33368"/>
                </a:cubicBezTo>
                <a:close/>
                <a:moveTo>
                  <a:pt x="75620" y="33368"/>
                </a:moveTo>
                <a:cubicBezTo>
                  <a:pt x="75620" y="32127"/>
                  <a:pt x="75364" y="31155"/>
                  <a:pt x="74852" y="30450"/>
                </a:cubicBezTo>
                <a:cubicBezTo>
                  <a:pt x="74340" y="29746"/>
                  <a:pt x="73622" y="29393"/>
                  <a:pt x="72698" y="29393"/>
                </a:cubicBezTo>
                <a:cubicBezTo>
                  <a:pt x="71759" y="29393"/>
                  <a:pt x="71033" y="29743"/>
                  <a:pt x="70521" y="30442"/>
                </a:cubicBezTo>
                <a:cubicBezTo>
                  <a:pt x="70009" y="31141"/>
                  <a:pt x="69753" y="32116"/>
                  <a:pt x="69753" y="33368"/>
                </a:cubicBezTo>
                <a:cubicBezTo>
                  <a:pt x="69753" y="34630"/>
                  <a:pt x="70015" y="35624"/>
                  <a:pt x="70539" y="36351"/>
                </a:cubicBezTo>
                <a:cubicBezTo>
                  <a:pt x="71063" y="37077"/>
                  <a:pt x="71778" y="37440"/>
                  <a:pt x="72683" y="37440"/>
                </a:cubicBezTo>
                <a:cubicBezTo>
                  <a:pt x="73622" y="37440"/>
                  <a:pt x="74346" y="37087"/>
                  <a:pt x="74856" y="36379"/>
                </a:cubicBezTo>
                <a:cubicBezTo>
                  <a:pt x="75366" y="35672"/>
                  <a:pt x="75620" y="34668"/>
                  <a:pt x="75620" y="33368"/>
                </a:cubicBezTo>
                <a:close/>
                <a:moveTo>
                  <a:pt x="87589" y="31311"/>
                </a:moveTo>
                <a:cubicBezTo>
                  <a:pt x="87589" y="32051"/>
                  <a:pt x="87442" y="32712"/>
                  <a:pt x="87148" y="33294"/>
                </a:cubicBezTo>
                <a:cubicBezTo>
                  <a:pt x="86855" y="33876"/>
                  <a:pt x="86434" y="34327"/>
                  <a:pt x="85886" y="34645"/>
                </a:cubicBezTo>
                <a:cubicBezTo>
                  <a:pt x="85339" y="34963"/>
                  <a:pt x="84688" y="35122"/>
                  <a:pt x="83934" y="35122"/>
                </a:cubicBezTo>
                <a:lnTo>
                  <a:pt x="81445" y="35122"/>
                </a:lnTo>
                <a:lnTo>
                  <a:pt x="81445" y="39170"/>
                </a:lnTo>
                <a:lnTo>
                  <a:pt x="79347" y="39170"/>
                </a:lnTo>
                <a:lnTo>
                  <a:pt x="79347" y="27671"/>
                </a:lnTo>
                <a:lnTo>
                  <a:pt x="83849" y="27671"/>
                </a:lnTo>
                <a:cubicBezTo>
                  <a:pt x="85048" y="27671"/>
                  <a:pt x="85971" y="27988"/>
                  <a:pt x="86619" y="28622"/>
                </a:cubicBezTo>
                <a:cubicBezTo>
                  <a:pt x="87266" y="29256"/>
                  <a:pt x="87589" y="30152"/>
                  <a:pt x="87589" y="31311"/>
                </a:cubicBezTo>
                <a:close/>
                <a:moveTo>
                  <a:pt x="85477" y="31352"/>
                </a:moveTo>
                <a:cubicBezTo>
                  <a:pt x="85477" y="30144"/>
                  <a:pt x="84856" y="29540"/>
                  <a:pt x="83614" y="29540"/>
                </a:cubicBezTo>
                <a:lnTo>
                  <a:pt x="81445" y="29540"/>
                </a:lnTo>
                <a:lnTo>
                  <a:pt x="81445" y="33270"/>
                </a:lnTo>
                <a:lnTo>
                  <a:pt x="83671" y="33270"/>
                </a:lnTo>
                <a:cubicBezTo>
                  <a:pt x="84249" y="33270"/>
                  <a:pt x="84695" y="33105"/>
                  <a:pt x="85008" y="32776"/>
                </a:cubicBezTo>
                <a:cubicBezTo>
                  <a:pt x="85321" y="32447"/>
                  <a:pt x="85477" y="31972"/>
                  <a:pt x="85477" y="31352"/>
                </a:cubicBezTo>
                <a:close/>
                <a:moveTo>
                  <a:pt x="100931" y="37179"/>
                </a:moveTo>
                <a:lnTo>
                  <a:pt x="100931" y="27671"/>
                </a:lnTo>
                <a:lnTo>
                  <a:pt x="95320" y="27671"/>
                </a:lnTo>
                <a:lnTo>
                  <a:pt x="94886" y="31303"/>
                </a:lnTo>
                <a:cubicBezTo>
                  <a:pt x="94748" y="32413"/>
                  <a:pt x="94547" y="33492"/>
                  <a:pt x="94281" y="34539"/>
                </a:cubicBezTo>
                <a:cubicBezTo>
                  <a:pt x="94016" y="35586"/>
                  <a:pt x="93713" y="36466"/>
                  <a:pt x="93371" y="37179"/>
                </a:cubicBezTo>
                <a:lnTo>
                  <a:pt x="92262" y="37179"/>
                </a:lnTo>
                <a:lnTo>
                  <a:pt x="92262" y="42500"/>
                </a:lnTo>
                <a:lnTo>
                  <a:pt x="94040" y="42500"/>
                </a:lnTo>
                <a:lnTo>
                  <a:pt x="94040" y="39170"/>
                </a:lnTo>
                <a:lnTo>
                  <a:pt x="100469" y="39170"/>
                </a:lnTo>
                <a:lnTo>
                  <a:pt x="100469" y="42500"/>
                </a:lnTo>
                <a:lnTo>
                  <a:pt x="102247" y="42500"/>
                </a:lnTo>
                <a:lnTo>
                  <a:pt x="102247" y="37179"/>
                </a:lnTo>
                <a:close/>
                <a:moveTo>
                  <a:pt x="98904" y="37179"/>
                </a:moveTo>
                <a:lnTo>
                  <a:pt x="95569" y="37179"/>
                </a:lnTo>
                <a:cubicBezTo>
                  <a:pt x="95815" y="36581"/>
                  <a:pt x="96051" y="35774"/>
                  <a:pt x="96276" y="34759"/>
                </a:cubicBezTo>
                <a:cubicBezTo>
                  <a:pt x="96501" y="33745"/>
                  <a:pt x="96683" y="32682"/>
                  <a:pt x="96820" y="31572"/>
                </a:cubicBezTo>
                <a:lnTo>
                  <a:pt x="97041" y="29663"/>
                </a:lnTo>
                <a:lnTo>
                  <a:pt x="98904" y="29663"/>
                </a:lnTo>
                <a:close/>
                <a:moveTo>
                  <a:pt x="109948" y="39170"/>
                </a:moveTo>
                <a:lnTo>
                  <a:pt x="109948" y="34241"/>
                </a:lnTo>
                <a:lnTo>
                  <a:pt x="105582" y="34241"/>
                </a:lnTo>
                <a:lnTo>
                  <a:pt x="105582" y="39170"/>
                </a:lnTo>
                <a:lnTo>
                  <a:pt x="103484" y="39170"/>
                </a:lnTo>
                <a:lnTo>
                  <a:pt x="103484" y="27671"/>
                </a:lnTo>
                <a:lnTo>
                  <a:pt x="105582" y="27671"/>
                </a:lnTo>
                <a:lnTo>
                  <a:pt x="105582" y="32250"/>
                </a:lnTo>
                <a:lnTo>
                  <a:pt x="109948" y="32250"/>
                </a:lnTo>
                <a:lnTo>
                  <a:pt x="109948" y="27671"/>
                </a:lnTo>
                <a:lnTo>
                  <a:pt x="112046" y="27671"/>
                </a:lnTo>
                <a:lnTo>
                  <a:pt x="112046" y="39170"/>
                </a:lnTo>
                <a:close/>
                <a:moveTo>
                  <a:pt x="121000" y="27671"/>
                </a:moveTo>
                <a:lnTo>
                  <a:pt x="114002" y="27671"/>
                </a:lnTo>
                <a:lnTo>
                  <a:pt x="114002" y="39162"/>
                </a:lnTo>
                <a:lnTo>
                  <a:pt x="116100" y="39162"/>
                </a:lnTo>
                <a:lnTo>
                  <a:pt x="116100" y="29532"/>
                </a:lnTo>
                <a:lnTo>
                  <a:pt x="121000" y="29532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YellowRule"/>
          <p:cNvSpPr/>
          <p:nvPr/>
        </p:nvSpPr>
        <p:spPr>
          <a:xfrm>
            <a:off x="666750" y="590550"/>
            <a:ext cx="4857750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roductTitle"/>
          <p:cNvSpPr txBox="1"/>
          <p:nvPr/>
        </p:nvSpPr>
        <p:spPr>
          <a:xfrm>
            <a:off x="666750" y="952500"/>
            <a:ext cx="523875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600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6" name="!!ProductSubtitle"/>
          <p:cNvSpPr txBox="1"/>
          <p:nvPr/>
        </p:nvSpPr>
        <p:spPr>
          <a:xfrm>
            <a:off x="704850" y="2238375"/>
            <a:ext cx="495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3900">
                <a:solidFill>
                  <a:srgbClr val="FFCD00"/>
                </a:solidFill>
                <a:latin typeface="Arial"/>
              </a:defRPr>
            </a:pPr>
            <a:r>
              <a:t>Цель проекта</a:t>
            </a:r>
          </a:p>
        </p:txBody>
      </p:sp>
      <p:sp>
        <p:nvSpPr>
          <p:cNvPr id="7" name="Goal"/>
          <p:cNvSpPr txBox="1"/>
          <p:nvPr/>
        </p:nvSpPr>
        <p:spPr>
          <a:xfrm>
            <a:off x="723900" y="3476625"/>
            <a:ext cx="48577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Упростить доступ оператора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к расчётам и рабочим</a:t>
            </a:r>
          </a:p>
          <a:p>
            <a:pPr>
              <a:spcAft>
                <a:spcPts val="1000"/>
              </a:spcAft>
              <a:defRPr b="1" sz="2175">
                <a:solidFill>
                  <a:srgbClr val="FFFFFF"/>
                </a:solidFill>
                <a:latin typeface="Arial"/>
              </a:defRPr>
            </a:pPr>
            <a:r>
              <a:t>материалам на месте работы.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43650"/>
            <a:ext cx="10858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b="1" sz="105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8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Четыре задачи. Один помощник.</a:t>
            </a:r>
          </a:p>
        </p:txBody>
      </p:sp>
      <p:sp>
        <p:nvSpPr>
          <p:cNvPr id="3" name="!!ObjectiveCard0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66675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askNumber0"/>
          <p:cNvSpPr txBox="1"/>
          <p:nvPr/>
        </p:nvSpPr>
        <p:spPr>
          <a:xfrm>
            <a:off x="800100" y="2600325"/>
            <a:ext cx="3619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askTitle0"/>
          <p:cNvSpPr txBox="1"/>
          <p:nvPr/>
        </p:nvSpPr>
        <p:spPr>
          <a:xfrm>
            <a:off x="1209675" y="2600325"/>
            <a:ext cx="188595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1">
                <a:solidFill>
                  <a:srgbClr val="000000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pic>
        <p:nvPicPr>
          <p:cNvPr id="7" name="ObjectiveImage0" descr="hom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79478" y="3914775"/>
            <a:ext cx="946292" cy="2047875"/>
          </a:xfrm>
          <a:prstGeom prst="rect">
            <a:avLst/>
          </a:prstGeom>
        </p:spPr>
      </p:pic>
      <p:sp>
        <p:nvSpPr>
          <p:cNvPr id="8" name="!!Objective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lock_8"/>
          <p:cNvSpPr/>
          <p:nvPr/>
        </p:nvSpPr>
        <p:spPr>
          <a:xfrm>
            <a:off x="342900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askNumber1"/>
          <p:cNvSpPr txBox="1"/>
          <p:nvPr/>
        </p:nvSpPr>
        <p:spPr>
          <a:xfrm>
            <a:off x="3562350" y="2600325"/>
            <a:ext cx="3619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askTitle1"/>
          <p:cNvSpPr txBox="1"/>
          <p:nvPr/>
        </p:nvSpPr>
        <p:spPr>
          <a:xfrm>
            <a:off x="3971925" y="2600325"/>
            <a:ext cx="188595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1">
                <a:solidFill>
                  <a:srgbClr val="000000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pic>
        <p:nvPicPr>
          <p:cNvPr id="12" name="ObjectiveImage1" descr="manual-minutes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241728" y="3914775"/>
            <a:ext cx="946292" cy="2047875"/>
          </a:xfrm>
          <a:prstGeom prst="rect">
            <a:avLst/>
          </a:prstGeom>
        </p:spPr>
      </p:pic>
      <p:sp>
        <p:nvSpPr>
          <p:cNvPr id="13" name="!!Objective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Block_13"/>
          <p:cNvSpPr/>
          <p:nvPr/>
        </p:nvSpPr>
        <p:spPr>
          <a:xfrm>
            <a:off x="619125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skNumber2"/>
          <p:cNvSpPr txBox="1"/>
          <p:nvPr/>
        </p:nvSpPr>
        <p:spPr>
          <a:xfrm>
            <a:off x="6324600" y="2600325"/>
            <a:ext cx="3619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askTitle2"/>
          <p:cNvSpPr txBox="1"/>
          <p:nvPr/>
        </p:nvSpPr>
        <p:spPr>
          <a:xfrm>
            <a:off x="6734175" y="2600325"/>
            <a:ext cx="188595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1">
                <a:solidFill>
                  <a:srgbClr val="000000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pic>
        <p:nvPicPr>
          <p:cNvPr id="17" name="ObjectiveImage2" descr="ramp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003978" y="3914775"/>
            <a:ext cx="946292" cy="2047875"/>
          </a:xfrm>
          <a:prstGeom prst="rect">
            <a:avLst/>
          </a:prstGeom>
        </p:spPr>
      </p:pic>
      <p:sp>
        <p:nvSpPr>
          <p:cNvPr id="18" name="!!Objective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Block_18"/>
          <p:cNvSpPr/>
          <p:nvPr/>
        </p:nvSpPr>
        <p:spPr>
          <a:xfrm>
            <a:off x="8953500" y="2428875"/>
            <a:ext cx="2571750" cy="5715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skNumber3"/>
          <p:cNvSpPr txBox="1"/>
          <p:nvPr/>
        </p:nvSpPr>
        <p:spPr>
          <a:xfrm>
            <a:off x="9086850" y="2600325"/>
            <a:ext cx="36195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askTitle3"/>
          <p:cNvSpPr txBox="1"/>
          <p:nvPr/>
        </p:nvSpPr>
        <p:spPr>
          <a:xfrm>
            <a:off x="9496425" y="2600325"/>
            <a:ext cx="1885950" cy="121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1">
                <a:solidFill>
                  <a:srgbClr val="000000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pic>
        <p:nvPicPr>
          <p:cNvPr id="22" name="ObjectiveImage3" descr="vnr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766228" y="3914775"/>
            <a:ext cx="946292" cy="2047875"/>
          </a:xfrm>
          <a:prstGeom prst="rect">
            <a:avLst/>
          </a:prstGeom>
        </p:spPr>
      </p:pic>
      <p:sp>
        <p:nvSpPr>
          <p:cNvPr id="2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6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>
            <a:hlinkClick action="ppaction://hlinksldjump" r:id="rId7"/>
          </p:cNvPr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>
            <a:hlinkClick action="ppaction://hlinksldjump" r:id="rId7"/>
          </p:cNvPr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>
            <a:hlinkClick action="ppaction://hlinksldjump" r:id="rId8"/>
          </p:cNvPr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>
            <a:hlinkClick action="ppaction://hlinksldjump" r:id="rId8"/>
          </p:cNvPr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>
            <a:hlinkClick action="ppaction://hlinksldjump" r:id="rId9"/>
          </p:cNvPr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>
            <a:hlinkClick action="ppaction://hlinksldjump" r:id="rId9"/>
          </p:cNvPr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>
            <a:hlinkClick action="ppaction://hlinksldjump" r:id="rId9"/>
          </p:cNvPr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>
            <a:hlinkClick action="ppaction://hlinksldjump" r:id="rId10"/>
          </p:cNvPr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>
            <a:hlinkClick action="ppaction://hlinksldjump" r:id="rId10"/>
          </p:cNvPr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>
            <a:hlinkClick action="ppaction://hlinksldjump" r:id="rId10"/>
          </p:cNvPr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096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Длительный интервал.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Даже через полночь.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96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Указываем даты и время.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Продолжительность считает приложение.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667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647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Задаём параметры оборудования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0290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962399"/>
            <a:ext cx="647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Выбираем доступный УЭЦН /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705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638675"/>
            <a:ext cx="6477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Вводим номинальный и рабочий ток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467350"/>
            <a:ext cx="6381750" cy="590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Получаем необходимый приток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667624" y="1381125"/>
            <a:ext cx="3857625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858125" y="1562100"/>
            <a:ext cx="3476625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Пример результата</a:t>
            </a:r>
          </a:p>
        </p:txBody>
      </p:sp>
      <p:pic>
        <p:nvPicPr>
          <p:cNvPr id="12" name="!!DemoContent" descr="ped-exampl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848600" y="2248268"/>
            <a:ext cx="3495674" cy="2742463"/>
          </a:xfrm>
          <a:prstGeom prst="rect">
            <a:avLst/>
          </a:prstGeom>
        </p:spPr>
      </p:pic>
      <p:sp>
        <p:nvSpPr>
          <p:cNvPr id="13" name="CoolingResult"/>
          <p:cNvSpPr txBox="1"/>
          <p:nvPr/>
        </p:nvSpPr>
        <p:spPr>
          <a:xfrm>
            <a:off x="7877175" y="5267325"/>
            <a:ext cx="3429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781050" y="6029325"/>
            <a:ext cx="1047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В работе используются данные конкретного оборудования.</a:t>
            </a:r>
          </a:p>
        </p:txBody>
      </p:sp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9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для своей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762000" y="6076950"/>
            <a:ext cx="106680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Рабочие сценарии автора. Ожидаемый эффект проверяем на пилоте.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Формулы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Android-эталон.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Расчёты, единицы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проверенные примеры.</a:t>
            </a:r>
          </a:p>
        </p:txBody>
      </p:sp>
      <p:sp>
        <p:nvSpPr>
          <p:cNvPr id="6" name="Block_5"/>
          <p:cNvSpPr/>
          <p:nvPr/>
        </p:nvSpPr>
        <p:spPr>
          <a:xfrm>
            <a:off x="447675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447675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Документы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447675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Доступный регламент ВНР.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ПБ и ОТ — сверка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редакций и состава.</a:t>
            </a:r>
          </a:p>
        </p:txBody>
      </p:sp>
      <p:sp>
        <p:nvSpPr>
          <p:cNvPr id="9" name="Block_8"/>
          <p:cNvSpPr/>
          <p:nvPr/>
        </p:nvSpPr>
        <p:spPr>
          <a:xfrm>
            <a:off x="8191500" y="3286125"/>
            <a:ext cx="323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8191500" y="3667125"/>
            <a:ext cx="32385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Практика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191500" y="4657725"/>
            <a:ext cx="32385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Рабочие ситуации автора.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Учебные материалы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и обратная связь.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ОСНОВА ПРОЕКТА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10668000" cy="1571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819150" y="3667125"/>
            <a:ext cx="10477500" cy="809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57250" y="4953000"/>
            <a:ext cx="10477500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Прямые денежные расходы, по оценке автора,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Основной вклад — время.</a:t>
            </a:r>
          </a:p>
        </p:txBody>
      </p:sp>
      <p:sp>
        <p:nvSpPr>
          <p:cNvPr id="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</a:t>
            </a:r>
          </a:p>
        </p:txBody>
      </p:sp>
      <p:sp>
        <p:nvSpPr>
          <p:cNvPr id="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8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838200" y="5505450"/>
            <a:ext cx="58102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B7B7B7"/>
                </a:solidFill>
                <a:latin typeface="Arial"/>
              </a:defRPr>
            </a:pPr>
            <a:r>
              <a:t>По оценке автора · пилот перед масштабированием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5" name="Text_254"/>
          <p:cNvSpPr txBox="1"/>
          <p:nvPr/>
        </p:nvSpPr>
        <p:spPr>
          <a:xfrm>
            <a:off x="7115175" y="5972175"/>
            <a:ext cx="4333875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FFCD00"/>
                </a:solidFill>
                <a:latin typeface="Arial"/>
              </a:defRPr>
            </a:pPr>
            <a:r>
              <a:t>250 силуэтов · один силуэт — один человек</a:t>
            </a:r>
          </a:p>
        </p:txBody>
      </p: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750" b="1">
                <a:solidFill>
                  <a:srgbClr val="FFFFFF"/>
                </a:solidFill>
                <a:latin typeface="Arial"/>
              </a:defRPr>
            </a:pPr>
            <a:r>
              <a:t>Пользу проверяем в работе.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620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Время</a:t>
            </a:r>
          </a:p>
        </p:txBody>
      </p:sp>
      <p:sp>
        <p:nvSpPr>
          <p:cNvPr id="4" name="Text_3"/>
          <p:cNvSpPr txBox="1"/>
          <p:nvPr/>
        </p:nvSpPr>
        <p:spPr>
          <a:xfrm>
            <a:off x="7620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Сопоставимые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типовые операции.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47675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Корректность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Расчёт и порядок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в учебном сценарии.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191500" y="328612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Доступность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8191500" y="4286250"/>
            <a:ext cx="3333750" cy="1285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Нужный материал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на месте работы.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86450"/>
            <a:ext cx="10668000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B7B7B7"/>
                </a:solidFill>
                <a:latin typeface="Arial"/>
              </a:defRPr>
            </a:pPr>
            <a:r>
              <a:t>Денежный эффект — по данным пилота, без вымышленных сумм.</a:t>
            </a:r>
          </a:p>
        </p:txBody>
      </p:sp>
      <p:sp>
        <p:nvSpPr>
          <p:cNvPr id="1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ПРОВЕРКА ЭФФЕКТА</a:t>
            </a:r>
          </a:p>
        </p:txBody>
      </p:sp>
      <p:sp>
        <p:nvSpPr>
          <p:cNvPr id="1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3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66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FFFF"/>
                </a:solidFill>
                <a:latin typeface="Arial"/>
              </a:defRPr>
            </a:pPr>
            <a:r>
              <a:t>Предложение: пилот.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2905125"/>
            <a:ext cx="10668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Проверить содержание. Оценить применение.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Принять решение по результатам.</a:t>
            </a:r>
          </a:p>
        </p:txBody>
      </p:sp>
      <p:sp>
        <p:nvSpPr>
          <p:cNvPr id="4" name="!!PilotLine"/>
          <p:cNvSpPr/>
          <p:nvPr/>
        </p:nvSpPr>
        <p:spPr>
          <a:xfrm>
            <a:off x="809625" y="4667250"/>
            <a:ext cx="10287000" cy="285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Block_4"/>
          <p:cNvSpPr/>
          <p:nvPr/>
        </p:nvSpPr>
        <p:spPr>
          <a:xfrm>
            <a:off x="8096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_5"/>
          <p:cNvSpPr txBox="1"/>
          <p:nvPr/>
        </p:nvSpPr>
        <p:spPr>
          <a:xfrm>
            <a:off x="8096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8096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Профильные специалисты</a:t>
            </a:r>
          </a:p>
        </p:txBody>
      </p:sp>
      <p:sp>
        <p:nvSpPr>
          <p:cNvPr id="8" name="Block_7"/>
          <p:cNvSpPr/>
          <p:nvPr/>
        </p:nvSpPr>
        <p:spPr>
          <a:xfrm>
            <a:off x="35718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35718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Пилот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35718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Ограниченная группа</a:t>
            </a:r>
          </a:p>
        </p:txBody>
      </p:sp>
      <p:sp>
        <p:nvSpPr>
          <p:cNvPr id="11" name="Block_10"/>
          <p:cNvSpPr/>
          <p:nvPr/>
        </p:nvSpPr>
        <p:spPr>
          <a:xfrm>
            <a:off x="633412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633412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Измерения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633412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Единые показатели</a:t>
            </a:r>
          </a:p>
        </p:txBody>
      </p:sp>
      <p:sp>
        <p:nvSpPr>
          <p:cNvPr id="14" name="Block_13"/>
          <p:cNvSpPr/>
          <p:nvPr/>
        </p:nvSpPr>
        <p:spPr>
          <a:xfrm>
            <a:off x="9096375" y="4600575"/>
            <a:ext cx="142875" cy="1428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_14"/>
          <p:cNvSpPr txBox="1"/>
          <p:nvPr/>
        </p:nvSpPr>
        <p:spPr>
          <a:xfrm>
            <a:off x="9096375" y="5048250"/>
            <a:ext cx="2571750" cy="52387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FFFFFF"/>
                </a:solidFill>
                <a:latin typeface="Arial"/>
              </a:defRPr>
            </a:pPr>
            <a:r>
              <a:t>Решение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9096375" y="5667375"/>
            <a:ext cx="257175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Подтверждённый эффект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ProductTitle"/>
          <p:cNvSpPr txBox="1"/>
          <p:nvPr/>
        </p:nvSpPr>
        <p:spPr>
          <a:xfrm>
            <a:off x="685800" y="1476375"/>
            <a:ext cx="9048750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250" b="1">
                <a:solidFill>
                  <a:srgbClr val="FFFFFF"/>
                </a:solidFill>
                <a:latin typeface="Arial"/>
              </a:defRPr>
            </a:pPr>
            <a:r>
              <a:t>ОПЕРАТОР ДНГ</a:t>
            </a:r>
          </a:p>
        </p:txBody>
      </p:sp>
      <p:sp>
        <p:nvSpPr>
          <p:cNvPr id="4" name="!!ProductSubtitle"/>
          <p:cNvSpPr txBox="1"/>
          <p:nvPr/>
        </p:nvSpPr>
        <p:spPr>
          <a:xfrm>
            <a:off x="733425" y="3000375"/>
            <a:ext cx="8096249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Расчёты. Пояснения.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4050" b="1">
                <a:solidFill>
                  <a:srgbClr val="FFCD00"/>
                </a:solidFill>
                <a:latin typeface="Arial"/>
              </a:defRPr>
            </a:pPr>
            <a:r>
              <a:t>Рабочие инструкции.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5238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0">
                <a:solidFill>
                  <a:srgbClr val="FFFFFF"/>
                </a:solidFill>
                <a:latin typeface="Arial"/>
              </a:defRPr>
            </a:pPr>
            <a:r>
              <a:t>Предложение: профильная проверка и пилот.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ОПЕРАТОР ДНГ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7239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00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476625"/>
            <a:ext cx="7239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[ФИО]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[Должность · номер цеха]</a:t>
            </a:r>
          </a:p>
        </p:txBody>
      </p:sp>
      <p:sp>
        <p:nvSpPr>
          <p:cNvPr id="4" name="PortraitFrame"/>
          <p:cNvSpPr/>
          <p:nvPr/>
        </p:nvSpPr>
        <p:spPr>
          <a:xfrm>
            <a:off x="8334375" y="1524000"/>
            <a:ext cx="2857500" cy="428625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_4"/>
          <p:cNvSpPr txBox="1"/>
          <p:nvPr/>
        </p:nvSpPr>
        <p:spPr>
          <a:xfrm>
            <a:off x="8763000" y="3238500"/>
            <a:ext cx="2047875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Фото автора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пока не получено</a:t>
            </a:r>
          </a:p>
        </p:txBody>
      </p:sp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/ ЗАПАСНОЙ</a:t>
            </a:r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SlideNumber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рабочая презентация, редакция 2</dc:title>
  <dc:subject>Согласованные задачи, реальные расчёты, пошаговые инструкции и практическая польза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