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76" r:id="rId28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Представиться: [ФИО], [должность], [цех]. Название «Оператор ДНГ». Изображение промысла создано для оформления, не фотография объекта компании.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Рабочие расчёты и материалы рядом с оператором. Согласованное вступление сохранено.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— упростить доступ к расчётам и рабочим материалам на месте работы. Далее четыре согласованные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Рабочие сценарии автора. 1) Слишком быстрый разгон может сопровождаться выносом количества взвешенных частиц и риском износа УЭЦН; приложение помогает сверить расчёт и порядок действий. Конкретную причинность, темп и ограничения подтверждают технологи. 2) Ошибка последовательности перевода в РИЧ может вызвать нежелательный режим или остановку; пошаговые материалы помогают снизить вероятность такой ошибки. Приложение не управляет станцией и не блокирует ошибочную команду. 3) При выводе на режим расчёт притока и проверка условий охлаждения ПЭД — рабочая задача оператора. Недостаток охлаждения связан с риском перегрева и отказа. Конкретную обязательность, периодичность и критерии устанавливает действующая технологическая документация. Нельзя обещать гарантированное предотвращение отказа или уже измеренную экономию.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 — функциональный эталон формул и данных. Регламент ВНР отдельно от названных автором документов ПБ и ОТ в пяти томах. Название со слов автора: «Инструкции по промышленной безопасности и охране труда для работников структурных подразделений ООО „РН-Юганскнефтегаз“». Полноту интеграции всех томов и актуальность редакций не утверждать. Предоставленные учебные материалы RosPump и «Качество данных» использованы как контекст, интеграции с этими системами нет.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календарных месяца по данным автора. Прямые денежные расходы минимальны по его оценке. Основной вклад — время. Не называть труд бесплатным и не превращать календарный срок в человеко-месяцы. Проверка, внедрение и сопровождение имеют отдельные затраты.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по оценке автора, не действующие пользователи. 250 человеческих силуэтов, каждый обозначает одного человека. Иконки не показывают распределение должностей, полов или статусов внедрения.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Пользу предлагается измерять в сопоставимых заданиях: время выполнения, корректность расчёта и последовательности, доступность материалов без сети. Снижение риска ошибок — ожидаемый эффект для проверки. Не заявлять уже предотвращённые ремонты или сохранённую добычу. Финансовые ставки и частота событий пока не подтверждены.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Пилот — отдельное предложение руководству, не пятая задача проекта. Начать с проверки формул, материалов и редакций ответственными специалистами. Определить группу, задания и показатели. Затем принять решение по измеренным результатам.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6.xml"/><Relationship Id="rId8" Type="http://schemas.openxmlformats.org/officeDocument/2006/relationships/slide" Target="slide8.xml"/><Relationship Id="rId9" Type="http://schemas.openxmlformats.org/officeDocument/2006/relationships/slide" Target="slide9.xml"/><Relationship Id="rId10" Type="http://schemas.openxmlformats.org/officeDocument/2006/relationships/slide" Target="slide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0" y="0"/>
            <a:ext cx="12192000" cy="6858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ntroEyebrow"/>
          <p:cNvSpPr txBox="1"/>
          <p:nvPr/>
        </p:nvSpPr>
        <p:spPr>
          <a:xfrm>
            <a:off x="666750" y="838200"/>
            <a:ext cx="108585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FFCD00"/>
                </a:solidFill>
                <a:latin typeface="Arial"/>
              </a:defRPr>
            </a:pPr>
            <a:r>
              <a:t>ПРОЕКТ ЦИФРОВОГО ПОМОЩНИКА</a:t>
            </a:r>
          </a:p>
        </p:txBody>
      </p:sp>
      <p:sp>
        <p:nvSpPr>
          <p:cNvPr id="6" name="IntroCaption"/>
          <p:cNvSpPr txBox="1"/>
          <p:nvPr/>
        </p:nvSpPr>
        <p:spPr>
          <a:xfrm>
            <a:off x="695325" y="5286375"/>
            <a:ext cx="10763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FFFFFF"/>
                </a:solidFill>
                <a:latin typeface="Arial"/>
              </a:defRPr>
            </a:pPr>
            <a:r>
              <a:t>ОПЕРАТОРУ ДОБЫЧИ НЕФТИ И ГАЗА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1381125"/>
            <a:ext cx="8096249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45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714625"/>
            <a:ext cx="62865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l="37099"/>
          <a:stretch>
            <a:fillRect/>
          </a:stretch>
        </p:blipFill>
        <p:spPr>
          <a:xfrm>
            <a:off x="6191250" y="952500"/>
            <a:ext cx="5429250" cy="485775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48577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952500"/>
            <a:ext cx="5238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6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238375"/>
            <a:ext cx="495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Goal"/>
          <p:cNvSpPr txBox="1"/>
          <p:nvPr/>
        </p:nvSpPr>
        <p:spPr>
          <a:xfrm>
            <a:off x="723900" y="3476625"/>
            <a:ext cx="48577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к расчётам и рабочим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материалам на месте работы.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для своей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762000" y="6076950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Рабочие сценарии автора. Ожидаемый эффект проверяем на пилоте.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Формулы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Android-эталон.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Расчёты, единицы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проверенные примеры.</a:t>
            </a:r>
          </a:p>
        </p:txBody>
      </p:sp>
      <p:sp>
        <p:nvSpPr>
          <p:cNvPr id="6" name="Block_5"/>
          <p:cNvSpPr/>
          <p:nvPr/>
        </p:nvSpPr>
        <p:spPr>
          <a:xfrm>
            <a:off x="447675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447675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Документы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447675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Доступный регламент ВНР.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ПБ и ОТ — сверка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редакций и состава.</a:t>
            </a:r>
          </a:p>
        </p:txBody>
      </p:sp>
      <p:sp>
        <p:nvSpPr>
          <p:cNvPr id="9" name="Block_8"/>
          <p:cNvSpPr/>
          <p:nvPr/>
        </p:nvSpPr>
        <p:spPr>
          <a:xfrm>
            <a:off x="819150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819150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Практика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19150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Рабочие ситуации автора.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Учебные материалы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обратная связь.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ОСНОВА ПРОЕКТА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723900" y="1762125"/>
            <a:ext cx="10668000" cy="157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819150" y="3667125"/>
            <a:ext cx="1047750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857250" y="4953000"/>
            <a:ext cx="10477500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Прямые денежные расходы, по оценке автора,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Основной вклад — время.</a:t>
            </a:r>
          </a:p>
        </p:txBody>
      </p:sp>
      <p:sp>
        <p:nvSpPr>
          <p:cNvPr id="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838200" y="5505450"/>
            <a:ext cx="58102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B7B7B7"/>
                </a:solidFill>
                <a:latin typeface="Arial"/>
              </a:defRPr>
            </a:pPr>
            <a:r>
              <a:t>По оценке автора · пилот перед масштабированием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5" name="Text_254"/>
          <p:cNvSpPr txBox="1"/>
          <p:nvPr/>
        </p:nvSpPr>
        <p:spPr>
          <a:xfrm>
            <a:off x="7115175" y="5972175"/>
            <a:ext cx="43338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FFCD00"/>
                </a:solidFill>
                <a:latin typeface="Arial"/>
              </a:defRPr>
            </a:pPr>
            <a:r>
              <a:t>250 силуэтов · один силуэт — один человек</a:t>
            </a:r>
          </a:p>
        </p:txBody>
      </p: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750" b="1">
                <a:solidFill>
                  <a:srgbClr val="FFFFFF"/>
                </a:solidFill>
                <a:latin typeface="Arial"/>
              </a:defRPr>
            </a:pPr>
            <a:r>
              <a:t>Пользу проверяем в работе.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6200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Время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76200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Сопоставимые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типовые операции.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447675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Корректность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47675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Расчёт и порядок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в учебном сценарии.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819150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Доступность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819150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Нужный материал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на месте работы.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864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B7B7B7"/>
                </a:solidFill>
                <a:latin typeface="Arial"/>
              </a:defRPr>
            </a:pPr>
            <a:r>
              <a:t>Денежный эффект — по данным пилота, без вымышленных сумм.</a:t>
            </a:r>
          </a:p>
        </p:txBody>
      </p:sp>
      <p:sp>
        <p:nvSpPr>
          <p:cNvPr id="1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ПРОВЕРКА ЭФФЕКТА</a:t>
            </a:r>
          </a:p>
        </p:txBody>
      </p:sp>
      <p:sp>
        <p:nvSpPr>
          <p:cNvPr id="1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66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Предложение: пилот.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2905125"/>
            <a:ext cx="10668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Проверить содержание. Оценить применение.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Принять решение по результатам.</a:t>
            </a:r>
          </a:p>
        </p:txBody>
      </p:sp>
      <p:sp>
        <p:nvSpPr>
          <p:cNvPr id="4" name="!!PilotLine"/>
          <p:cNvSpPr/>
          <p:nvPr/>
        </p:nvSpPr>
        <p:spPr>
          <a:xfrm>
            <a:off x="809625" y="4667250"/>
            <a:ext cx="10287000" cy="285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_4"/>
          <p:cNvSpPr/>
          <p:nvPr/>
        </p:nvSpPr>
        <p:spPr>
          <a:xfrm>
            <a:off x="8096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_5"/>
          <p:cNvSpPr txBox="1"/>
          <p:nvPr/>
        </p:nvSpPr>
        <p:spPr>
          <a:xfrm>
            <a:off x="8096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8096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Профильные специалисты</a:t>
            </a:r>
          </a:p>
        </p:txBody>
      </p:sp>
      <p:sp>
        <p:nvSpPr>
          <p:cNvPr id="8" name="Block_7"/>
          <p:cNvSpPr/>
          <p:nvPr/>
        </p:nvSpPr>
        <p:spPr>
          <a:xfrm>
            <a:off x="35718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35718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35718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Ограниченная группа</a:t>
            </a:r>
          </a:p>
        </p:txBody>
      </p:sp>
      <p:sp>
        <p:nvSpPr>
          <p:cNvPr id="11" name="Block_10"/>
          <p:cNvSpPr/>
          <p:nvPr/>
        </p:nvSpPr>
        <p:spPr>
          <a:xfrm>
            <a:off x="63341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63341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Измерения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63341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Единые показатели</a:t>
            </a:r>
          </a:p>
        </p:txBody>
      </p:sp>
      <p:sp>
        <p:nvSpPr>
          <p:cNvPr id="14" name="Block_13"/>
          <p:cNvSpPr/>
          <p:nvPr/>
        </p:nvSpPr>
        <p:spPr>
          <a:xfrm>
            <a:off x="90963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_14"/>
          <p:cNvSpPr txBox="1"/>
          <p:nvPr/>
        </p:nvSpPr>
        <p:spPr>
          <a:xfrm>
            <a:off x="90963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90963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Подтверждённый эффект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Предложение: профильная проверка и пилот.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рабочая презентация, редакция 2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