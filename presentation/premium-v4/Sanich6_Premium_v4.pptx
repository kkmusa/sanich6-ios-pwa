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Саныч-6</a:t>
            </a:r>
          </a:p>
          <a:p/>
          <a:p>
            <a:r>
              <a:t>Представиться устно. Имя и должность уточняются. Проект для обсуждения руководством. Не утверждать состоявшееся корпоративное внедрение.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Рабочие инструменты.</a:t>
            </a:r>
          </a:p>
          <a:p>
            <a:r>
              <a:t>В одном приложении.</a:t>
            </a:r>
          </a:p>
          <a:p/>
          <a:p>
            <a:r>
              <a:t>Показать инструмент в целом. Установка на Android и iPhone через PWA; реальный iPhone/Safari в этой среде не испытан.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Нужная информация.</a:t>
            </a:r>
          </a:p>
          <a:p>
            <a:r>
              <a:t>В момент решения.</a:t>
            </a:r>
          </a:p>
          <a:p/>
          <a:p>
            <a:r>
              <a:t>Цель проекта — упростить доступ к проверенным расчётам и материалам в рабочем контексте. Приложение не управляет станцией.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задачи.</a:t>
            </a:r>
          </a:p>
          <a:p>
            <a:r>
              <a:t>Один рабочий инструмент.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Выбрать задачу.</a:t>
            </a:r>
          </a:p>
          <a:p>
            <a:r>
              <a:t>Получить опору.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Старт. Объём.</a:t>
            </a:r>
          </a:p>
          <a:p>
            <a:r>
              <a:t>Результат.</a:t>
            </a:r>
          </a:p>
          <a:p/>
          <a:p>
            <a:r>
              <a:t>По опыту автора в отдельные дни оператор выполняет 7–9 замеров. Не распространять эту частоту автоматически на 250 человек. Показан настоящий экран PWA с примером 100 л и 60 с.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144</a:t>
            </a:r>
          </a:p>
          <a:p/>
          <a:p>
            <a:r>
              <a:t>Проверяемый математический пример: Q=86,4×Vлитры/tсекунды. 86,4×100/60=144 м³/сут. Это не фактическая добыча конкретной скважины.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Через полночь.</a:t>
            </a:r>
          </a:p>
          <a:p>
            <a:r>
              <a:t>Без ручного пересчёта.</a:t>
            </a:r>
          </a:p>
          <a:p/>
          <a:p>
            <a:r>
              <a:t>Пример: начало 23:50, окончание 00:10 следующей даты — 20 минут. При 100 л Q=7,2 м³/сут. Начальная и конечная даты выбираются отдельно.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числом —</a:t>
            </a:r>
          </a:p>
          <a:p>
            <a:r>
              <a:t>рабочая задача.</a:t>
            </a:r>
          </a:p>
          <a:p/>
          <a:p>
            <a:r>
              <a:t>Важны исходные данные, единицы и применимость. Не представлять расчёт как гарантию предотвращения отказов.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Учитывать условия</a:t>
            </a:r>
          </a:p>
          <a:p>
            <a:r>
              <a:t>работы двигателя.</a:t>
            </a:r>
          </a:p>
          <a:p/>
          <a:p>
            <a:r>
              <a:t>Условная схема, не инженерная симуляция. Никаких вымышленных потоков, температур или рекомендаций по конкретному оборудованию.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Разгон.</a:t>
            </a:r>
          </a:p>
          <a:p>
            <a:r>
              <a:t>Свой темп.</a:t>
            </a:r>
          </a:p>
          <a:p/>
          <a:p>
            <a:r>
              <a:t>Фотография станции КАСКАД-НТ из проекта. Значения на архивной фотографии не являются рекомендацией. Риск слишком быстрого разгона описан автором; конкретную причинность и допустимые настройки подтверждают технологи.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РИЧ.</a:t>
            </a:r>
          </a:p>
          <a:p>
            <a:r>
              <a:t>Своя последовательность.</a:t>
            </a:r>
          </a:p>
          <a:p/>
          <a:p>
            <a:r>
              <a:t>Не смешивать инструкции разных моделей. Приложение не блокирует ошибки и не переключает режимы оборудования. Неправильный порядок действий — рабочий сценарий автора для обсуждения с технологами.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207</a:t>
            </a:r>
          </a:p>
          <a:p/>
          <a:p>
            <a:r>
              <a:t>Доступны 207 страниц ВНР. Полный офлайн после предварительной загрузки. Отдельно проверять корпоративную допустимость распространения.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Найти.</a:t>
            </a:r>
          </a:p>
          <a:p>
            <a:r>
              <a:t>Сохранить. Вернуться.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Расчёты + знания.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Понятно,</a:t>
            </a:r>
          </a:p>
          <a:p>
            <a:r>
              <a:t>на чём основано.</a:t>
            </a:r>
          </a:p>
          <a:p/>
          <a:p>
            <a:r>
              <a:t>ВНР отдельно от документов ПБ и ОТ. Пять томов ПБ и ОТ названы автором; полнота интеграции и актуальность всех редакций не подтверждены. RosPump не интегрирован.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месяца</a:t>
            </a:r>
          </a:p>
          <a:p/>
          <a:p>
            <a:r>
              <a:t>Три календарных месяца, по данным автора. Прямые денежные расходы минимальны по его оценке; время не бесплатно. Внедрение, проверка и сопровождение требуют отдельной оценки.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≈250</a:t>
            </a:r>
          </a:p>
          <a:p/>
          <a:p>
            <a:r>
              <a:t>Около 250 — оценка потенциальной аудитории автора, не число активных пользователей. Пилот предшествует масштабированию.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Пользу нужно</a:t>
            </a:r>
          </a:p>
          <a:p>
            <a:r>
              <a:t>измерить в работе.</a:t>
            </a:r>
          </a:p>
          <a:p/>
          <a:p>
            <a:r>
              <a:t>Не обещать предотвращённые ремонты и сохранённую добычу. Измерять время и корректность в сопоставимых заданиях, наличие материалов офлайн. Финансовые ставки и частота подтверждаются данными предприятия.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Проверить.</a:t>
            </a:r>
          </a:p>
          <a:p>
            <a:r>
              <a:t>Измерить. Решить.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Знания рядом</a:t>
            </a:r>
          </a:p>
          <a:p>
            <a:r>
              <a:t>с решением.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рабочих задач —</a:t>
            </a:r>
          </a:p>
          <a:p>
            <a:r>
              <a:t>в рабочий инструмент.</a:t>
            </a:r>
          </a:p>
          <a:p/>
          <a:p>
            <a:r>
              <a:t>Запасной слайд под точные ФИО, должность и портрет автора. Фото пока не получено. В основной показ до заполнения не включать.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Расчёты и проверка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 и границы</a:t>
            </a:r>
          </a:p>
          <a:p/>
          <a:p>
            <a:r>
              <a:t>Показать смысл слайда коротко. Не зачитывать подписи. Рабочие материалы и применимость проверяются профильными специалистами.</a:t>
            </a:r>
          </a:p>
          <a:p/>
          <a:p>
            <a:r>
              <a:t>Переход запускается щелчком. PDF статичен. Реальный Microsoft PowerPoint в этой среде не использован.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1.xml"/><Relationship Id="rId10" Type="http://schemas.openxmlformats.org/officeDocument/2006/relationships/slide" Target="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Relationship Id="rId7" Type="http://schemas.openxmlformats.org/officeDocument/2006/relationships/slide" Target="slide5.xml"/><Relationship Id="rId8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7.xml"/><Relationship Id="rId7" Type="http://schemas.openxmlformats.org/officeDocument/2006/relationships/slide" Target="slide5.xml"/><Relationship Id="rId8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Relationship Id="rId7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Relationship Id="rId7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Relationship Id="rId7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1.xml"/><Relationship Id="rId8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5.jpg"/><Relationship Id="rId8" Type="http://schemas.openxmlformats.org/officeDocument/2006/relationships/notesSlide" Target="../notesSlides/notesSlide12.xml"/><Relationship Id="rId9" Type="http://schemas.openxmlformats.org/officeDocument/2006/relationships/slide" Target="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3.xml"/><Relationship Id="rId7" Type="http://schemas.openxmlformats.org/officeDocument/2006/relationships/slide" Target="slide5.xml"/><Relationship Id="rId8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4.xml"/><Relationship Id="rId7" Type="http://schemas.openxmlformats.org/officeDocument/2006/relationships/slide" Target="slide5.xml"/><Relationship Id="rId8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15.xml"/><Relationship Id="rId9" Type="http://schemas.openxmlformats.org/officeDocument/2006/relationships/slide" Target="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61888" y="109728"/>
            <a:ext cx="6729983" cy="6729983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>
            <a:off x="6400799" y="548639"/>
            <a:ext cx="5852160" cy="585216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5700000">
            <a:off x="6693407" y="841247"/>
            <a:ext cx="5266944" cy="5266944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1400000">
            <a:off x="7249363" y="1397203"/>
            <a:ext cx="4155033" cy="4155033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2228271" y="3450031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0765231" y="598409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7839151" y="598409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6376111" y="345003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7839151" y="91597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0765231" y="91597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1508760"/>
            <a:ext cx="7589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800" b="1">
                <a:solidFill>
                  <a:srgbClr val="F2F4F8"/>
                </a:solidFill>
                <a:latin typeface="Arial"/>
              </a:defRPr>
            </a:pPr>
            <a:r>
              <a:t>Саныч-6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49808" y="3291840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400" b="1">
                <a:solidFill>
                  <a:srgbClr val="F6C649"/>
                </a:solidFill>
                <a:latin typeface="Arial"/>
              </a:defRPr>
            </a:pPr>
            <a:r>
              <a:t>Оператору.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400" b="1">
                <a:solidFill>
                  <a:srgbClr val="F6C649"/>
                </a:solidFill>
                <a:latin typeface="Arial"/>
              </a:defRPr>
            </a:pPr>
            <a:r>
              <a:t>На месте работы.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768096" y="521208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Расчёты и рабочие материалы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для Android и iPhone</a:t>
            </a:r>
          </a:p>
        </p:txBody>
      </p:sp>
      <p:pic>
        <p:nvPicPr>
          <p:cNvPr id="27" name="!!BigSix" descr="station.jpg"/>
          <p:cNvPicPr>
            <a:picLocks noChangeAspect="1"/>
          </p:cNvPicPr>
          <p:nvPr/>
        </p:nvPicPr>
        <p:blipFill>
          <a:blip r:embed="rId6">
            <a:alphaModFix amt="40000"/>
          </a:blip>
          <a:srcRect l="25610" r="25610"/>
          <a:stretch>
            <a:fillRect/>
          </a:stretch>
        </p:blipFill>
        <p:spPr>
          <a:xfrm>
            <a:off x="7635240" y="1508760"/>
            <a:ext cx="3108960" cy="4251960"/>
          </a:xfrm>
          <a:custGeom>
            <a:avLst/>
            <a:gdLst/>
            <a:ahLst/>
            <a:cxnLst/>
            <a:rect l="0" t="0" r="w" b="h"/>
            <a:pathLst>
              <a:path w="100000" h="100000" fill="norm" stroke="false" extrusionOk="false">
                <a:moveTo>
                  <a:pt x="100000" y="66828"/>
                </a:moveTo>
                <a:cubicBezTo>
                  <a:pt x="100000" y="77172"/>
                  <a:pt x="95758" y="85287"/>
                  <a:pt x="87273" y="91172"/>
                </a:cubicBezTo>
                <a:cubicBezTo>
                  <a:pt x="78788" y="97057"/>
                  <a:pt x="67071" y="100000"/>
                  <a:pt x="52121" y="100000"/>
                </a:cubicBezTo>
                <a:cubicBezTo>
                  <a:pt x="35354" y="100000"/>
                  <a:pt x="22475" y="95989"/>
                  <a:pt x="13485" y="87966"/>
                </a:cubicBezTo>
                <a:cubicBezTo>
                  <a:pt x="4495" y="79943"/>
                  <a:pt x="0" y="68046"/>
                  <a:pt x="0" y="52276"/>
                </a:cubicBezTo>
                <a:cubicBezTo>
                  <a:pt x="0" y="34943"/>
                  <a:pt x="4562" y="21897"/>
                  <a:pt x="13687" y="13138"/>
                </a:cubicBezTo>
                <a:cubicBezTo>
                  <a:pt x="22811" y="4379"/>
                  <a:pt x="35859" y="0"/>
                  <a:pt x="52828" y="0"/>
                </a:cubicBezTo>
                <a:cubicBezTo>
                  <a:pt x="64882" y="0"/>
                  <a:pt x="74394" y="1816"/>
                  <a:pt x="81364" y="5448"/>
                </a:cubicBezTo>
                <a:cubicBezTo>
                  <a:pt x="88333" y="9080"/>
                  <a:pt x="93266" y="14713"/>
                  <a:pt x="96162" y="22345"/>
                </a:cubicBezTo>
                <a:lnTo>
                  <a:pt x="69394" y="24897"/>
                </a:lnTo>
                <a:cubicBezTo>
                  <a:pt x="66835" y="18506"/>
                  <a:pt x="61111" y="15310"/>
                  <a:pt x="52222" y="15310"/>
                </a:cubicBezTo>
                <a:cubicBezTo>
                  <a:pt x="44613" y="15310"/>
                  <a:pt x="38636" y="17908"/>
                  <a:pt x="34293" y="23103"/>
                </a:cubicBezTo>
                <a:cubicBezTo>
                  <a:pt x="29949" y="28299"/>
                  <a:pt x="27778" y="36184"/>
                  <a:pt x="27778" y="46759"/>
                </a:cubicBezTo>
                <a:cubicBezTo>
                  <a:pt x="30808" y="43310"/>
                  <a:pt x="35017" y="40667"/>
                  <a:pt x="40404" y="38828"/>
                </a:cubicBezTo>
                <a:cubicBezTo>
                  <a:pt x="45791" y="36989"/>
                  <a:pt x="51886" y="36069"/>
                  <a:pt x="58687" y="36069"/>
                </a:cubicBezTo>
                <a:cubicBezTo>
                  <a:pt x="71414" y="36069"/>
                  <a:pt x="81481" y="38828"/>
                  <a:pt x="88889" y="44345"/>
                </a:cubicBezTo>
                <a:cubicBezTo>
                  <a:pt x="96296" y="49862"/>
                  <a:pt x="100000" y="57356"/>
                  <a:pt x="100000" y="66828"/>
                </a:cubicBezTo>
                <a:close/>
                <a:moveTo>
                  <a:pt x="71515" y="67379"/>
                </a:moveTo>
                <a:cubicBezTo>
                  <a:pt x="71515" y="61862"/>
                  <a:pt x="69646" y="57644"/>
                  <a:pt x="65909" y="54724"/>
                </a:cubicBezTo>
                <a:cubicBezTo>
                  <a:pt x="62172" y="51805"/>
                  <a:pt x="57037" y="50345"/>
                  <a:pt x="50505" y="50345"/>
                </a:cubicBezTo>
                <a:cubicBezTo>
                  <a:pt x="44242" y="50345"/>
                  <a:pt x="39226" y="51713"/>
                  <a:pt x="35455" y="54448"/>
                </a:cubicBezTo>
                <a:cubicBezTo>
                  <a:pt x="31684" y="57184"/>
                  <a:pt x="29798" y="60805"/>
                  <a:pt x="29798" y="65310"/>
                </a:cubicBezTo>
                <a:cubicBezTo>
                  <a:pt x="29798" y="70966"/>
                  <a:pt x="31768" y="75644"/>
                  <a:pt x="35707" y="79345"/>
                </a:cubicBezTo>
                <a:cubicBezTo>
                  <a:pt x="39646" y="83046"/>
                  <a:pt x="44815" y="84897"/>
                  <a:pt x="51212" y="84897"/>
                </a:cubicBezTo>
                <a:cubicBezTo>
                  <a:pt x="57609" y="84897"/>
                  <a:pt x="62593" y="83345"/>
                  <a:pt x="66162" y="80241"/>
                </a:cubicBezTo>
                <a:cubicBezTo>
                  <a:pt x="69731" y="77138"/>
                  <a:pt x="71515" y="72851"/>
                  <a:pt x="71515" y="67379"/>
                </a:cubicBezTo>
                <a:close/>
              </a:path>
            </a:pathLst>
          </a:custGeom>
        </p:spPr>
      </p:pic>
      <p:sp>
        <p:nvSpPr>
          <p:cNvPr id="28" name="!!HeroFrame"/>
          <p:cNvSpPr/>
          <p:nvPr/>
        </p:nvSpPr>
        <p:spPr>
          <a:xfrm>
            <a:off x="8764524" y="946404"/>
            <a:ext cx="2331720" cy="4907702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!!HeroScreen" descr="hom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823960" y="1005840"/>
            <a:ext cx="2212848" cy="4788830"/>
          </a:xfrm>
          <a:prstGeom prst="rect">
            <a:avLst/>
          </a:prstGeom>
        </p:spPr>
      </p:pic>
      <p:sp>
        <p:nvSpPr>
          <p:cNvPr id="30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ПРОЕКТ</a:t>
            </a:r>
          </a:p>
        </p:txBody>
      </p:sp>
      <p:sp>
        <p:nvSpPr>
          <p:cNvPr id="31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2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3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Progress"/>
          <p:cNvSpPr/>
          <p:nvPr/>
        </p:nvSpPr>
        <p:spPr>
          <a:xfrm>
            <a:off x="594360" y="6318504"/>
            <a:ext cx="500010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2589580" y="-62179"/>
            <a:ext cx="6982358" cy="6982358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260000">
            <a:off x="3044952" y="393192"/>
            <a:ext cx="6071616" cy="607161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6960000">
            <a:off x="3348532" y="696772"/>
            <a:ext cx="5464454" cy="5464454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2660000">
            <a:off x="3925336" y="1273576"/>
            <a:ext cx="4310847" cy="431084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8890242" y="4492247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530976" y="640274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3696805" y="531480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3221900" y="231637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5581166" y="40587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8415337" y="149381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16002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300" b="1">
                <a:solidFill>
                  <a:srgbClr val="F2F4F8"/>
                </a:solidFill>
                <a:latin typeface="Arial"/>
              </a:defRPr>
            </a:pPr>
            <a:r>
              <a:t>Рабочие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300" b="1">
                <a:solidFill>
                  <a:srgbClr val="F2F4F8"/>
                </a:solidFill>
                <a:latin typeface="Arial"/>
              </a:defRPr>
            </a:pPr>
            <a:r>
              <a:t>инструменты.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31520" y="420624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700" b="0">
                <a:solidFill>
                  <a:srgbClr val="A7B2C1"/>
                </a:solidFill>
                <a:latin typeface="Arial"/>
              </a:defRPr>
            </a:pPr>
            <a:r>
              <a:t>В одном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700" b="0">
                <a:solidFill>
                  <a:srgbClr val="A7B2C1"/>
                </a:solidFill>
                <a:latin typeface="Arial"/>
              </a:defRPr>
            </a:pPr>
            <a:r>
              <a:t>приложении.</a:t>
            </a:r>
          </a:p>
        </p:txBody>
      </p:sp>
      <p:sp>
        <p:nvSpPr>
          <p:cNvPr id="26" name="!!HeroFrame"/>
          <p:cNvSpPr/>
          <p:nvPr/>
        </p:nvSpPr>
        <p:spPr>
          <a:xfrm>
            <a:off x="4786883" y="717803"/>
            <a:ext cx="2606040" cy="5501358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!!HeroScreen" descr="home.png"/>
          <p:cNvPicPr>
            <a:picLocks noChangeAspect="1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>
            <a:off x="4846320" y="777240"/>
            <a:ext cx="2487168" cy="5382486"/>
          </a:xfrm>
          <a:prstGeom prst="rect">
            <a:avLst/>
          </a:prstGeom>
        </p:spPr>
      </p:pic>
      <p:sp>
        <p:nvSpPr>
          <p:cNvPr id="28" name="Text_27"/>
          <p:cNvSpPr txBox="1"/>
          <p:nvPr/>
        </p:nvSpPr>
        <p:spPr>
          <a:xfrm>
            <a:off x="8229600" y="19202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100" b="1">
                <a:solidFill>
                  <a:srgbClr val="F6C649"/>
                </a:solidFill>
                <a:latin typeface="Arial"/>
              </a:defRPr>
            </a:pPr>
            <a:r>
              <a:t>Расчёты.</a:t>
            </a:r>
          </a:p>
        </p:txBody>
      </p:sp>
      <p:sp>
        <p:nvSpPr>
          <p:cNvPr id="29" name="Text_28"/>
          <p:cNvSpPr txBox="1"/>
          <p:nvPr/>
        </p:nvSpPr>
        <p:spPr>
          <a:xfrm>
            <a:off x="8229600" y="292608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100" b="1">
                <a:solidFill>
                  <a:srgbClr val="F2F4F8"/>
                </a:solidFill>
                <a:latin typeface="Arial"/>
              </a:defRPr>
            </a:pPr>
            <a:r>
              <a:t>Инструкции.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8229600" y="39319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100" b="1">
                <a:solidFill>
                  <a:srgbClr val="F2F4F8"/>
                </a:solidFill>
                <a:latin typeface="Arial"/>
              </a:defRPr>
            </a:pPr>
            <a:r>
              <a:t>История.</a:t>
            </a:r>
          </a:p>
        </p:txBody>
      </p:sp>
      <p:sp>
        <p:nvSpPr>
          <p:cNvPr id="31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ПРОДУКТ</a:t>
            </a:r>
          </a:p>
        </p:txBody>
      </p:sp>
      <p:sp>
        <p:nvSpPr>
          <p:cNvPr id="32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3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4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Progress"/>
          <p:cNvSpPr/>
          <p:nvPr/>
        </p:nvSpPr>
        <p:spPr>
          <a:xfrm>
            <a:off x="594360" y="6318504"/>
            <a:ext cx="1000021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132588" y="498347"/>
            <a:ext cx="5678424" cy="567842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2520000">
            <a:off x="502919" y="868679"/>
            <a:ext cx="4937760" cy="493776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8220000">
            <a:off x="749807" y="1115567"/>
            <a:ext cx="4443984" cy="4443984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3920000">
            <a:off x="1218895" y="1584655"/>
            <a:ext cx="3505809" cy="3505809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4781846" y="4964874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2433802" y="572780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599066" y="407579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112375" y="166086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3460420" y="89794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5295155" y="254994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1005840" y="210312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200" b="1">
                <a:solidFill>
                  <a:srgbClr val="F6C64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5" name="GoalTitle"/>
          <p:cNvSpPr txBox="1"/>
          <p:nvPr/>
        </p:nvSpPr>
        <p:spPr>
          <a:xfrm>
            <a:off x="6035040" y="1234440"/>
            <a:ext cx="54864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800" b="1">
                <a:solidFill>
                  <a:srgbClr val="F2F4F8"/>
                </a:solidFill>
                <a:latin typeface="Arial"/>
              </a:defRPr>
            </a:pPr>
            <a:r>
              <a:t>Нужная информация.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800" b="1">
                <a:solidFill>
                  <a:srgbClr val="F2F4F8"/>
                </a:solidFill>
                <a:latin typeface="Arial"/>
              </a:defRPr>
            </a:pPr>
            <a:r>
              <a:t>В момент решения.</a:t>
            </a:r>
          </a:p>
        </p:txBody>
      </p:sp>
      <p:sp>
        <p:nvSpPr>
          <p:cNvPr id="26" name="!!Subline"/>
          <p:cNvSpPr txBox="1"/>
          <p:nvPr/>
        </p:nvSpPr>
        <p:spPr>
          <a:xfrm>
            <a:off x="6080760" y="361188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Упростить доступ оператора к проверенным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расчётам и рабочим материалам.</a:t>
            </a:r>
          </a:p>
        </p:txBody>
      </p:sp>
      <p:sp>
        <p:nvSpPr>
          <p:cNvPr id="27" name="Text_26"/>
          <p:cNvSpPr txBox="1"/>
          <p:nvPr/>
        </p:nvSpPr>
        <p:spPr>
          <a:xfrm>
            <a:off x="6080760" y="53035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  <a:r>
              <a:rPr spc="90"/>
              <a:t>ЦЕЛЬ ПРОЕКТА</a:t>
            </a:r>
          </a:p>
        </p:txBody>
      </p:sp>
      <p:sp>
        <p:nvSpPr>
          <p:cNvPr id="28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ЦЕЛЬ</a:t>
            </a:r>
          </a:p>
        </p:txBody>
      </p:sp>
      <p:sp>
        <p:nvSpPr>
          <p:cNvPr id="29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0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1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Progress"/>
          <p:cNvSpPr/>
          <p:nvPr/>
        </p:nvSpPr>
        <p:spPr>
          <a:xfrm>
            <a:off x="594360" y="6318504"/>
            <a:ext cx="1500031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7795260" y="-1074420"/>
            <a:ext cx="5257800" cy="5257800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3780000">
            <a:off x="8138160" y="-731520"/>
            <a:ext cx="4572000" cy="457200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9480000">
            <a:off x="8366760" y="-502920"/>
            <a:ext cx="4114800" cy="411480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5180000">
            <a:off x="8801100" y="-68579"/>
            <a:ext cx="3246120" cy="324612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1437293" y="3566632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9154426" y="344699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8116604" y="141015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9361648" y="-50704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644516" y="-38740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2682338" y="164943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7772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500" b="1">
                <a:solidFill>
                  <a:srgbClr val="F2F4F8"/>
                </a:solidFill>
                <a:latin typeface="Arial"/>
              </a:defRPr>
            </a:pPr>
            <a:r>
              <a:t>Три задачи.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500" b="1">
                <a:solidFill>
                  <a:srgbClr val="F2F4F8"/>
                </a:solidFill>
                <a:latin typeface="Arial"/>
              </a:defRPr>
            </a:pPr>
            <a:r>
              <a:t>Один рабочий инструмент.</a:t>
            </a:r>
          </a:p>
        </p:txBody>
      </p:sp>
      <p:sp>
        <p:nvSpPr>
          <p:cNvPr id="25" name="!!TaskCard0"/>
          <p:cNvSpPr/>
          <p:nvPr/>
        </p:nvSpPr>
        <p:spPr>
          <a:xfrm>
            <a:off x="731520" y="306324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_25"/>
          <p:cNvSpPr txBox="1"/>
          <p:nvPr/>
        </p:nvSpPr>
        <p:spPr>
          <a:xfrm>
            <a:off x="960120" y="3291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000" b="1">
                <a:solidFill>
                  <a:srgbClr val="F6C64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7" name="Text_26"/>
          <p:cNvSpPr txBox="1"/>
          <p:nvPr/>
        </p:nvSpPr>
        <p:spPr>
          <a:xfrm>
            <a:off x="960120" y="4023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Объединить</a:t>
            </a:r>
          </a:p>
        </p:txBody>
      </p:sp>
      <p:sp>
        <p:nvSpPr>
          <p:cNvPr id="28" name="Text_27"/>
          <p:cNvSpPr txBox="1"/>
          <p:nvPr/>
        </p:nvSpPr>
        <p:spPr>
          <a:xfrm>
            <a:off x="960120" y="48006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Расчёты и справочные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материалы.</a:t>
            </a:r>
          </a:p>
        </p:txBody>
      </p:sp>
      <p:sp>
        <p:nvSpPr>
          <p:cNvPr id="29" name="!!TaskCard1"/>
          <p:cNvSpPr/>
          <p:nvPr/>
        </p:nvSpPr>
        <p:spPr>
          <a:xfrm>
            <a:off x="4526280" y="306324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_29"/>
          <p:cNvSpPr txBox="1"/>
          <p:nvPr/>
        </p:nvSpPr>
        <p:spPr>
          <a:xfrm>
            <a:off x="4754880" y="3291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000" b="1">
                <a:solidFill>
                  <a:srgbClr val="F6C64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1" name="Text_30"/>
          <p:cNvSpPr txBox="1"/>
          <p:nvPr/>
        </p:nvSpPr>
        <p:spPr>
          <a:xfrm>
            <a:off x="4754880" y="4023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Упростить</a:t>
            </a:r>
          </a:p>
        </p:txBody>
      </p:sp>
      <p:sp>
        <p:nvSpPr>
          <p:cNvPr id="32" name="Text_31"/>
          <p:cNvSpPr txBox="1"/>
          <p:nvPr/>
        </p:nvSpPr>
        <p:spPr>
          <a:xfrm>
            <a:off x="4754880" y="48006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Замеры и сохранение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результатов.</a:t>
            </a:r>
          </a:p>
        </p:txBody>
      </p:sp>
      <p:sp>
        <p:nvSpPr>
          <p:cNvPr id="33" name="!!TaskCard2"/>
          <p:cNvSpPr/>
          <p:nvPr/>
        </p:nvSpPr>
        <p:spPr>
          <a:xfrm>
            <a:off x="8321040" y="306324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_33"/>
          <p:cNvSpPr txBox="1"/>
          <p:nvPr/>
        </p:nvSpPr>
        <p:spPr>
          <a:xfrm>
            <a:off x="8549640" y="3291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000" b="1">
                <a:solidFill>
                  <a:srgbClr val="F6C64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5" name="Text_34"/>
          <p:cNvSpPr txBox="1"/>
          <p:nvPr/>
        </p:nvSpPr>
        <p:spPr>
          <a:xfrm>
            <a:off x="8549640" y="4023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Подготовить</a:t>
            </a:r>
          </a:p>
        </p:txBody>
      </p:sp>
      <p:sp>
        <p:nvSpPr>
          <p:cNvPr id="36" name="Text_35"/>
          <p:cNvSpPr txBox="1"/>
          <p:nvPr/>
        </p:nvSpPr>
        <p:spPr>
          <a:xfrm>
            <a:off x="8549640" y="480060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Доступ на телефоне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и материалы офлайн.</a:t>
            </a:r>
          </a:p>
        </p:txBody>
      </p:sp>
      <p:sp>
        <p:nvSpPr>
          <p:cNvPr id="3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ЗАДАЧИ</a:t>
            </a:r>
          </a:p>
        </p:txBody>
      </p:sp>
      <p:sp>
        <p:nvSpPr>
          <p:cNvPr id="3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Progress"/>
          <p:cNvSpPr/>
          <p:nvPr/>
        </p:nvSpPr>
        <p:spPr>
          <a:xfrm>
            <a:off x="594360" y="6318504"/>
            <a:ext cx="2000042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504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074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644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9508963" y="6195890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902683" y="503550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6604471" y="219820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912539" y="52129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518818" y="168168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1817030" y="451898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>
            <a:hlinkClick action="ppaction://hlinksldjump" r:id="rId7"/>
          </p:cNvPr>
          <p:cNvSpPr/>
          <p:nvPr/>
        </p:nvSpPr>
        <p:spPr>
          <a:xfrm>
            <a:off x="685800" y="1965960"/>
            <a:ext cx="2560320" cy="3950208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b="15000"/>
          <a:stretch>
            <a:fillRect/>
          </a:stretch>
        </p:blipFill>
        <p:spPr>
          <a:xfrm>
            <a:off x="1216152" y="3136391"/>
            <a:ext cx="1499616" cy="2761488"/>
          </a:xfrm>
          <a:prstGeom prst="rect">
            <a:avLst/>
          </a:prstGeom>
        </p:spPr>
      </p:pic>
      <p:sp>
        <p:nvSpPr>
          <p:cNvPr id="14" name="!!PanelTitle0">
            <a:hlinkClick action="ppaction://hlinksldjump" r:id="rId7"/>
          </p:cNvPr>
          <p:cNvSpPr txBox="1"/>
          <p:nvPr/>
        </p:nvSpPr>
        <p:spPr>
          <a:xfrm>
            <a:off x="868680" y="21305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600" b="1">
                <a:solidFill>
                  <a:srgbClr val="F2F4F8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5" name="!!PanelCaption0">
            <a:hlinkClick action="ppaction://hlinksldjump" r:id="rId7"/>
          </p:cNvPr>
          <p:cNvSpPr txBox="1"/>
          <p:nvPr/>
        </p:nvSpPr>
        <p:spPr>
          <a:xfrm>
            <a:off x="868680" y="2715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 b="0">
                <a:solidFill>
                  <a:srgbClr val="A7B2C1"/>
                </a:solidFill>
                <a:latin typeface="Arial"/>
              </a:defRPr>
            </a:pPr>
            <a:r>
              <a:t>Время → результат</a:t>
            </a:r>
          </a:p>
        </p:txBody>
      </p:sp>
      <p:sp>
        <p:nvSpPr>
          <p:cNvPr id="16" name="!!Panel1">
            <a:hlinkClick action="ppaction://hlinksldjump" r:id="rId8"/>
          </p:cNvPr>
          <p:cNvSpPr/>
          <p:nvPr/>
        </p:nvSpPr>
        <p:spPr>
          <a:xfrm>
            <a:off x="3429000" y="1965960"/>
            <a:ext cx="2560320" cy="3950208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!!Panel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b="15000"/>
          <a:stretch>
            <a:fillRect/>
          </a:stretch>
        </p:blipFill>
        <p:spPr>
          <a:xfrm>
            <a:off x="3959352" y="3136391"/>
            <a:ext cx="1499616" cy="2761488"/>
          </a:xfrm>
          <a:prstGeom prst="rect">
            <a:avLst/>
          </a:prstGeom>
        </p:spPr>
      </p:pic>
      <p:sp>
        <p:nvSpPr>
          <p:cNvPr id="18" name="!!PanelTitle1">
            <a:hlinkClick action="ppaction://hlinksldjump" r:id="rId8"/>
          </p:cNvPr>
          <p:cNvSpPr txBox="1"/>
          <p:nvPr/>
        </p:nvSpPr>
        <p:spPr>
          <a:xfrm>
            <a:off x="3611880" y="21305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600" b="1">
                <a:solidFill>
                  <a:srgbClr val="F2F4F8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9" name="!!PanelCaption1">
            <a:hlinkClick action="ppaction://hlinksldjump" r:id="rId8"/>
          </p:cNvPr>
          <p:cNvSpPr txBox="1"/>
          <p:nvPr/>
        </p:nvSpPr>
        <p:spPr>
          <a:xfrm>
            <a:off x="3611880" y="2715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 b="0">
                <a:solidFill>
                  <a:srgbClr val="A7B2C1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20" name="!!Panel2">
            <a:hlinkClick action="ppaction://hlinksldjump" r:id="rId9"/>
          </p:cNvPr>
          <p:cNvSpPr/>
          <p:nvPr/>
        </p:nvSpPr>
        <p:spPr>
          <a:xfrm>
            <a:off x="6172200" y="1965960"/>
            <a:ext cx="2560320" cy="3950208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!!Panel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b="15000"/>
          <a:stretch>
            <a:fillRect/>
          </a:stretch>
        </p:blipFill>
        <p:spPr>
          <a:xfrm>
            <a:off x="6702552" y="3136391"/>
            <a:ext cx="1499616" cy="2761488"/>
          </a:xfrm>
          <a:prstGeom prst="rect">
            <a:avLst/>
          </a:prstGeom>
        </p:spPr>
      </p:pic>
      <p:sp>
        <p:nvSpPr>
          <p:cNvPr id="22" name="!!PanelTitle2">
            <a:hlinkClick action="ppaction://hlinksldjump" r:id="rId9"/>
          </p:cNvPr>
          <p:cNvSpPr txBox="1"/>
          <p:nvPr/>
        </p:nvSpPr>
        <p:spPr>
          <a:xfrm>
            <a:off x="6355080" y="21305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600" b="1">
                <a:solidFill>
                  <a:srgbClr val="F2F4F8"/>
                </a:solidFill>
                <a:latin typeface="Arial"/>
              </a:defRPr>
            </a:pPr>
            <a:r>
              <a:t>Станции</a:t>
            </a:r>
          </a:p>
        </p:txBody>
      </p:sp>
      <p:sp>
        <p:nvSpPr>
          <p:cNvPr id="23" name="!!PanelCaption2">
            <a:hlinkClick action="ppaction://hlinksldjump" r:id="rId9"/>
          </p:cNvPr>
          <p:cNvSpPr txBox="1"/>
          <p:nvPr/>
        </p:nvSpPr>
        <p:spPr>
          <a:xfrm>
            <a:off x="6355080" y="2715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 b="0">
                <a:solidFill>
                  <a:srgbClr val="A7B2C1"/>
                </a:solidFill>
                <a:latin typeface="Arial"/>
              </a:defRPr>
            </a:pPr>
            <a:r>
              <a:t>Разгон и РИЧ</a:t>
            </a:r>
          </a:p>
        </p:txBody>
      </p:sp>
      <p:sp>
        <p:nvSpPr>
          <p:cNvPr id="24" name="!!Panel3">
            <a:hlinkClick action="ppaction://hlinksldjump" r:id="rId10"/>
          </p:cNvPr>
          <p:cNvSpPr/>
          <p:nvPr/>
        </p:nvSpPr>
        <p:spPr>
          <a:xfrm>
            <a:off x="8915400" y="1965960"/>
            <a:ext cx="2560320" cy="3950208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!!Panel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b="15000"/>
          <a:stretch>
            <a:fillRect/>
          </a:stretch>
        </p:blipFill>
        <p:spPr>
          <a:xfrm>
            <a:off x="9445752" y="3136391"/>
            <a:ext cx="1499616" cy="2761488"/>
          </a:xfrm>
          <a:prstGeom prst="rect">
            <a:avLst/>
          </a:prstGeom>
        </p:spPr>
      </p:pic>
      <p:sp>
        <p:nvSpPr>
          <p:cNvPr id="26" name="!!PanelTitle3">
            <a:hlinkClick action="ppaction://hlinksldjump" r:id="rId10"/>
          </p:cNvPr>
          <p:cNvSpPr txBox="1"/>
          <p:nvPr/>
        </p:nvSpPr>
        <p:spPr>
          <a:xfrm>
            <a:off x="9098280" y="21305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600" b="1">
                <a:solidFill>
                  <a:srgbClr val="F2F4F8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27" name="!!PanelCaption3">
            <a:hlinkClick action="ppaction://hlinksldjump" r:id="rId10"/>
          </p:cNvPr>
          <p:cNvSpPr txBox="1"/>
          <p:nvPr/>
        </p:nvSpPr>
        <p:spPr>
          <a:xfrm>
            <a:off x="9098280" y="27157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 b="0">
                <a:solidFill>
                  <a:srgbClr val="A7B2C1"/>
                </a:solidFill>
                <a:latin typeface="Arial"/>
              </a:defRPr>
            </a:pPr>
            <a:r>
              <a:t>Поиск и закладки</a:t>
            </a:r>
          </a:p>
        </p:txBody>
      </p:sp>
      <p:sp>
        <p:nvSpPr>
          <p:cNvPr id="28" name="!!Headline"/>
          <p:cNvSpPr txBox="1"/>
          <p:nvPr/>
        </p:nvSpPr>
        <p:spPr>
          <a:xfrm>
            <a:off x="685800" y="868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000" b="1">
                <a:solidFill>
                  <a:srgbClr val="F2F4F8"/>
                </a:solidFill>
                <a:latin typeface="Arial"/>
              </a:defRPr>
            </a:pPr>
            <a:r>
              <a:t>Четыре задачи. Один инструмент.</a:t>
            </a:r>
          </a:p>
        </p:txBody>
      </p:sp>
      <p:sp>
        <p:nvSpPr>
          <p:cNvPr id="29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ВОЗМОЖНОСТИ</a:t>
            </a:r>
          </a:p>
        </p:txBody>
      </p:sp>
      <p:sp>
        <p:nvSpPr>
          <p:cNvPr id="30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1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2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Progress"/>
          <p:cNvSpPr/>
          <p:nvPr/>
        </p:nvSpPr>
        <p:spPr>
          <a:xfrm>
            <a:off x="594360" y="6318504"/>
            <a:ext cx="2500052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erviewHint"/>
          <p:cNvSpPr txBox="1"/>
          <p:nvPr/>
        </p:nvSpPr>
        <p:spPr>
          <a:xfrm>
            <a:off x="731520" y="162763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0">
                <a:solidFill>
                  <a:srgbClr val="A7B2C1"/>
                </a:solidFill>
                <a:latin typeface="Arial"/>
              </a:defRPr>
            </a:pPr>
            <a:r>
              <a:t>Выберите раздел или продолжайте показ по порядку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630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200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770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8472359" y="6114308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455034" y="409698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7193426" y="134126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9949143" y="60287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966468" y="262019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1228075" y="537591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7726679" y="932688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rcRect b="4800"/>
          <a:stretch>
            <a:fillRect/>
          </a:stretch>
        </p:blipFill>
        <p:spPr>
          <a:xfrm>
            <a:off x="8394192" y="1371600"/>
            <a:ext cx="2286000" cy="4709160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7927848" y="1051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  <a:r>
              <a:t>Замер</a:t>
            </a: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6583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900" b="1">
                <a:solidFill>
                  <a:srgbClr val="F2F4F8"/>
                </a:solidFill>
                <a:latin typeface="Arial"/>
              </a:defRPr>
            </a:pPr>
            <a:r>
              <a:t>Старт. Объём.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900" b="1">
                <a:solidFill>
                  <a:srgbClr val="F2F4F8"/>
                </a:solidFill>
                <a:latin typeface="Arial"/>
              </a:defRPr>
            </a:pPr>
            <a:r>
              <a:t>Результат.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1089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Секундомер и замер по интервалу.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История на этом устройстве.</a:t>
            </a:r>
          </a:p>
        </p:txBody>
      </p:sp>
      <p:sp>
        <p:nvSpPr>
          <p:cNvPr id="26" name="Point0"/>
          <p:cNvSpPr/>
          <p:nvPr/>
        </p:nvSpPr>
        <p:spPr>
          <a:xfrm>
            <a:off x="731520" y="45720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intText0"/>
          <p:cNvSpPr txBox="1"/>
          <p:nvPr/>
        </p:nvSpPr>
        <p:spPr>
          <a:xfrm>
            <a:off x="914400" y="455828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Секунды или минуты</a:t>
            </a:r>
          </a:p>
        </p:txBody>
      </p:sp>
      <p:sp>
        <p:nvSpPr>
          <p:cNvPr id="28" name="Point1"/>
          <p:cNvSpPr/>
          <p:nvPr/>
        </p:nvSpPr>
        <p:spPr>
          <a:xfrm>
            <a:off x="731520" y="5010912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intText1"/>
          <p:cNvSpPr txBox="1"/>
          <p:nvPr/>
        </p:nvSpPr>
        <p:spPr>
          <a:xfrm>
            <a:off x="914400" y="499719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30" name="Point2"/>
          <p:cNvSpPr/>
          <p:nvPr/>
        </p:nvSpPr>
        <p:spPr>
          <a:xfrm>
            <a:off x="731520" y="5449824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intText2"/>
          <p:cNvSpPr txBox="1"/>
          <p:nvPr/>
        </p:nvSpPr>
        <p:spPr>
          <a:xfrm>
            <a:off x="914400" y="543610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Возврат к текущему замеру</a:t>
            </a:r>
          </a:p>
        </p:txBody>
      </p:sp>
      <p:sp>
        <p:nvSpPr>
          <p:cNvPr id="32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РУЧНОЙ ЗАМЕР</a:t>
            </a:r>
          </a:p>
        </p:txBody>
      </p:sp>
      <p:sp>
        <p:nvSpPr>
          <p:cNvPr id="33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4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5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Progress"/>
          <p:cNvSpPr/>
          <p:nvPr/>
        </p:nvSpPr>
        <p:spPr>
          <a:xfrm>
            <a:off x="594360" y="6318504"/>
            <a:ext cx="3000063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756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326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896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7533842" y="5666658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373451" y="306037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8050360" y="75231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0887660" y="105052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2048050" y="365680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0371141" y="596487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6446520" y="1234440"/>
            <a:ext cx="489204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2"/>
          <a:srcRect t="23000" b="36000"/>
          <a:stretch>
            <a:fillRect/>
          </a:stretch>
        </p:blipFill>
        <p:spPr>
          <a:xfrm>
            <a:off x="6720840" y="1600200"/>
            <a:ext cx="4343400" cy="3840480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6647688" y="1353312"/>
            <a:ext cx="4526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777240" y="1371600"/>
            <a:ext cx="5486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700" b="1">
                <a:solidFill>
                  <a:srgbClr val="F6C649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914400" y="35204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100" b="1">
                <a:solidFill>
                  <a:srgbClr val="F2F4F8"/>
                </a:solidFill>
                <a:latin typeface="Arial"/>
              </a:defRPr>
            </a:pPr>
            <a:r>
              <a:t>м³/сут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960120" y="46634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100 литров / 60 секунд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Математический пример</a:t>
            </a:r>
          </a:p>
        </p:txBody>
      </p:sp>
      <p:sp>
        <p:nvSpPr>
          <p:cNvPr id="2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РУЧНОЙ ЗАМЕР</a:t>
            </a:r>
          </a:p>
        </p:txBody>
      </p:sp>
      <p:sp>
        <p:nvSpPr>
          <p:cNvPr id="2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rogress"/>
          <p:cNvSpPr/>
          <p:nvPr/>
        </p:nvSpPr>
        <p:spPr>
          <a:xfrm>
            <a:off x="594360" y="6318504"/>
            <a:ext cx="3500073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6277356" y="379476"/>
            <a:ext cx="6099047" cy="6099047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8820000">
            <a:off x="6675119" y="777240"/>
            <a:ext cx="5303520" cy="530352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4520000">
            <a:off x="6940296" y="1042416"/>
            <a:ext cx="4773168" cy="4773168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20220000">
            <a:off x="7444130" y="1546250"/>
            <a:ext cx="3765499" cy="3765499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7078238" y="4848563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939455" y="220043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9163408" y="75618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1526144" y="196005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664926" y="460818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9440973" y="605243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7315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500" b="1">
                <a:solidFill>
                  <a:srgbClr val="F2F4F8"/>
                </a:solidFill>
                <a:latin typeface="Arial"/>
              </a:defRPr>
            </a:pPr>
            <a:r>
              <a:t>Через полночь.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500" b="1">
                <a:solidFill>
                  <a:srgbClr val="F2F4F8"/>
                </a:solidFill>
                <a:latin typeface="Arial"/>
              </a:defRPr>
            </a:pPr>
            <a:r>
              <a:t>Без ручного пересчёта.</a:t>
            </a:r>
          </a:p>
        </p:txBody>
      </p:sp>
      <p:sp>
        <p:nvSpPr>
          <p:cNvPr id="25" name="!!TimeWindow"/>
          <p:cNvSpPr txBox="1"/>
          <p:nvPr/>
        </p:nvSpPr>
        <p:spPr>
          <a:xfrm>
            <a:off x="777240" y="32004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5700" b="1">
                <a:solidFill>
                  <a:srgbClr val="F6C649"/>
                </a:solidFill>
                <a:latin typeface="Arial"/>
              </a:defRPr>
            </a:pPr>
            <a:r>
              <a:t>23:50 → 00:10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822960" y="470916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500" b="0">
                <a:solidFill>
                  <a:srgbClr val="A7B2C1"/>
                </a:solidFill>
                <a:latin typeface="Arial"/>
              </a:defRPr>
            </a:pPr>
            <a:r>
              <a:t>20 минут · следующая дата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500" b="0">
                <a:solidFill>
                  <a:srgbClr val="A7B2C1"/>
                </a:solidFill>
                <a:latin typeface="Arial"/>
              </a:defRPr>
            </a:pPr>
            <a:r>
              <a:t>100 л → 7,2 м³/сут</a:t>
            </a:r>
          </a:p>
        </p:txBody>
      </p:sp>
      <p:sp>
        <p:nvSpPr>
          <p:cNvPr id="27" name="ClockTick0"/>
          <p:cNvSpPr/>
          <p:nvPr/>
        </p:nvSpPr>
        <p:spPr>
          <a:xfrm>
            <a:off x="9578340" y="2400300"/>
            <a:ext cx="45720" cy="45720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lockTick1"/>
          <p:cNvSpPr/>
          <p:nvPr/>
        </p:nvSpPr>
        <p:spPr>
          <a:xfrm>
            <a:off x="10309860" y="2596310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lockTick2"/>
          <p:cNvSpPr/>
          <p:nvPr/>
        </p:nvSpPr>
        <p:spPr>
          <a:xfrm>
            <a:off x="10845369" y="3131820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lockTick3"/>
          <p:cNvSpPr/>
          <p:nvPr/>
        </p:nvSpPr>
        <p:spPr>
          <a:xfrm>
            <a:off x="11041380" y="386333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lockTick4"/>
          <p:cNvSpPr/>
          <p:nvPr/>
        </p:nvSpPr>
        <p:spPr>
          <a:xfrm>
            <a:off x="10845369" y="459485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lockTick5"/>
          <p:cNvSpPr/>
          <p:nvPr/>
        </p:nvSpPr>
        <p:spPr>
          <a:xfrm>
            <a:off x="10309860" y="513036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lockTick6"/>
          <p:cNvSpPr/>
          <p:nvPr/>
        </p:nvSpPr>
        <p:spPr>
          <a:xfrm>
            <a:off x="9578340" y="532637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lockTick7"/>
          <p:cNvSpPr/>
          <p:nvPr/>
        </p:nvSpPr>
        <p:spPr>
          <a:xfrm>
            <a:off x="8846820" y="513036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lockTick8"/>
          <p:cNvSpPr/>
          <p:nvPr/>
        </p:nvSpPr>
        <p:spPr>
          <a:xfrm>
            <a:off x="8311310" y="459485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lockTick9"/>
          <p:cNvSpPr/>
          <p:nvPr/>
        </p:nvSpPr>
        <p:spPr>
          <a:xfrm>
            <a:off x="8115300" y="3863339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lockTick10"/>
          <p:cNvSpPr/>
          <p:nvPr/>
        </p:nvSpPr>
        <p:spPr>
          <a:xfrm>
            <a:off x="8311310" y="3131820"/>
            <a:ext cx="45720" cy="45720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lockTick11"/>
          <p:cNvSpPr/>
          <p:nvPr/>
        </p:nvSpPr>
        <p:spPr>
          <a:xfrm>
            <a:off x="8846819" y="2596310"/>
            <a:ext cx="45720" cy="45720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lockHand"/>
          <p:cNvSpPr/>
          <p:nvPr/>
        </p:nvSpPr>
        <p:spPr>
          <a:xfrm>
            <a:off x="9582912" y="2487168"/>
            <a:ext cx="36576" cy="141732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lockMinute"/>
          <p:cNvSpPr/>
          <p:nvPr/>
        </p:nvSpPr>
        <p:spPr>
          <a:xfrm rot="900000">
            <a:off x="9601200" y="3867912"/>
            <a:ext cx="914400" cy="36576"/>
          </a:xfrm>
          <a:prstGeom prst="rect">
            <a:avLst/>
          </a:prstGeom>
          <a:solidFill>
            <a:srgbClr val="F2F4F8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ВРЕМЕННОЙ ИНТЕРВАЛ</a:t>
            </a:r>
          </a:p>
        </p:txBody>
      </p:sp>
      <p:sp>
        <p:nvSpPr>
          <p:cNvPr id="42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3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4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Progress"/>
          <p:cNvSpPr/>
          <p:nvPr/>
        </p:nvSpPr>
        <p:spPr>
          <a:xfrm>
            <a:off x="594360" y="6318504"/>
            <a:ext cx="4000084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008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578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2148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6420166" y="3951748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7301769" y="123845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0092354" y="64529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2001335" y="276543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119732" y="547872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8329147" y="607188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7726679" y="932688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 b="4800"/>
          <a:stretch>
            <a:fillRect/>
          </a:stretch>
        </p:blipFill>
        <p:spPr>
          <a:xfrm>
            <a:off x="8394192" y="1371600"/>
            <a:ext cx="2286000" cy="4709160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7927848" y="1051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67665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700" b="1">
                <a:solidFill>
                  <a:srgbClr val="F2F4F8"/>
                </a:solidFill>
                <a:latin typeface="Arial"/>
              </a:defRPr>
            </a:pPr>
            <a:r>
              <a:t>За числом —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700" b="1">
                <a:solidFill>
                  <a:srgbClr val="F2F4F8"/>
                </a:solidFill>
                <a:latin typeface="Arial"/>
              </a:defRPr>
            </a:pPr>
            <a:r>
              <a:t>рабочая задача.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01752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Исходные параметры → расчёт.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Применимость оценивает специалист.</a:t>
            </a:r>
          </a:p>
        </p:txBody>
      </p:sp>
      <p:sp>
        <p:nvSpPr>
          <p:cNvPr id="26" name="Point0"/>
          <p:cNvSpPr/>
          <p:nvPr/>
        </p:nvSpPr>
        <p:spPr>
          <a:xfrm>
            <a:off x="731520" y="45720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intText0"/>
          <p:cNvSpPr txBox="1"/>
          <p:nvPr/>
        </p:nvSpPr>
        <p:spPr>
          <a:xfrm>
            <a:off x="914400" y="4558284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Параметры двигателя</a:t>
            </a:r>
          </a:p>
        </p:txBody>
      </p:sp>
      <p:sp>
        <p:nvSpPr>
          <p:cNvPr id="28" name="Point1"/>
          <p:cNvSpPr/>
          <p:nvPr/>
        </p:nvSpPr>
        <p:spPr>
          <a:xfrm>
            <a:off x="731520" y="5010912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intText1"/>
          <p:cNvSpPr txBox="1"/>
          <p:nvPr/>
        </p:nvSpPr>
        <p:spPr>
          <a:xfrm>
            <a:off x="914400" y="4997196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Токи и необходимые исходные данные</a:t>
            </a:r>
          </a:p>
        </p:txBody>
      </p:sp>
      <p:sp>
        <p:nvSpPr>
          <p:cNvPr id="30" name="Point2"/>
          <p:cNvSpPr/>
          <p:nvPr/>
        </p:nvSpPr>
        <p:spPr>
          <a:xfrm>
            <a:off x="731520" y="5449824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intText2"/>
          <p:cNvSpPr txBox="1"/>
          <p:nvPr/>
        </p:nvSpPr>
        <p:spPr>
          <a:xfrm>
            <a:off x="914400" y="543610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Проверка результата специалистом</a:t>
            </a:r>
          </a:p>
        </p:txBody>
      </p:sp>
      <p:sp>
        <p:nvSpPr>
          <p:cNvPr id="32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ОХЛАЖДЕНИЕ ПЭД</a:t>
            </a:r>
          </a:p>
        </p:txBody>
      </p:sp>
      <p:sp>
        <p:nvSpPr>
          <p:cNvPr id="33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4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5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Progress"/>
          <p:cNvSpPr/>
          <p:nvPr/>
        </p:nvSpPr>
        <p:spPr>
          <a:xfrm>
            <a:off x="594360" y="6318504"/>
            <a:ext cx="4500094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134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704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14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6392947" y="2912294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8188353" y="69515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1006156" y="114144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2028554" y="380488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0233149" y="602202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7415345" y="557573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69494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400" b="1">
                <a:solidFill>
                  <a:srgbClr val="F2F4F8"/>
                </a:solidFill>
                <a:latin typeface="Arial"/>
              </a:defRPr>
            </a:pPr>
            <a:r>
              <a:t>Учитывать условия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400" b="1">
                <a:solidFill>
                  <a:srgbClr val="F2F4F8"/>
                </a:solidFill>
                <a:latin typeface="Arial"/>
              </a:defRPr>
            </a:pPr>
            <a:r>
              <a:t>работы двигателя.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01752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Расчёт по исходным данным.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Без вымышленных настроек оборудования.</a:t>
            </a:r>
          </a:p>
        </p:txBody>
      </p:sp>
      <p:sp>
        <p:nvSpPr>
          <p:cNvPr id="26" name="WellWall9.3"/>
          <p:cNvSpPr/>
          <p:nvPr/>
        </p:nvSpPr>
        <p:spPr>
          <a:xfrm>
            <a:off x="8503920" y="1188720"/>
            <a:ext cx="32004" cy="4480560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ellWall9.65"/>
          <p:cNvSpPr/>
          <p:nvPr/>
        </p:nvSpPr>
        <p:spPr>
          <a:xfrm>
            <a:off x="8823960" y="1188720"/>
            <a:ext cx="32004" cy="4480560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ellWall11.2"/>
          <p:cNvSpPr/>
          <p:nvPr/>
        </p:nvSpPr>
        <p:spPr>
          <a:xfrm>
            <a:off x="10241280" y="1188720"/>
            <a:ext cx="32004" cy="4480560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ellWall11.55"/>
          <p:cNvSpPr/>
          <p:nvPr/>
        </p:nvSpPr>
        <p:spPr>
          <a:xfrm>
            <a:off x="10561320" y="1188720"/>
            <a:ext cx="32004" cy="4480560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otor"/>
          <p:cNvSpPr/>
          <p:nvPr/>
        </p:nvSpPr>
        <p:spPr>
          <a:xfrm>
            <a:off x="9144000" y="2834640"/>
            <a:ext cx="777240" cy="2194560"/>
          </a:xfrm>
          <a:prstGeom prst="roundRect">
            <a:avLst>
              <a:gd name="adj" fmla="val 6000"/>
            </a:avLst>
          </a:prstGeom>
          <a:solidFill>
            <a:srgbClr val="213145">
              <a:alpha val="100000"/>
            </a:srgbClr>
          </a:solidFill>
          <a:ln w="1270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_30"/>
          <p:cNvSpPr txBox="1"/>
          <p:nvPr/>
        </p:nvSpPr>
        <p:spPr>
          <a:xfrm>
            <a:off x="8503920" y="5349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1">
                <a:solidFill>
                  <a:srgbClr val="F6C649"/>
                </a:solidFill>
                <a:latin typeface="Arial"/>
              </a:defRPr>
            </a:pPr>
            <a:r>
              <a:t>ПЭД</a:t>
            </a:r>
          </a:p>
        </p:txBody>
      </p:sp>
      <p:sp>
        <p:nvSpPr>
          <p:cNvPr id="32" name="Text_31"/>
          <p:cNvSpPr txBox="1"/>
          <p:nvPr/>
        </p:nvSpPr>
        <p:spPr>
          <a:xfrm>
            <a:off x="731520" y="5120640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00" b="0">
                <a:solidFill>
                  <a:srgbClr val="A7B2C1"/>
                </a:solidFill>
                <a:latin typeface="Arial"/>
              </a:defRPr>
            </a:pPr>
            <a:r>
              <a:t>Условная схема · не инженерная симуляция</a:t>
            </a:r>
          </a:p>
        </p:txBody>
      </p:sp>
      <p:sp>
        <p:nvSpPr>
          <p:cNvPr id="33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ОХЛАЖДЕНИЕ ПЭД</a:t>
            </a:r>
          </a:p>
        </p:txBody>
      </p:sp>
      <p:sp>
        <p:nvSpPr>
          <p:cNvPr id="34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5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6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Progress"/>
          <p:cNvSpPr/>
          <p:nvPr/>
        </p:nvSpPr>
        <p:spPr>
          <a:xfrm>
            <a:off x="594360" y="6318504"/>
            <a:ext cx="5000105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260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830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240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6740043" y="1932127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9210751" y="50566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1681459" y="193212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1681459" y="478505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9210751" y="621151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6740043" y="478505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7726679" y="932688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 b="4800"/>
          <a:stretch>
            <a:fillRect/>
          </a:stretch>
        </p:blipFill>
        <p:spPr>
          <a:xfrm>
            <a:off x="8394192" y="1371600"/>
            <a:ext cx="2286000" cy="4709160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7927848" y="1051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  <a:r>
              <a:t>Станции</a:t>
            </a: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66751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900" b="1">
                <a:solidFill>
                  <a:srgbClr val="F2F4F8"/>
                </a:solidFill>
                <a:latin typeface="Arial"/>
              </a:defRPr>
            </a:pPr>
            <a:r>
              <a:t>Разгон.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900" b="1">
                <a:solidFill>
                  <a:srgbClr val="F2F4F8"/>
                </a:solidFill>
                <a:latin typeface="Arial"/>
              </a:defRPr>
            </a:pPr>
            <a:r>
              <a:t>Свой темп.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017520"/>
            <a:ext cx="6675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Параметры и инструкция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для выбранной станции.</a:t>
            </a:r>
          </a:p>
        </p:txBody>
      </p:sp>
      <p:pic>
        <p:nvPicPr>
          <p:cNvPr id="26" name="!!Shutter0" descr="station.jpg"/>
          <p:cNvPicPr>
            <a:picLocks noChangeAspect="1"/>
          </p:cNvPicPr>
          <p:nvPr/>
        </p:nvPicPr>
        <p:blipFill>
          <a:blip r:embed="rId6"/>
          <a:srcRect t="31900" r="85714" b="31900"/>
          <a:stretch>
            <a:fillRect/>
          </a:stretch>
        </p:blipFill>
        <p:spPr>
          <a:xfrm>
            <a:off x="777240" y="4434840"/>
            <a:ext cx="731520" cy="1234440"/>
          </a:xfrm>
          <a:prstGeom prst="rect">
            <a:avLst/>
          </a:prstGeom>
        </p:spPr>
      </p:pic>
      <p:pic>
        <p:nvPicPr>
          <p:cNvPr id="27" name="!!Shutter1" descr="station.jpg"/>
          <p:cNvPicPr>
            <a:picLocks noChangeAspect="1"/>
          </p:cNvPicPr>
          <p:nvPr/>
        </p:nvPicPr>
        <p:blipFill>
          <a:blip r:embed="rId6"/>
          <a:srcRect l="14286" t="31900" r="71429" b="31900"/>
          <a:stretch>
            <a:fillRect/>
          </a:stretch>
        </p:blipFill>
        <p:spPr>
          <a:xfrm>
            <a:off x="1581912" y="4466844"/>
            <a:ext cx="731520" cy="1234440"/>
          </a:xfrm>
          <a:prstGeom prst="rect">
            <a:avLst/>
          </a:prstGeom>
        </p:spPr>
      </p:pic>
      <p:pic>
        <p:nvPicPr>
          <p:cNvPr id="28" name="!!Shutter2" descr="station.jpg"/>
          <p:cNvPicPr>
            <a:picLocks noChangeAspect="1"/>
          </p:cNvPicPr>
          <p:nvPr/>
        </p:nvPicPr>
        <p:blipFill>
          <a:blip r:embed="rId6"/>
          <a:srcRect l="28571" t="31900" r="57143" b="31900"/>
          <a:stretch>
            <a:fillRect/>
          </a:stretch>
        </p:blipFill>
        <p:spPr>
          <a:xfrm>
            <a:off x="2386584" y="4498848"/>
            <a:ext cx="731520" cy="1234440"/>
          </a:xfrm>
          <a:prstGeom prst="rect">
            <a:avLst/>
          </a:prstGeom>
        </p:spPr>
      </p:pic>
      <p:pic>
        <p:nvPicPr>
          <p:cNvPr id="29" name="!!Shutter3" descr="station.jpg"/>
          <p:cNvPicPr>
            <a:picLocks noChangeAspect="1"/>
          </p:cNvPicPr>
          <p:nvPr/>
        </p:nvPicPr>
        <p:blipFill>
          <a:blip r:embed="rId6"/>
          <a:srcRect l="42857" t="31900" r="42857" b="31900"/>
          <a:stretch>
            <a:fillRect/>
          </a:stretch>
        </p:blipFill>
        <p:spPr>
          <a:xfrm>
            <a:off x="3191256" y="4530852"/>
            <a:ext cx="731520" cy="1234440"/>
          </a:xfrm>
          <a:prstGeom prst="rect">
            <a:avLst/>
          </a:prstGeom>
        </p:spPr>
      </p:pic>
      <p:pic>
        <p:nvPicPr>
          <p:cNvPr id="30" name="!!Shutter4" descr="station.jpg"/>
          <p:cNvPicPr>
            <a:picLocks noChangeAspect="1"/>
          </p:cNvPicPr>
          <p:nvPr/>
        </p:nvPicPr>
        <p:blipFill>
          <a:blip r:embed="rId6"/>
          <a:srcRect l="57143" t="31900" r="28571" b="31900"/>
          <a:stretch>
            <a:fillRect/>
          </a:stretch>
        </p:blipFill>
        <p:spPr>
          <a:xfrm>
            <a:off x="3995928" y="4562855"/>
            <a:ext cx="731520" cy="1234440"/>
          </a:xfrm>
          <a:prstGeom prst="rect">
            <a:avLst/>
          </a:prstGeom>
        </p:spPr>
      </p:pic>
      <p:pic>
        <p:nvPicPr>
          <p:cNvPr id="31" name="!!Shutter5" descr="station.jpg"/>
          <p:cNvPicPr>
            <a:picLocks noChangeAspect="1"/>
          </p:cNvPicPr>
          <p:nvPr/>
        </p:nvPicPr>
        <p:blipFill>
          <a:blip r:embed="rId6"/>
          <a:srcRect l="71429" t="31900" r="14286" b="31900"/>
          <a:stretch>
            <a:fillRect/>
          </a:stretch>
        </p:blipFill>
        <p:spPr>
          <a:xfrm>
            <a:off x="4800600" y="4594859"/>
            <a:ext cx="731520" cy="1234440"/>
          </a:xfrm>
          <a:prstGeom prst="rect">
            <a:avLst/>
          </a:prstGeom>
        </p:spPr>
      </p:pic>
      <p:pic>
        <p:nvPicPr>
          <p:cNvPr id="32" name="!!Shutter6" descr="station.jpg"/>
          <p:cNvPicPr>
            <a:picLocks noChangeAspect="1"/>
          </p:cNvPicPr>
          <p:nvPr/>
        </p:nvPicPr>
        <p:blipFill>
          <a:blip r:embed="rId6"/>
          <a:srcRect l="85714" t="31900" b="31900"/>
          <a:stretch>
            <a:fillRect/>
          </a:stretch>
        </p:blipFill>
        <p:spPr>
          <a:xfrm>
            <a:off x="5605272" y="4626864"/>
            <a:ext cx="731520" cy="1234440"/>
          </a:xfrm>
          <a:prstGeom prst="rect">
            <a:avLst/>
          </a:prstGeom>
        </p:spPr>
      </p:pic>
      <p:sp>
        <p:nvSpPr>
          <p:cNvPr id="33" name="Text_32"/>
          <p:cNvSpPr txBox="1"/>
          <p:nvPr/>
        </p:nvSpPr>
        <p:spPr>
          <a:xfrm>
            <a:off x="777240" y="582472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A7B2C1"/>
                </a:solidFill>
                <a:latin typeface="Arial"/>
              </a:defRPr>
            </a:pPr>
            <a:r>
              <a:t>Фото КАСКАД-НТ из проекта · значения на фото не являются рекомендацией</a:t>
            </a:r>
          </a:p>
        </p:txBody>
      </p:sp>
      <p:sp>
        <p:nvSpPr>
          <p:cNvPr id="34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СТАНЦИИ УПРАВЛЕНИЯ</a:t>
            </a:r>
          </a:p>
        </p:txBody>
      </p:sp>
      <p:sp>
        <p:nvSpPr>
          <p:cNvPr id="35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6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7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rogress"/>
          <p:cNvSpPr/>
          <p:nvPr/>
        </p:nvSpPr>
        <p:spPr>
          <a:xfrm>
            <a:off x="594360" y="6318504"/>
            <a:ext cx="5500116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BackToOverview">
            <a:hlinkClick action="ppaction://hlinksldjump" r:id="rId8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386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956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366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7415345" y="1141449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0233149" y="69515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2028554" y="291229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1006156" y="557573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8188353" y="602202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6392947" y="380488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7406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700" b="1">
                <a:solidFill>
                  <a:srgbClr val="F2F4F8"/>
                </a:solidFill>
                <a:latin typeface="Arial"/>
              </a:defRPr>
            </a:pPr>
            <a:r>
              <a:t>РИЧ.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700" b="1">
                <a:solidFill>
                  <a:srgbClr val="F2F4F8"/>
                </a:solidFill>
                <a:latin typeface="Arial"/>
              </a:defRPr>
            </a:pPr>
            <a:r>
              <a:t>Своя последовательность.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200400"/>
            <a:ext cx="7406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Пошаговые материалы и фотографии.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Действия контролирует персонал.</a:t>
            </a:r>
          </a:p>
        </p:txBody>
      </p:sp>
      <p:sp>
        <p:nvSpPr>
          <p:cNvPr id="26" name="!!HeroFrame"/>
          <p:cNvSpPr/>
          <p:nvPr/>
        </p:nvSpPr>
        <p:spPr>
          <a:xfrm>
            <a:off x="8581644" y="946404"/>
            <a:ext cx="2313432" cy="4868124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!!HeroScreen" descr="rich.png"/>
          <p:cNvPicPr>
            <a:picLocks noChangeAspect="1"/>
          </p:cNvPicPr>
          <p:nvPr/>
        </p:nvPicPr>
        <p:blipFill>
          <a:blip r:embed="rId6"/>
          <a:srcRect t="0" b="0"/>
          <a:stretch>
            <a:fillRect/>
          </a:stretch>
        </p:blipFill>
        <p:spPr>
          <a:xfrm>
            <a:off x="8641080" y="1005840"/>
            <a:ext cx="2194560" cy="4749252"/>
          </a:xfrm>
          <a:prstGeom prst="rect">
            <a:avLst/>
          </a:prstGeom>
        </p:spPr>
      </p:pic>
      <p:sp>
        <p:nvSpPr>
          <p:cNvPr id="28" name="Text_27"/>
          <p:cNvSpPr txBox="1"/>
          <p:nvPr/>
        </p:nvSpPr>
        <p:spPr>
          <a:xfrm>
            <a:off x="7772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6C649"/>
                </a:solidFill>
                <a:latin typeface="Arial"/>
              </a:defRPr>
            </a:pPr>
            <a:r>
              <a:t>КАСКАД-НТ</a:t>
            </a:r>
          </a:p>
        </p:txBody>
      </p:sp>
      <p:sp>
        <p:nvSpPr>
          <p:cNvPr id="29" name="Text_28"/>
          <p:cNvSpPr txBox="1"/>
          <p:nvPr/>
        </p:nvSpPr>
        <p:spPr>
          <a:xfrm>
            <a:off x="4206240" y="4206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Эталон ЧР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777240" y="470915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ЭЛЕКТОН</a:t>
            </a:r>
          </a:p>
        </p:txBody>
      </p:sp>
      <p:sp>
        <p:nvSpPr>
          <p:cNvPr id="31" name="Text_30"/>
          <p:cNvSpPr txBox="1"/>
          <p:nvPr/>
        </p:nvSpPr>
        <p:spPr>
          <a:xfrm>
            <a:off x="4206240" y="470915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ОРИОН-01</a:t>
            </a:r>
          </a:p>
        </p:txBody>
      </p:sp>
      <p:sp>
        <p:nvSpPr>
          <p:cNvPr id="32" name="Text_31"/>
          <p:cNvSpPr txBox="1"/>
          <p:nvPr/>
        </p:nvSpPr>
        <p:spPr>
          <a:xfrm>
            <a:off x="777240" y="521207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ТРИОЛ (УМКА)</a:t>
            </a:r>
          </a:p>
        </p:txBody>
      </p:sp>
      <p:sp>
        <p:nvSpPr>
          <p:cNvPr id="33" name="Text_32"/>
          <p:cNvSpPr txBox="1"/>
          <p:nvPr/>
        </p:nvSpPr>
        <p:spPr>
          <a:xfrm>
            <a:off x="4206240" y="521207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</a:p>
        </p:txBody>
      </p:sp>
      <p:pic>
        <p:nvPicPr>
          <p:cNvPr id="34" name="!!Shutter0" descr="station.jpg"/>
          <p:cNvPicPr>
            <a:picLocks noChangeAspect="1"/>
          </p:cNvPicPr>
          <p:nvPr/>
        </p:nvPicPr>
        <p:blipFill>
          <a:blip r:embed="rId7"/>
          <a:srcRect t="40000" r="85714" b="40000"/>
          <a:stretch>
            <a:fillRect/>
          </a:stretch>
        </p:blipFill>
        <p:spPr>
          <a:xfrm>
            <a:off x="777240" y="5897880"/>
            <a:ext cx="731520" cy="73152"/>
          </a:xfrm>
          <a:prstGeom prst="rect">
            <a:avLst/>
          </a:prstGeom>
        </p:spPr>
      </p:pic>
      <p:pic>
        <p:nvPicPr>
          <p:cNvPr id="35" name="!!Shutter1" descr="station.jpg"/>
          <p:cNvPicPr>
            <a:picLocks noChangeAspect="1"/>
          </p:cNvPicPr>
          <p:nvPr/>
        </p:nvPicPr>
        <p:blipFill>
          <a:blip r:embed="rId7"/>
          <a:srcRect l="14286" t="40000" r="71429" b="40000"/>
          <a:stretch>
            <a:fillRect/>
          </a:stretch>
        </p:blipFill>
        <p:spPr>
          <a:xfrm>
            <a:off x="1581912" y="5897880"/>
            <a:ext cx="731520" cy="73152"/>
          </a:xfrm>
          <a:prstGeom prst="rect">
            <a:avLst/>
          </a:prstGeom>
        </p:spPr>
      </p:pic>
      <p:pic>
        <p:nvPicPr>
          <p:cNvPr id="36" name="!!Shutter2" descr="station.jpg"/>
          <p:cNvPicPr>
            <a:picLocks noChangeAspect="1"/>
          </p:cNvPicPr>
          <p:nvPr/>
        </p:nvPicPr>
        <p:blipFill>
          <a:blip r:embed="rId7"/>
          <a:srcRect l="28571" t="40000" r="57143" b="40000"/>
          <a:stretch>
            <a:fillRect/>
          </a:stretch>
        </p:blipFill>
        <p:spPr>
          <a:xfrm>
            <a:off x="2386584" y="5897880"/>
            <a:ext cx="731520" cy="73152"/>
          </a:xfrm>
          <a:prstGeom prst="rect">
            <a:avLst/>
          </a:prstGeom>
        </p:spPr>
      </p:pic>
      <p:pic>
        <p:nvPicPr>
          <p:cNvPr id="37" name="!!Shutter3" descr="station.jpg"/>
          <p:cNvPicPr>
            <a:picLocks noChangeAspect="1"/>
          </p:cNvPicPr>
          <p:nvPr/>
        </p:nvPicPr>
        <p:blipFill>
          <a:blip r:embed="rId7"/>
          <a:srcRect l="42857" t="40000" r="42857" b="40000"/>
          <a:stretch>
            <a:fillRect/>
          </a:stretch>
        </p:blipFill>
        <p:spPr>
          <a:xfrm>
            <a:off x="3191256" y="5897880"/>
            <a:ext cx="731520" cy="73152"/>
          </a:xfrm>
          <a:prstGeom prst="rect">
            <a:avLst/>
          </a:prstGeom>
        </p:spPr>
      </p:pic>
      <p:pic>
        <p:nvPicPr>
          <p:cNvPr id="38" name="!!Shutter4" descr="station.jpg"/>
          <p:cNvPicPr>
            <a:picLocks noChangeAspect="1"/>
          </p:cNvPicPr>
          <p:nvPr/>
        </p:nvPicPr>
        <p:blipFill>
          <a:blip r:embed="rId7"/>
          <a:srcRect l="57143" t="40000" r="28571" b="40000"/>
          <a:stretch>
            <a:fillRect/>
          </a:stretch>
        </p:blipFill>
        <p:spPr>
          <a:xfrm>
            <a:off x="3995928" y="5897880"/>
            <a:ext cx="731520" cy="73152"/>
          </a:xfrm>
          <a:prstGeom prst="rect">
            <a:avLst/>
          </a:prstGeom>
        </p:spPr>
      </p:pic>
      <p:pic>
        <p:nvPicPr>
          <p:cNvPr id="39" name="!!Shutter5" descr="station.jpg"/>
          <p:cNvPicPr>
            <a:picLocks noChangeAspect="1"/>
          </p:cNvPicPr>
          <p:nvPr/>
        </p:nvPicPr>
        <p:blipFill>
          <a:blip r:embed="rId7"/>
          <a:srcRect l="71429" t="40000" r="14286" b="40000"/>
          <a:stretch>
            <a:fillRect/>
          </a:stretch>
        </p:blipFill>
        <p:spPr>
          <a:xfrm>
            <a:off x="4800600" y="5897880"/>
            <a:ext cx="731520" cy="73152"/>
          </a:xfrm>
          <a:prstGeom prst="rect">
            <a:avLst/>
          </a:prstGeom>
        </p:spPr>
      </p:pic>
      <p:pic>
        <p:nvPicPr>
          <p:cNvPr id="40" name="!!Shutter6" descr="station.jpg"/>
          <p:cNvPicPr>
            <a:picLocks noChangeAspect="1"/>
          </p:cNvPicPr>
          <p:nvPr/>
        </p:nvPicPr>
        <p:blipFill>
          <a:blip r:embed="rId7"/>
          <a:srcRect l="85714" t="40000" b="40000"/>
          <a:stretch>
            <a:fillRect/>
          </a:stretch>
        </p:blipFill>
        <p:spPr>
          <a:xfrm>
            <a:off x="5605272" y="5897880"/>
            <a:ext cx="731520" cy="73152"/>
          </a:xfrm>
          <a:prstGeom prst="rect">
            <a:avLst/>
          </a:prstGeom>
        </p:spPr>
      </p:pic>
      <p:sp>
        <p:nvSpPr>
          <p:cNvPr id="41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СТАНЦИИ УПРАВЛЕНИЯ</a:t>
            </a:r>
          </a:p>
        </p:txBody>
      </p:sp>
      <p:sp>
        <p:nvSpPr>
          <p:cNvPr id="42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3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4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Progress"/>
          <p:cNvSpPr/>
          <p:nvPr/>
        </p:nvSpPr>
        <p:spPr>
          <a:xfrm>
            <a:off x="594360" y="6318504"/>
            <a:ext cx="6000126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BackToOverview">
            <a:hlinkClick action="ppaction://hlinksldjump" r:id="rId9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512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2082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492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8329147" y="645295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1119732" y="123845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2001335" y="395174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0092354" y="607188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7301769" y="547872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6420166" y="276543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7726679" y="932688"/>
            <a:ext cx="3657600" cy="51663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rcRect b="4800"/>
          <a:stretch>
            <a:fillRect/>
          </a:stretch>
        </p:blipFill>
        <p:spPr>
          <a:xfrm>
            <a:off x="8394192" y="1371600"/>
            <a:ext cx="2286000" cy="4709160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7927848" y="1051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  <a:r>
              <a:t>ВНР</a:t>
            </a:r>
          </a:p>
        </p:txBody>
      </p:sp>
      <p:sp>
        <p:nvSpPr>
          <p:cNvPr id="24" name="!!Headline"/>
          <p:cNvSpPr txBox="1"/>
          <p:nvPr/>
        </p:nvSpPr>
        <p:spPr>
          <a:xfrm>
            <a:off x="731520" y="118872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900" b="1">
                <a:solidFill>
                  <a:srgbClr val="F6C649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868680" y="333756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800" b="1">
                <a:solidFill>
                  <a:srgbClr val="F2F4F8"/>
                </a:solidFill>
                <a:latin typeface="Arial"/>
              </a:defRPr>
            </a:pPr>
            <a:r>
              <a:t>страниц ВНР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800" b="1">
                <a:solidFill>
                  <a:srgbClr val="F2F4F8"/>
                </a:solidFill>
                <a:latin typeface="Arial"/>
              </a:defRPr>
            </a:pPr>
            <a:r>
              <a:t>на телефоне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914400" y="51206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A7B2C1"/>
                </a:solidFill>
                <a:latin typeface="Arial"/>
              </a:defRPr>
            </a:pPr>
            <a:r>
              <a:t>Офлайн после предварительной загрузки</a:t>
            </a:r>
          </a:p>
        </p:txBody>
      </p:sp>
      <p:sp>
        <p:nvSpPr>
          <p:cNvPr id="2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РЕГЛАМЕНТ</a:t>
            </a:r>
          </a:p>
        </p:txBody>
      </p:sp>
      <p:sp>
        <p:nvSpPr>
          <p:cNvPr id="2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rogress"/>
          <p:cNvSpPr/>
          <p:nvPr/>
        </p:nvSpPr>
        <p:spPr>
          <a:xfrm>
            <a:off x="594360" y="6318504"/>
            <a:ext cx="6500137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638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48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618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9360061" y="509573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1752728" y="206338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1603417" y="491240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9061440" y="620760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6668773" y="465379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6818084" y="180477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6217920" y="1234440"/>
            <a:ext cx="512064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rcRect b="62000"/>
          <a:stretch>
            <a:fillRect/>
          </a:stretch>
        </p:blipFill>
        <p:spPr>
          <a:xfrm>
            <a:off x="6473952" y="1554480"/>
            <a:ext cx="4617720" cy="3822191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6419088" y="1353312"/>
            <a:ext cx="4754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55778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900" b="1">
                <a:solidFill>
                  <a:srgbClr val="F2F4F8"/>
                </a:solidFill>
                <a:latin typeface="Arial"/>
              </a:defRPr>
            </a:pPr>
            <a:r>
              <a:t>Найти.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900" b="1">
                <a:solidFill>
                  <a:srgbClr val="F2F4F8"/>
                </a:solidFill>
                <a:latin typeface="Arial"/>
              </a:defRPr>
            </a:pPr>
            <a:r>
              <a:t>Сохранить. Вернуться.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200400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Поиск с подсветкой и переходами.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Закладки для быстрого возврата.</a:t>
            </a:r>
          </a:p>
        </p:txBody>
      </p:sp>
      <p:sp>
        <p:nvSpPr>
          <p:cNvPr id="26" name="Point0"/>
          <p:cNvSpPr/>
          <p:nvPr/>
        </p:nvSpPr>
        <p:spPr>
          <a:xfrm>
            <a:off x="731520" y="475488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intText0"/>
          <p:cNvSpPr txBox="1"/>
          <p:nvPr/>
        </p:nvSpPr>
        <p:spPr>
          <a:xfrm>
            <a:off x="914400" y="47411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Совпадения и переходы</a:t>
            </a:r>
          </a:p>
        </p:txBody>
      </p:sp>
      <p:sp>
        <p:nvSpPr>
          <p:cNvPr id="28" name="Point1"/>
          <p:cNvSpPr/>
          <p:nvPr/>
        </p:nvSpPr>
        <p:spPr>
          <a:xfrm>
            <a:off x="731520" y="516636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ointText1"/>
          <p:cNvSpPr txBox="1"/>
          <p:nvPr/>
        </p:nvSpPr>
        <p:spPr>
          <a:xfrm>
            <a:off x="914400" y="515264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Ссылки внутри документа</a:t>
            </a:r>
          </a:p>
        </p:txBody>
      </p:sp>
      <p:sp>
        <p:nvSpPr>
          <p:cNvPr id="30" name="Point2"/>
          <p:cNvSpPr/>
          <p:nvPr/>
        </p:nvSpPr>
        <p:spPr>
          <a:xfrm>
            <a:off x="731520" y="557784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intText2"/>
          <p:cNvSpPr txBox="1"/>
          <p:nvPr/>
        </p:nvSpPr>
        <p:spPr>
          <a:xfrm>
            <a:off x="914400" y="556412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F2F4F8"/>
                </a:solidFill>
                <a:latin typeface="Arial"/>
              </a:defRPr>
            </a:pPr>
            <a:r>
              <a:t>Закладки на устройстве</a:t>
            </a:r>
          </a:p>
        </p:txBody>
      </p:sp>
      <p:sp>
        <p:nvSpPr>
          <p:cNvPr id="32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РЕГЛАМЕНТ</a:t>
            </a:r>
          </a:p>
        </p:txBody>
      </p:sp>
      <p:sp>
        <p:nvSpPr>
          <p:cNvPr id="33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4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35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Progress"/>
          <p:cNvSpPr/>
          <p:nvPr/>
        </p:nvSpPr>
        <p:spPr>
          <a:xfrm>
            <a:off x="594360" y="6318504"/>
            <a:ext cx="7000147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BackToOverview">
            <a:hlinkClick action="ppaction://hlinksldjump" r:id="rId7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764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74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744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0371141" y="752311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2048050" y="306037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0887660" y="566665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050360" y="596487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6373451" y="365680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7533842" y="105052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7132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900" b="1">
                <a:solidFill>
                  <a:srgbClr val="F2F4F8"/>
                </a:solidFill>
                <a:latin typeface="Arial"/>
              </a:defRPr>
            </a:pPr>
            <a:r>
              <a:t>Расчёты + знания.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2743200"/>
            <a:ext cx="7132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Инструменты для оператора и наставника.</a:t>
            </a:r>
          </a:p>
        </p:txBody>
      </p:sp>
      <p:sp>
        <p:nvSpPr>
          <p:cNvPr id="26" name="!!Tool0Frame"/>
          <p:cNvSpPr/>
          <p:nvPr/>
        </p:nvSpPr>
        <p:spPr>
          <a:xfrm>
            <a:off x="8535924" y="854964"/>
            <a:ext cx="1856231" cy="3878697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!!Tool0Screen" descr="tap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595360" y="914400"/>
            <a:ext cx="1737360" cy="3759825"/>
          </a:xfrm>
          <a:prstGeom prst="rect">
            <a:avLst/>
          </a:prstGeom>
        </p:spPr>
      </p:pic>
      <p:sp>
        <p:nvSpPr>
          <p:cNvPr id="28" name="!!Tool1Frame"/>
          <p:cNvSpPr/>
          <p:nvPr/>
        </p:nvSpPr>
        <p:spPr>
          <a:xfrm>
            <a:off x="9816084" y="2089404"/>
            <a:ext cx="1581912" cy="3285040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!!Tool1Screen" descr="technologist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875520" y="2148840"/>
            <a:ext cx="1463040" cy="3166168"/>
          </a:xfrm>
          <a:prstGeom prst="rect">
            <a:avLst/>
          </a:prstGeom>
        </p:spPr>
      </p:pic>
      <p:sp>
        <p:nvSpPr>
          <p:cNvPr id="30" name="!!Tool2Frame"/>
          <p:cNvSpPr/>
          <p:nvPr/>
        </p:nvSpPr>
        <p:spPr>
          <a:xfrm>
            <a:off x="7438644" y="3095244"/>
            <a:ext cx="1353312" cy="2790326"/>
          </a:xfrm>
          <a:prstGeom prst="roundRect">
            <a:avLst>
              <a:gd name="adj" fmla="val 6000"/>
            </a:avLst>
          </a:prstGeom>
          <a:solidFill>
            <a:srgbClr val="26354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!!Tool2Screen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98079" y="3154680"/>
            <a:ext cx="1234440" cy="2671454"/>
          </a:xfrm>
          <a:prstGeom prst="rect">
            <a:avLst/>
          </a:prstGeom>
        </p:spPr>
      </p:pic>
      <p:sp>
        <p:nvSpPr>
          <p:cNvPr id="32" name="Point0"/>
          <p:cNvSpPr/>
          <p:nvPr/>
        </p:nvSpPr>
        <p:spPr>
          <a:xfrm>
            <a:off x="731520" y="420624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intText0"/>
          <p:cNvSpPr txBox="1"/>
          <p:nvPr/>
        </p:nvSpPr>
        <p:spPr>
          <a:xfrm>
            <a:off x="914400" y="419252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Отпайка и расчётные разделы</a:t>
            </a:r>
          </a:p>
        </p:txBody>
      </p:sp>
      <p:sp>
        <p:nvSpPr>
          <p:cNvPr id="34" name="Point1"/>
          <p:cNvSpPr/>
          <p:nvPr/>
        </p:nvSpPr>
        <p:spPr>
          <a:xfrm>
            <a:off x="731520" y="4736592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ointText1"/>
          <p:cNvSpPr txBox="1"/>
          <p:nvPr/>
        </p:nvSpPr>
        <p:spPr>
          <a:xfrm>
            <a:off x="914400" y="4722876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Помощник по рабочим ситуациям</a:t>
            </a:r>
          </a:p>
        </p:txBody>
      </p:sp>
      <p:sp>
        <p:nvSpPr>
          <p:cNvPr id="36" name="Point2"/>
          <p:cNvSpPr/>
          <p:nvPr/>
        </p:nvSpPr>
        <p:spPr>
          <a:xfrm>
            <a:off x="731520" y="5266944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intText2"/>
          <p:cNvSpPr txBox="1"/>
          <p:nvPr/>
        </p:nvSpPr>
        <p:spPr>
          <a:xfrm>
            <a:off x="914400" y="525322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 b="0">
                <a:solidFill>
                  <a:srgbClr val="F2F4F8"/>
                </a:solidFill>
                <a:latin typeface="Arial"/>
              </a:defRPr>
            </a:pPr>
            <a:r>
              <a:t>Материалы для обучения с наставником</a:t>
            </a:r>
          </a:p>
        </p:txBody>
      </p:sp>
      <p:sp>
        <p:nvSpPr>
          <p:cNvPr id="38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РАБОЧИЙ НАБОР</a:t>
            </a:r>
          </a:p>
        </p:txBody>
      </p:sp>
      <p:sp>
        <p:nvSpPr>
          <p:cNvPr id="39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0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1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Progress"/>
          <p:cNvSpPr/>
          <p:nvPr/>
        </p:nvSpPr>
        <p:spPr>
          <a:xfrm>
            <a:off x="594360" y="6318504"/>
            <a:ext cx="7500158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BackToOverview">
            <a:hlinkClick action="ppaction://hlinksldjump" r:id="rId9"/>
          </p:cNvPr>
          <p:cNvSpPr txBox="1"/>
          <p:nvPr/>
        </p:nvSpPr>
        <p:spPr>
          <a:xfrm>
            <a:off x="9464040" y="25603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000" b="0">
                <a:solidFill>
                  <a:srgbClr val="F6C649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7795260" y="-1074420"/>
            <a:ext cx="5257800" cy="5257800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8900000">
            <a:off x="8138160" y="-731520"/>
            <a:ext cx="4572000" cy="457200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3000000">
            <a:off x="8366760" y="-502920"/>
            <a:ext cx="4114800" cy="411480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8700000">
            <a:off x="8801100" y="-68579"/>
            <a:ext cx="3246120" cy="324612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2015917" y="-86654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2607577" y="212145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0991131" y="373789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783025" y="314623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8191364" y="93813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9807810" y="-67831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9144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600" b="1">
                <a:solidFill>
                  <a:srgbClr val="F2F4F8"/>
                </a:solidFill>
                <a:latin typeface="Arial"/>
              </a:defRPr>
            </a:pPr>
            <a:r>
              <a:t>Понятно,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600" b="1">
                <a:solidFill>
                  <a:srgbClr val="F2F4F8"/>
                </a:solidFill>
                <a:latin typeface="Arial"/>
              </a:defRPr>
            </a:pPr>
            <a:r>
              <a:t>на чём основано.</a:t>
            </a:r>
          </a:p>
        </p:txBody>
      </p:sp>
      <p:sp>
        <p:nvSpPr>
          <p:cNvPr id="25" name="SourceCard0"/>
          <p:cNvSpPr/>
          <p:nvPr/>
        </p:nvSpPr>
        <p:spPr>
          <a:xfrm>
            <a:off x="731520" y="32004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_25"/>
          <p:cNvSpPr txBox="1"/>
          <p:nvPr/>
        </p:nvSpPr>
        <p:spPr>
          <a:xfrm>
            <a:off x="96012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700" b="1">
                <a:solidFill>
                  <a:srgbClr val="F6C649"/>
                </a:solidFill>
                <a:latin typeface="Arial"/>
              </a:defRPr>
            </a:pPr>
            <a:r>
              <a:t>Формулы</a:t>
            </a:r>
          </a:p>
        </p:txBody>
      </p:sp>
      <p:sp>
        <p:nvSpPr>
          <p:cNvPr id="27" name="Text_26"/>
          <p:cNvSpPr txBox="1"/>
          <p:nvPr/>
        </p:nvSpPr>
        <p:spPr>
          <a:xfrm>
            <a:off x="960120" y="42976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Исходный код Android.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Сохранение единиц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и проверка примеров.</a:t>
            </a:r>
          </a:p>
        </p:txBody>
      </p:sp>
      <p:sp>
        <p:nvSpPr>
          <p:cNvPr id="28" name="SourceCard1"/>
          <p:cNvSpPr/>
          <p:nvPr/>
        </p:nvSpPr>
        <p:spPr>
          <a:xfrm>
            <a:off x="4526280" y="32004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_28"/>
          <p:cNvSpPr txBox="1"/>
          <p:nvPr/>
        </p:nvSpPr>
        <p:spPr>
          <a:xfrm>
            <a:off x="475488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700" b="1">
                <a:solidFill>
                  <a:srgbClr val="F6C649"/>
                </a:solidFill>
                <a:latin typeface="Arial"/>
              </a:defRPr>
            </a:pPr>
            <a:r>
              <a:t>Регламент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4754880" y="42976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Доступный документ ВНР.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Поиск, ссылки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и закладки.</a:t>
            </a:r>
          </a:p>
        </p:txBody>
      </p:sp>
      <p:sp>
        <p:nvSpPr>
          <p:cNvPr id="31" name="SourceCard2"/>
          <p:cNvSpPr/>
          <p:nvPr/>
        </p:nvSpPr>
        <p:spPr>
          <a:xfrm>
            <a:off x="8321040" y="32004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_31"/>
          <p:cNvSpPr txBox="1"/>
          <p:nvPr/>
        </p:nvSpPr>
        <p:spPr>
          <a:xfrm>
            <a:off x="854964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700" b="1">
                <a:solidFill>
                  <a:srgbClr val="F6C649"/>
                </a:solidFill>
                <a:latin typeface="Arial"/>
              </a:defRPr>
            </a:pPr>
            <a:r>
              <a:t>Материалы</a:t>
            </a:r>
          </a:p>
        </p:txBody>
      </p:sp>
      <p:sp>
        <p:nvSpPr>
          <p:cNvPr id="33" name="Text_32"/>
          <p:cNvSpPr txBox="1"/>
          <p:nvPr/>
        </p:nvSpPr>
        <p:spPr>
          <a:xfrm>
            <a:off x="8549640" y="42976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Предоставленные документы.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Редакции и полноту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A7B2C1"/>
                </a:solidFill>
                <a:latin typeface="Arial"/>
              </a:defRPr>
            </a:pPr>
            <a:r>
              <a:t>необходимо сверить.</a:t>
            </a:r>
          </a:p>
        </p:txBody>
      </p:sp>
      <p:sp>
        <p:nvSpPr>
          <p:cNvPr id="34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ОСНОВА ПРОЕКТА</a:t>
            </a:r>
          </a:p>
        </p:txBody>
      </p:sp>
      <p:sp>
        <p:nvSpPr>
          <p:cNvPr id="35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6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37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rogress"/>
          <p:cNvSpPr/>
          <p:nvPr/>
        </p:nvSpPr>
        <p:spPr>
          <a:xfrm>
            <a:off x="594360" y="6318504"/>
            <a:ext cx="8000168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132588" y="498347"/>
            <a:ext cx="5678424" cy="567842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20160000">
            <a:off x="502919" y="868679"/>
            <a:ext cx="4937760" cy="493776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4260000">
            <a:off x="749807" y="1115567"/>
            <a:ext cx="4443984" cy="4443984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9960000">
            <a:off x="1218895" y="1584655"/>
            <a:ext cx="3505809" cy="3505809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5202545" y="2308687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4944477" y="476404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2689042" y="576822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691677" y="431705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949745" y="186169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3205179" y="85751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868680" y="15087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200" b="1">
                <a:solidFill>
                  <a:srgbClr val="F6C649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1005840" y="3474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200" b="1">
                <a:solidFill>
                  <a:srgbClr val="F2F4F8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1051560" y="4754880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Прямые денежные расходы, по оценке автора, минимальны.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Основной вклад — время.</a:t>
            </a:r>
          </a:p>
        </p:txBody>
      </p:sp>
      <p:sp>
        <p:nvSpPr>
          <p:cNvPr id="2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РАЗРАБОТКА</a:t>
            </a:r>
          </a:p>
        </p:txBody>
      </p:sp>
      <p:sp>
        <p:nvSpPr>
          <p:cNvPr id="2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3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rogress"/>
          <p:cNvSpPr/>
          <p:nvPr/>
        </p:nvSpPr>
        <p:spPr>
          <a:xfrm>
            <a:off x="594360" y="6318504"/>
            <a:ext cx="8500179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132588" y="498347"/>
            <a:ext cx="5678424" cy="567842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21420000">
            <a:off x="502919" y="868679"/>
            <a:ext cx="4937760" cy="493776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5520000">
            <a:off x="749807" y="1115567"/>
            <a:ext cx="4443984" cy="4443984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1220000">
            <a:off x="1218895" y="1584655"/>
            <a:ext cx="3505809" cy="3505809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5412607" y="3183660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4291759" y="538344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826263" y="551265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481614" y="344208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602462" y="124229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4067959" y="111308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822960" y="1463040"/>
            <a:ext cx="6400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900" b="1">
                <a:solidFill>
                  <a:srgbClr val="F6C649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960120" y="3429000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3700" b="1">
                <a:solidFill>
                  <a:srgbClr val="F2F4F8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3700" b="1">
                <a:solidFill>
                  <a:srgbClr val="F2F4F8"/>
                </a:solidFill>
                <a:latin typeface="Arial"/>
              </a:defRPr>
            </a:pPr>
            <a:r>
              <a:t>пользователей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1005840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 b="0">
                <a:solidFill>
                  <a:srgbClr val="A7B2C1"/>
                </a:solidFill>
                <a:latin typeface="Arial"/>
              </a:defRPr>
            </a:pPr>
            <a:r>
              <a:t>Оценка автора · пилот перед масштабированием</a:t>
            </a:r>
          </a:p>
        </p:txBody>
      </p:sp>
      <p:sp>
        <p:nvSpPr>
          <p:cNvPr id="27" name="AudienceDot0"/>
          <p:cNvSpPr/>
          <p:nvPr/>
        </p:nvSpPr>
        <p:spPr>
          <a:xfrm>
            <a:off x="781812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udienceDot1"/>
          <p:cNvSpPr/>
          <p:nvPr/>
        </p:nvSpPr>
        <p:spPr>
          <a:xfrm>
            <a:off x="822960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udienceDot2"/>
          <p:cNvSpPr/>
          <p:nvPr/>
        </p:nvSpPr>
        <p:spPr>
          <a:xfrm>
            <a:off x="864108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udienceDot3"/>
          <p:cNvSpPr/>
          <p:nvPr/>
        </p:nvSpPr>
        <p:spPr>
          <a:xfrm>
            <a:off x="905256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udienceDot4"/>
          <p:cNvSpPr/>
          <p:nvPr/>
        </p:nvSpPr>
        <p:spPr>
          <a:xfrm>
            <a:off x="946404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udienceDot5"/>
          <p:cNvSpPr/>
          <p:nvPr/>
        </p:nvSpPr>
        <p:spPr>
          <a:xfrm>
            <a:off x="987552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udienceDot6"/>
          <p:cNvSpPr/>
          <p:nvPr/>
        </p:nvSpPr>
        <p:spPr>
          <a:xfrm>
            <a:off x="1028700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udienceDot7"/>
          <p:cNvSpPr/>
          <p:nvPr/>
        </p:nvSpPr>
        <p:spPr>
          <a:xfrm>
            <a:off x="10698480" y="1188720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udienceDot8"/>
          <p:cNvSpPr/>
          <p:nvPr/>
        </p:nvSpPr>
        <p:spPr>
          <a:xfrm>
            <a:off x="7818120" y="1627632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udienceDot9"/>
          <p:cNvSpPr/>
          <p:nvPr/>
        </p:nvSpPr>
        <p:spPr>
          <a:xfrm>
            <a:off x="8229600" y="1627632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udienceDot10"/>
          <p:cNvSpPr/>
          <p:nvPr/>
        </p:nvSpPr>
        <p:spPr>
          <a:xfrm>
            <a:off x="8641080" y="1627632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udienceDot11"/>
          <p:cNvSpPr/>
          <p:nvPr/>
        </p:nvSpPr>
        <p:spPr>
          <a:xfrm>
            <a:off x="9052560" y="1627632"/>
            <a:ext cx="77724" cy="77724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udienceDot12"/>
          <p:cNvSpPr/>
          <p:nvPr/>
        </p:nvSpPr>
        <p:spPr>
          <a:xfrm>
            <a:off x="9464040" y="1627632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udienceDot13"/>
          <p:cNvSpPr/>
          <p:nvPr/>
        </p:nvSpPr>
        <p:spPr>
          <a:xfrm>
            <a:off x="9875520" y="1627632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udienceDot14"/>
          <p:cNvSpPr/>
          <p:nvPr/>
        </p:nvSpPr>
        <p:spPr>
          <a:xfrm>
            <a:off x="10287000" y="1627632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udienceDot15"/>
          <p:cNvSpPr/>
          <p:nvPr/>
        </p:nvSpPr>
        <p:spPr>
          <a:xfrm>
            <a:off x="10698480" y="1627632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udienceDot16"/>
          <p:cNvSpPr/>
          <p:nvPr/>
        </p:nvSpPr>
        <p:spPr>
          <a:xfrm>
            <a:off x="781812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udienceDot17"/>
          <p:cNvSpPr/>
          <p:nvPr/>
        </p:nvSpPr>
        <p:spPr>
          <a:xfrm>
            <a:off x="822960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udienceDot18"/>
          <p:cNvSpPr/>
          <p:nvPr/>
        </p:nvSpPr>
        <p:spPr>
          <a:xfrm>
            <a:off x="864108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udienceDot19"/>
          <p:cNvSpPr/>
          <p:nvPr/>
        </p:nvSpPr>
        <p:spPr>
          <a:xfrm>
            <a:off x="905256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udienceDot20"/>
          <p:cNvSpPr/>
          <p:nvPr/>
        </p:nvSpPr>
        <p:spPr>
          <a:xfrm>
            <a:off x="946404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udienceDot21"/>
          <p:cNvSpPr/>
          <p:nvPr/>
        </p:nvSpPr>
        <p:spPr>
          <a:xfrm>
            <a:off x="987552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udienceDot22"/>
          <p:cNvSpPr/>
          <p:nvPr/>
        </p:nvSpPr>
        <p:spPr>
          <a:xfrm>
            <a:off x="1028700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udienceDot23"/>
          <p:cNvSpPr/>
          <p:nvPr/>
        </p:nvSpPr>
        <p:spPr>
          <a:xfrm>
            <a:off x="10698480" y="2066543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udienceDot24"/>
          <p:cNvSpPr/>
          <p:nvPr/>
        </p:nvSpPr>
        <p:spPr>
          <a:xfrm>
            <a:off x="781812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udienceDot25"/>
          <p:cNvSpPr/>
          <p:nvPr/>
        </p:nvSpPr>
        <p:spPr>
          <a:xfrm>
            <a:off x="822960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udienceDot26"/>
          <p:cNvSpPr/>
          <p:nvPr/>
        </p:nvSpPr>
        <p:spPr>
          <a:xfrm>
            <a:off x="864108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AudienceDot27"/>
          <p:cNvSpPr/>
          <p:nvPr/>
        </p:nvSpPr>
        <p:spPr>
          <a:xfrm>
            <a:off x="905256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udienceDot28"/>
          <p:cNvSpPr/>
          <p:nvPr/>
        </p:nvSpPr>
        <p:spPr>
          <a:xfrm>
            <a:off x="946404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udienceDot29"/>
          <p:cNvSpPr/>
          <p:nvPr/>
        </p:nvSpPr>
        <p:spPr>
          <a:xfrm>
            <a:off x="987552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udienceDot30"/>
          <p:cNvSpPr/>
          <p:nvPr/>
        </p:nvSpPr>
        <p:spPr>
          <a:xfrm>
            <a:off x="1028700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udienceDot31"/>
          <p:cNvSpPr/>
          <p:nvPr/>
        </p:nvSpPr>
        <p:spPr>
          <a:xfrm>
            <a:off x="10698480" y="250545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udienceDot32"/>
          <p:cNvSpPr/>
          <p:nvPr/>
        </p:nvSpPr>
        <p:spPr>
          <a:xfrm>
            <a:off x="781812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udienceDot33"/>
          <p:cNvSpPr/>
          <p:nvPr/>
        </p:nvSpPr>
        <p:spPr>
          <a:xfrm>
            <a:off x="822960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udienceDot34"/>
          <p:cNvSpPr/>
          <p:nvPr/>
        </p:nvSpPr>
        <p:spPr>
          <a:xfrm>
            <a:off x="864108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udienceDot35"/>
          <p:cNvSpPr/>
          <p:nvPr/>
        </p:nvSpPr>
        <p:spPr>
          <a:xfrm>
            <a:off x="905256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udienceDot36"/>
          <p:cNvSpPr/>
          <p:nvPr/>
        </p:nvSpPr>
        <p:spPr>
          <a:xfrm>
            <a:off x="946404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udienceDot37"/>
          <p:cNvSpPr/>
          <p:nvPr/>
        </p:nvSpPr>
        <p:spPr>
          <a:xfrm>
            <a:off x="987552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udienceDot38"/>
          <p:cNvSpPr/>
          <p:nvPr/>
        </p:nvSpPr>
        <p:spPr>
          <a:xfrm>
            <a:off x="1028700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udienceDot39"/>
          <p:cNvSpPr/>
          <p:nvPr/>
        </p:nvSpPr>
        <p:spPr>
          <a:xfrm>
            <a:off x="10698480" y="294436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udienceDot40"/>
          <p:cNvSpPr/>
          <p:nvPr/>
        </p:nvSpPr>
        <p:spPr>
          <a:xfrm>
            <a:off x="781812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udienceDot41"/>
          <p:cNvSpPr/>
          <p:nvPr/>
        </p:nvSpPr>
        <p:spPr>
          <a:xfrm>
            <a:off x="822960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udienceDot42"/>
          <p:cNvSpPr/>
          <p:nvPr/>
        </p:nvSpPr>
        <p:spPr>
          <a:xfrm>
            <a:off x="864108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udienceDot43"/>
          <p:cNvSpPr/>
          <p:nvPr/>
        </p:nvSpPr>
        <p:spPr>
          <a:xfrm>
            <a:off x="905256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udienceDot44"/>
          <p:cNvSpPr/>
          <p:nvPr/>
        </p:nvSpPr>
        <p:spPr>
          <a:xfrm>
            <a:off x="946404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udienceDot45"/>
          <p:cNvSpPr/>
          <p:nvPr/>
        </p:nvSpPr>
        <p:spPr>
          <a:xfrm>
            <a:off x="987552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udienceDot46"/>
          <p:cNvSpPr/>
          <p:nvPr/>
        </p:nvSpPr>
        <p:spPr>
          <a:xfrm>
            <a:off x="1028700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udienceDot47"/>
          <p:cNvSpPr/>
          <p:nvPr/>
        </p:nvSpPr>
        <p:spPr>
          <a:xfrm>
            <a:off x="10698480" y="3383280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udienceDot48"/>
          <p:cNvSpPr/>
          <p:nvPr/>
        </p:nvSpPr>
        <p:spPr>
          <a:xfrm>
            <a:off x="781812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udienceDot49"/>
          <p:cNvSpPr/>
          <p:nvPr/>
        </p:nvSpPr>
        <p:spPr>
          <a:xfrm>
            <a:off x="822960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udienceDot50"/>
          <p:cNvSpPr/>
          <p:nvPr/>
        </p:nvSpPr>
        <p:spPr>
          <a:xfrm>
            <a:off x="864108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udienceDot51"/>
          <p:cNvSpPr/>
          <p:nvPr/>
        </p:nvSpPr>
        <p:spPr>
          <a:xfrm>
            <a:off x="905256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udienceDot52"/>
          <p:cNvSpPr/>
          <p:nvPr/>
        </p:nvSpPr>
        <p:spPr>
          <a:xfrm>
            <a:off x="946404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udienceDot53"/>
          <p:cNvSpPr/>
          <p:nvPr/>
        </p:nvSpPr>
        <p:spPr>
          <a:xfrm>
            <a:off x="987552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udienceDot54"/>
          <p:cNvSpPr/>
          <p:nvPr/>
        </p:nvSpPr>
        <p:spPr>
          <a:xfrm>
            <a:off x="1028700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AudienceDot55"/>
          <p:cNvSpPr/>
          <p:nvPr/>
        </p:nvSpPr>
        <p:spPr>
          <a:xfrm>
            <a:off x="10698480" y="3822191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udienceDot56"/>
          <p:cNvSpPr/>
          <p:nvPr/>
        </p:nvSpPr>
        <p:spPr>
          <a:xfrm>
            <a:off x="781812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udienceDot57"/>
          <p:cNvSpPr/>
          <p:nvPr/>
        </p:nvSpPr>
        <p:spPr>
          <a:xfrm>
            <a:off x="822960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udienceDot58"/>
          <p:cNvSpPr/>
          <p:nvPr/>
        </p:nvSpPr>
        <p:spPr>
          <a:xfrm>
            <a:off x="864108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udienceDot59"/>
          <p:cNvSpPr/>
          <p:nvPr/>
        </p:nvSpPr>
        <p:spPr>
          <a:xfrm>
            <a:off x="905256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udienceDot60"/>
          <p:cNvSpPr/>
          <p:nvPr/>
        </p:nvSpPr>
        <p:spPr>
          <a:xfrm>
            <a:off x="946404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udienceDot61"/>
          <p:cNvSpPr/>
          <p:nvPr/>
        </p:nvSpPr>
        <p:spPr>
          <a:xfrm>
            <a:off x="987552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AudienceDot62"/>
          <p:cNvSpPr/>
          <p:nvPr/>
        </p:nvSpPr>
        <p:spPr>
          <a:xfrm>
            <a:off x="1028700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udienceDot63"/>
          <p:cNvSpPr/>
          <p:nvPr/>
        </p:nvSpPr>
        <p:spPr>
          <a:xfrm>
            <a:off x="10698480" y="4261104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udienceDot64"/>
          <p:cNvSpPr/>
          <p:nvPr/>
        </p:nvSpPr>
        <p:spPr>
          <a:xfrm>
            <a:off x="781812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udienceDot65"/>
          <p:cNvSpPr/>
          <p:nvPr/>
        </p:nvSpPr>
        <p:spPr>
          <a:xfrm>
            <a:off x="822960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udienceDot66"/>
          <p:cNvSpPr/>
          <p:nvPr/>
        </p:nvSpPr>
        <p:spPr>
          <a:xfrm>
            <a:off x="864108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udienceDot67"/>
          <p:cNvSpPr/>
          <p:nvPr/>
        </p:nvSpPr>
        <p:spPr>
          <a:xfrm>
            <a:off x="905256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udienceDot68"/>
          <p:cNvSpPr/>
          <p:nvPr/>
        </p:nvSpPr>
        <p:spPr>
          <a:xfrm>
            <a:off x="946404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udienceDot69"/>
          <p:cNvSpPr/>
          <p:nvPr/>
        </p:nvSpPr>
        <p:spPr>
          <a:xfrm>
            <a:off x="987552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udienceDot70"/>
          <p:cNvSpPr/>
          <p:nvPr/>
        </p:nvSpPr>
        <p:spPr>
          <a:xfrm>
            <a:off x="1028700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udienceDot71"/>
          <p:cNvSpPr/>
          <p:nvPr/>
        </p:nvSpPr>
        <p:spPr>
          <a:xfrm>
            <a:off x="10698480" y="4700016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udienceDot72"/>
          <p:cNvSpPr/>
          <p:nvPr/>
        </p:nvSpPr>
        <p:spPr>
          <a:xfrm>
            <a:off x="781812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udienceDot73"/>
          <p:cNvSpPr/>
          <p:nvPr/>
        </p:nvSpPr>
        <p:spPr>
          <a:xfrm>
            <a:off x="822960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udienceDot74"/>
          <p:cNvSpPr/>
          <p:nvPr/>
        </p:nvSpPr>
        <p:spPr>
          <a:xfrm>
            <a:off x="864108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udienceDot75"/>
          <p:cNvSpPr/>
          <p:nvPr/>
        </p:nvSpPr>
        <p:spPr>
          <a:xfrm>
            <a:off x="905256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udienceDot76"/>
          <p:cNvSpPr/>
          <p:nvPr/>
        </p:nvSpPr>
        <p:spPr>
          <a:xfrm>
            <a:off x="946404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udienceDot77"/>
          <p:cNvSpPr/>
          <p:nvPr/>
        </p:nvSpPr>
        <p:spPr>
          <a:xfrm>
            <a:off x="987552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udienceDot78"/>
          <p:cNvSpPr/>
          <p:nvPr/>
        </p:nvSpPr>
        <p:spPr>
          <a:xfrm>
            <a:off x="1028700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AudienceDot79"/>
          <p:cNvSpPr/>
          <p:nvPr/>
        </p:nvSpPr>
        <p:spPr>
          <a:xfrm>
            <a:off x="10698480" y="5138928"/>
            <a:ext cx="77724" cy="77724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МАСШТАБ</a:t>
            </a:r>
          </a:p>
        </p:txBody>
      </p:sp>
      <p:sp>
        <p:nvSpPr>
          <p:cNvPr id="10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1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Progress"/>
          <p:cNvSpPr/>
          <p:nvPr/>
        </p:nvSpPr>
        <p:spPr>
          <a:xfrm>
            <a:off x="594360" y="6318504"/>
            <a:ext cx="9000189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7795260" y="-1074420"/>
            <a:ext cx="5257800" cy="5257800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1080000">
            <a:off x="8138160" y="-731520"/>
            <a:ext cx="4572000" cy="457200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6780000">
            <a:off x="8366760" y="-502920"/>
            <a:ext cx="4114800" cy="411480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2480000">
            <a:off x="8801100" y="-68579"/>
            <a:ext cx="3246120" cy="324612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2573586" y="2236204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0874757" y="376583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8700642" y="305942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225356" y="82337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9924185" y="-70625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2098300" y="15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9601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700" b="1">
                <a:solidFill>
                  <a:srgbClr val="F2F4F8"/>
                </a:solidFill>
                <a:latin typeface="Arial"/>
              </a:defRPr>
            </a:pPr>
            <a:r>
              <a:t>Пользу нужно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700" b="1">
                <a:solidFill>
                  <a:srgbClr val="F2F4F8"/>
                </a:solidFill>
                <a:latin typeface="Arial"/>
              </a:defRPr>
            </a:pPr>
            <a:r>
              <a:t>измерить в работе.</a:t>
            </a:r>
          </a:p>
        </p:txBody>
      </p:sp>
      <p:sp>
        <p:nvSpPr>
          <p:cNvPr id="25" name="MetricMark0"/>
          <p:cNvSpPr/>
          <p:nvPr/>
        </p:nvSpPr>
        <p:spPr>
          <a:xfrm>
            <a:off x="777240" y="3291840"/>
            <a:ext cx="68580" cy="475488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_25"/>
          <p:cNvSpPr txBox="1"/>
          <p:nvPr/>
        </p:nvSpPr>
        <p:spPr>
          <a:xfrm>
            <a:off x="987552" y="32552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Время</a:t>
            </a:r>
          </a:p>
        </p:txBody>
      </p:sp>
      <p:sp>
        <p:nvSpPr>
          <p:cNvPr id="27" name="Text_26"/>
          <p:cNvSpPr txBox="1"/>
          <p:nvPr/>
        </p:nvSpPr>
        <p:spPr>
          <a:xfrm>
            <a:off x="987552" y="42062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Сопоставить типовые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операции до и после.</a:t>
            </a:r>
          </a:p>
        </p:txBody>
      </p:sp>
      <p:sp>
        <p:nvSpPr>
          <p:cNvPr id="28" name="MetricMark1"/>
          <p:cNvSpPr/>
          <p:nvPr/>
        </p:nvSpPr>
        <p:spPr>
          <a:xfrm>
            <a:off x="4572000" y="3291840"/>
            <a:ext cx="68580" cy="475488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_28"/>
          <p:cNvSpPr txBox="1"/>
          <p:nvPr/>
        </p:nvSpPr>
        <p:spPr>
          <a:xfrm>
            <a:off x="4782312" y="32552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Корректность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4782312" y="42062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Проверить расчёты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и учебные сценарии.</a:t>
            </a:r>
          </a:p>
        </p:txBody>
      </p:sp>
      <p:sp>
        <p:nvSpPr>
          <p:cNvPr id="31" name="MetricMark2"/>
          <p:cNvSpPr/>
          <p:nvPr/>
        </p:nvSpPr>
        <p:spPr>
          <a:xfrm>
            <a:off x="8366760" y="3291840"/>
            <a:ext cx="68580" cy="475488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_31"/>
          <p:cNvSpPr txBox="1"/>
          <p:nvPr/>
        </p:nvSpPr>
        <p:spPr>
          <a:xfrm>
            <a:off x="8577072" y="3255264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2F4F8"/>
                </a:solidFill>
                <a:latin typeface="Arial"/>
              </a:defRPr>
            </a:pPr>
            <a:r>
              <a:t>Доступность</a:t>
            </a:r>
          </a:p>
        </p:txBody>
      </p:sp>
      <p:sp>
        <p:nvSpPr>
          <p:cNvPr id="33" name="Text_32"/>
          <p:cNvSpPr txBox="1"/>
          <p:nvPr/>
        </p:nvSpPr>
        <p:spPr>
          <a:xfrm>
            <a:off x="8577072" y="42062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Проверить нужные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материалы без сети.</a:t>
            </a:r>
          </a:p>
        </p:txBody>
      </p:sp>
      <p:sp>
        <p:nvSpPr>
          <p:cNvPr id="34" name="Text_33"/>
          <p:cNvSpPr txBox="1"/>
          <p:nvPr/>
        </p:nvSpPr>
        <p:spPr>
          <a:xfrm>
            <a:off x="822960" y="57150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00" b="0">
                <a:solidFill>
                  <a:srgbClr val="A7B2C1"/>
                </a:solidFill>
                <a:latin typeface="Arial"/>
              </a:defRPr>
            </a:pPr>
            <a:r>
              <a:t>Денежный эффект — по данным пилота, без вымышленных цен ремонтов и потерь добычи.</a:t>
            </a:r>
          </a:p>
        </p:txBody>
      </p:sp>
      <p:sp>
        <p:nvSpPr>
          <p:cNvPr id="35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ЭФФЕКТ</a:t>
            </a:r>
          </a:p>
        </p:txBody>
      </p:sp>
      <p:sp>
        <p:nvSpPr>
          <p:cNvPr id="36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7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38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Progress"/>
          <p:cNvSpPr/>
          <p:nvPr/>
        </p:nvSpPr>
        <p:spPr>
          <a:xfrm>
            <a:off x="594360" y="6318504"/>
            <a:ext cx="9500200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7795260" y="-1074420"/>
            <a:ext cx="5257800" cy="5257800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2340000">
            <a:off x="8138160" y="-731520"/>
            <a:ext cx="4572000" cy="457200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8040000">
            <a:off x="8366760" y="-502920"/>
            <a:ext cx="4114800" cy="411480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3740000">
            <a:off x="8801100" y="-68579"/>
            <a:ext cx="3246120" cy="324612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12176026" y="2968417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10041862" y="378764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8265306" y="234902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622915" y="9116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0757080" y="-72806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2533636" y="71056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10058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800" b="1">
                <a:solidFill>
                  <a:srgbClr val="F2F4F8"/>
                </a:solidFill>
                <a:latin typeface="Arial"/>
              </a:defRPr>
            </a:pPr>
            <a:r>
              <a:t>Проверить.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800" b="1">
                <a:solidFill>
                  <a:srgbClr val="F2F4F8"/>
                </a:solidFill>
                <a:latin typeface="Arial"/>
              </a:defRPr>
            </a:pPr>
            <a:r>
              <a:t>Измерить. Решить.</a:t>
            </a:r>
          </a:p>
        </p:txBody>
      </p:sp>
      <p:sp>
        <p:nvSpPr>
          <p:cNvPr id="25" name="PilotNode0"/>
          <p:cNvSpPr/>
          <p:nvPr/>
        </p:nvSpPr>
        <p:spPr>
          <a:xfrm>
            <a:off x="822960" y="3685032"/>
            <a:ext cx="109728" cy="109728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lotLine0"/>
          <p:cNvSpPr/>
          <p:nvPr/>
        </p:nvSpPr>
        <p:spPr>
          <a:xfrm>
            <a:off x="932688" y="3730752"/>
            <a:ext cx="2724912" cy="10972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_26"/>
          <p:cNvSpPr txBox="1"/>
          <p:nvPr/>
        </p:nvSpPr>
        <p:spPr>
          <a:xfrm>
            <a:off x="822960" y="41605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500" b="1">
                <a:solidFill>
                  <a:srgbClr val="F2F4F8"/>
                </a:solidFill>
                <a:latin typeface="Arial"/>
              </a:defRPr>
            </a:pPr>
            <a:r>
              <a:t>Содержание</a:t>
            </a:r>
          </a:p>
        </p:txBody>
      </p:sp>
      <p:sp>
        <p:nvSpPr>
          <p:cNvPr id="28" name="Text_27"/>
          <p:cNvSpPr txBox="1"/>
          <p:nvPr/>
        </p:nvSpPr>
        <p:spPr>
          <a:xfrm>
            <a:off x="822960" y="49377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A7B2C1"/>
                </a:solidFill>
                <a:latin typeface="Arial"/>
              </a:defRPr>
            </a:pPr>
            <a:r>
              <a:t>Сверка специалистами</a:t>
            </a:r>
          </a:p>
        </p:txBody>
      </p:sp>
      <p:sp>
        <p:nvSpPr>
          <p:cNvPr id="29" name="PilotNode1"/>
          <p:cNvSpPr/>
          <p:nvPr/>
        </p:nvSpPr>
        <p:spPr>
          <a:xfrm>
            <a:off x="3657600" y="3685032"/>
            <a:ext cx="109728" cy="109728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otLine1"/>
          <p:cNvSpPr/>
          <p:nvPr/>
        </p:nvSpPr>
        <p:spPr>
          <a:xfrm>
            <a:off x="3767328" y="3730752"/>
            <a:ext cx="2724912" cy="10972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_30"/>
          <p:cNvSpPr txBox="1"/>
          <p:nvPr/>
        </p:nvSpPr>
        <p:spPr>
          <a:xfrm>
            <a:off x="3657600" y="41605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500" b="1">
                <a:solidFill>
                  <a:srgbClr val="F2F4F8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32" name="Text_31"/>
          <p:cNvSpPr txBox="1"/>
          <p:nvPr/>
        </p:nvSpPr>
        <p:spPr>
          <a:xfrm>
            <a:off x="3657600" y="49377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A7B2C1"/>
                </a:solidFill>
                <a:latin typeface="Arial"/>
              </a:defRPr>
            </a:pPr>
            <a:r>
              <a:t>Ограниченная группа</a:t>
            </a:r>
          </a:p>
        </p:txBody>
      </p:sp>
      <p:sp>
        <p:nvSpPr>
          <p:cNvPr id="33" name="PilotNode2"/>
          <p:cNvSpPr/>
          <p:nvPr/>
        </p:nvSpPr>
        <p:spPr>
          <a:xfrm>
            <a:off x="6492240" y="3685032"/>
            <a:ext cx="109728" cy="109728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ilotLine2"/>
          <p:cNvSpPr/>
          <p:nvPr/>
        </p:nvSpPr>
        <p:spPr>
          <a:xfrm>
            <a:off x="6601968" y="3730752"/>
            <a:ext cx="2724912" cy="10972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_34"/>
          <p:cNvSpPr txBox="1"/>
          <p:nvPr/>
        </p:nvSpPr>
        <p:spPr>
          <a:xfrm>
            <a:off x="6492240" y="41605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500" b="1">
                <a:solidFill>
                  <a:srgbClr val="F2F4F8"/>
                </a:solidFill>
                <a:latin typeface="Arial"/>
              </a:defRPr>
            </a:pPr>
            <a:r>
              <a:t>Измерения</a:t>
            </a:r>
          </a:p>
        </p:txBody>
      </p:sp>
      <p:sp>
        <p:nvSpPr>
          <p:cNvPr id="36" name="Text_35"/>
          <p:cNvSpPr txBox="1"/>
          <p:nvPr/>
        </p:nvSpPr>
        <p:spPr>
          <a:xfrm>
            <a:off x="6492240" y="49377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A7B2C1"/>
                </a:solidFill>
                <a:latin typeface="Arial"/>
              </a:defRPr>
            </a:pPr>
            <a:r>
              <a:t>Единые задания</a:t>
            </a:r>
          </a:p>
        </p:txBody>
      </p:sp>
      <p:sp>
        <p:nvSpPr>
          <p:cNvPr id="37" name="PilotNode3"/>
          <p:cNvSpPr/>
          <p:nvPr/>
        </p:nvSpPr>
        <p:spPr>
          <a:xfrm>
            <a:off x="9326880" y="3685032"/>
            <a:ext cx="109728" cy="109728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_37"/>
          <p:cNvSpPr txBox="1"/>
          <p:nvPr/>
        </p:nvSpPr>
        <p:spPr>
          <a:xfrm>
            <a:off x="9326880" y="41605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500" b="1">
                <a:solidFill>
                  <a:srgbClr val="F2F4F8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39" name="Text_38"/>
          <p:cNvSpPr txBox="1"/>
          <p:nvPr/>
        </p:nvSpPr>
        <p:spPr>
          <a:xfrm>
            <a:off x="9326880" y="49377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 b="0">
                <a:solidFill>
                  <a:srgbClr val="A7B2C1"/>
                </a:solidFill>
                <a:latin typeface="Arial"/>
              </a:defRPr>
            </a:pPr>
            <a:r>
              <a:t>По результатам</a:t>
            </a:r>
          </a:p>
        </p:txBody>
      </p:sp>
      <p:sp>
        <p:nvSpPr>
          <p:cNvPr id="40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ПРЕДЛОЖЕНИЕ</a:t>
            </a:r>
          </a:p>
        </p:txBody>
      </p:sp>
      <p:sp>
        <p:nvSpPr>
          <p:cNvPr id="41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42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43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Progress"/>
          <p:cNvSpPr/>
          <p:nvPr/>
        </p:nvSpPr>
        <p:spPr>
          <a:xfrm>
            <a:off x="594360" y="6318504"/>
            <a:ext cx="10000210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1348740" y="-1303019"/>
            <a:ext cx="9464040" cy="9464040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3600000">
            <a:off x="1965960" y="-685800"/>
            <a:ext cx="8229600" cy="8229600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9300000">
            <a:off x="2377440" y="-274319"/>
            <a:ext cx="7406640" cy="740664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5000000">
            <a:off x="3159252" y="507492"/>
            <a:ext cx="5843016" cy="584301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8113471" y="6967832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3998671" y="696783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1941271" y="340431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3998671" y="-15921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8113471" y="-15921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0170871" y="340431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1828800" y="1828800"/>
            <a:ext cx="9144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5800" b="1">
                <a:solidFill>
                  <a:srgbClr val="F2F4F8"/>
                </a:solidFill>
                <a:latin typeface="Arial"/>
              </a:defRPr>
            </a:pPr>
            <a:r>
              <a:t>Знания рядом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5800" b="1">
                <a:solidFill>
                  <a:srgbClr val="F2F4F8"/>
                </a:solidFill>
                <a:latin typeface="Arial"/>
              </a:defRPr>
            </a:pPr>
            <a:r>
              <a:t>с решением.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1920240" y="4206240"/>
            <a:ext cx="8869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6C649"/>
                </a:solidFill>
                <a:latin typeface="Arial"/>
              </a:defRPr>
            </a:pPr>
            <a:r>
              <a:t>Согласовать проверку содержания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800" b="1">
                <a:solidFill>
                  <a:srgbClr val="F6C649"/>
                </a:solidFill>
                <a:latin typeface="Arial"/>
              </a:defRPr>
            </a:pPr>
            <a:r>
              <a:t>и ограниченный пилот.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1965960" y="54864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 b="1">
                <a:solidFill>
                  <a:srgbClr val="A7B2C1"/>
                </a:solidFill>
                <a:latin typeface="Arial"/>
              </a:defRPr>
            </a:pPr>
            <a:r>
              <a:rPr spc="150"/>
              <a:t>САНЫЧ-6</a:t>
            </a:r>
          </a:p>
        </p:txBody>
      </p:sp>
      <p:sp>
        <p:nvSpPr>
          <p:cNvPr id="27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САНЫЧ-6</a:t>
            </a:r>
          </a:p>
        </p:txBody>
      </p:sp>
      <p:sp>
        <p:nvSpPr>
          <p:cNvPr id="28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9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30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rogress"/>
          <p:cNvSpPr/>
          <p:nvPr/>
        </p:nvSpPr>
        <p:spPr>
          <a:xfrm>
            <a:off x="594360" y="6318504"/>
            <a:ext cx="10500221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advClick="1" p14:dur="1150">
        <p159:morph option="byObject"/>
      </p:transition>
    </mc:Choice>
    <mc:Fallback>
      <p:transition advClick="1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486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056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626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9657047" y="6176394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993609" y="515399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6547313" y="233619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8764454" y="54078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427892" y="1563185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1874188" y="438098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7315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400" b="1">
                <a:solidFill>
                  <a:srgbClr val="F2F4F8"/>
                </a:solidFill>
                <a:latin typeface="Arial"/>
              </a:defRPr>
            </a:pPr>
            <a:r>
              <a:t>Из рабочих задач —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4400" b="1">
                <a:solidFill>
                  <a:srgbClr val="F2F4F8"/>
                </a:solidFill>
                <a:latin typeface="Arial"/>
              </a:defRPr>
            </a:pPr>
            <a:r>
              <a:t>в рабочий инструмент.</a:t>
            </a:r>
          </a:p>
        </p:txBody>
      </p:sp>
      <p:sp>
        <p:nvSpPr>
          <p:cNvPr id="25" name="!!Subline"/>
          <p:cNvSpPr txBox="1"/>
          <p:nvPr/>
        </p:nvSpPr>
        <p:spPr>
          <a:xfrm>
            <a:off x="713232" y="347472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Автор: [ФИО]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[Должность · номер цеха]</a:t>
            </a:r>
          </a:p>
        </p:txBody>
      </p:sp>
      <p:sp>
        <p:nvSpPr>
          <p:cNvPr id="26" name="Text_25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100" b="1">
                <a:solidFill>
                  <a:srgbClr val="F6C649"/>
                </a:solidFill>
                <a:latin typeface="Arial"/>
              </a:defRPr>
            </a:pPr>
            <a:r>
              <a:t>ЗАПАСНОЙ СЛАЙД · ДАННЫЕ АВТОРА УТОЧНЯЮТСЯ</a:t>
            </a:r>
          </a:p>
        </p:txBody>
      </p:sp>
      <p:sp>
        <p:nvSpPr>
          <p:cNvPr id="27" name="PortraitPlaceholder"/>
          <p:cNvSpPr/>
          <p:nvPr/>
        </p:nvSpPr>
        <p:spPr>
          <a:xfrm>
            <a:off x="8686800" y="1188720"/>
            <a:ext cx="256032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 w="1270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_27"/>
          <p:cNvSpPr txBox="1"/>
          <p:nvPr/>
        </p:nvSpPr>
        <p:spPr>
          <a:xfrm>
            <a:off x="9052560" y="30175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Портрет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300" b="0">
                <a:solidFill>
                  <a:srgbClr val="A7B2C1"/>
                </a:solidFill>
                <a:latin typeface="Arial"/>
              </a:defRPr>
            </a:pPr>
            <a:r>
              <a:t>автора</a:t>
            </a:r>
          </a:p>
        </p:txBody>
      </p:sp>
      <p:sp>
        <p:nvSpPr>
          <p:cNvPr id="29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АВТОР</a:t>
            </a:r>
          </a:p>
        </p:txBody>
      </p:sp>
      <p:sp>
        <p:nvSpPr>
          <p:cNvPr id="30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1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32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Progress"/>
          <p:cNvSpPr/>
          <p:nvPr/>
        </p:nvSpPr>
        <p:spPr>
          <a:xfrm>
            <a:off x="594360" y="6318504"/>
            <a:ext cx="11000232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612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182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752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8617594" y="6149175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497455" y="424019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7090612" y="1449609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9803908" y="568006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1924046" y="2476987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1330889" y="5267572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10058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300" b="1">
                <a:solidFill>
                  <a:srgbClr val="F2F4F8"/>
                </a:solidFill>
                <a:latin typeface="Arial"/>
              </a:defRPr>
            </a:pPr>
            <a:r>
              <a:t>Расчёты и проверка</a:t>
            </a:r>
          </a:p>
        </p:txBody>
      </p:sp>
      <p:sp>
        <p:nvSpPr>
          <p:cNvPr id="25" name="Point0"/>
          <p:cNvSpPr/>
          <p:nvPr/>
        </p:nvSpPr>
        <p:spPr>
          <a:xfrm>
            <a:off x="731520" y="301752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intText0"/>
          <p:cNvSpPr txBox="1"/>
          <p:nvPr/>
        </p:nvSpPr>
        <p:spPr>
          <a:xfrm>
            <a:off x="914400" y="3003803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200" b="0">
                <a:solidFill>
                  <a:srgbClr val="F2F4F8"/>
                </a:solidFill>
                <a:latin typeface="Arial"/>
              </a:defRPr>
            </a:pPr>
            <a:r>
              <a:t>Дебит: Q = 86,4 × V / t  (литры и секунды)</a:t>
            </a:r>
          </a:p>
        </p:txBody>
      </p:sp>
      <p:sp>
        <p:nvSpPr>
          <p:cNvPr id="27" name="Point1"/>
          <p:cNvSpPr/>
          <p:nvPr/>
        </p:nvSpPr>
        <p:spPr>
          <a:xfrm>
            <a:off x="731520" y="36576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intText1"/>
          <p:cNvSpPr txBox="1"/>
          <p:nvPr/>
        </p:nvSpPr>
        <p:spPr>
          <a:xfrm>
            <a:off x="914400" y="3643883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200" b="0">
                <a:solidFill>
                  <a:srgbClr val="F2F4F8"/>
                </a:solidFill>
                <a:latin typeface="Arial"/>
              </a:defRPr>
            </a:pPr>
            <a:r>
              <a:t>100 л / 60 с → 144 м³/сут</a:t>
            </a:r>
          </a:p>
        </p:txBody>
      </p:sp>
      <p:sp>
        <p:nvSpPr>
          <p:cNvPr id="29" name="Point2"/>
          <p:cNvSpPr/>
          <p:nvPr/>
        </p:nvSpPr>
        <p:spPr>
          <a:xfrm>
            <a:off x="731520" y="4297679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intText2"/>
          <p:cNvSpPr txBox="1"/>
          <p:nvPr/>
        </p:nvSpPr>
        <p:spPr>
          <a:xfrm>
            <a:off x="914400" y="4283964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200" b="0">
                <a:solidFill>
                  <a:srgbClr val="F2F4F8"/>
                </a:solidFill>
                <a:latin typeface="Arial"/>
              </a:defRPr>
            </a:pPr>
            <a:r>
              <a:t>100 л / 1200 с → 7,2 м³/сут</a:t>
            </a:r>
          </a:p>
        </p:txBody>
      </p:sp>
      <p:sp>
        <p:nvSpPr>
          <p:cNvPr id="31" name="Point3"/>
          <p:cNvSpPr/>
          <p:nvPr/>
        </p:nvSpPr>
        <p:spPr>
          <a:xfrm>
            <a:off x="731520" y="4937759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intText3"/>
          <p:cNvSpPr txBox="1"/>
          <p:nvPr/>
        </p:nvSpPr>
        <p:spPr>
          <a:xfrm>
            <a:off x="914400" y="4924044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200" b="0">
                <a:solidFill>
                  <a:srgbClr val="F2F4F8"/>
                </a:solidFill>
                <a:latin typeface="Arial"/>
              </a:defRPr>
            </a:pPr>
            <a:r>
              <a:t>Отчёт PWA v3: 58 тестов, 479 эталонных наборов, 6 проверок сборки</a:t>
            </a:r>
          </a:p>
        </p:txBody>
      </p:sp>
      <p:sp>
        <p:nvSpPr>
          <p:cNvPr id="33" name="Text_32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00" b="0">
                <a:solidFill>
                  <a:srgbClr val="A7B2C1"/>
                </a:solidFill>
                <a:latin typeface="Arial"/>
              </a:defRPr>
            </a:pPr>
            <a:r>
              <a:t>Ранее сохранённые результаты; не означают испытания реального iPhone или Android-сборки.</a:t>
            </a:r>
          </a:p>
        </p:txBody>
      </p:sp>
      <p:sp>
        <p:nvSpPr>
          <p:cNvPr id="34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МАТЕРИАЛЫ ДЛЯ ВОПРОСОВ</a:t>
            </a:r>
          </a:p>
        </p:txBody>
      </p:sp>
      <p:sp>
        <p:nvSpPr>
          <p:cNvPr id="35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6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37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rogress"/>
          <p:cNvSpPr/>
          <p:nvPr/>
        </p:nvSpPr>
        <p:spPr>
          <a:xfrm>
            <a:off x="594360" y="6318504"/>
            <a:ext cx="11000232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5954572" y="102412"/>
            <a:ext cx="6561734" cy="6561734"/>
          </a:xfrm>
          <a:prstGeom prst="ellipse">
            <a:avLst/>
          </a:prstGeom>
          <a:ln>
            <a:noFill/>
          </a:ln>
          <a:gradFill rotWithShape="1">
            <a:gsLst>
              <a:gs pos="0">
                <a:srgbClr val="795C21">
                  <a:alpha val="26000"/>
                </a:srgbClr>
              </a:gs>
              <a:gs pos="48000">
                <a:srgbClr val="26303B">
                  <a:alpha val="12000"/>
                </a:srgbClr>
              </a:gs>
              <a:gs pos="100000">
                <a:srgbClr val="090D14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it0"/>
          <p:cNvSpPr/>
          <p:nvPr/>
        </p:nvSpPr>
        <p:spPr>
          <a:xfrm rot="7380000">
            <a:off x="6382512" y="530352"/>
            <a:ext cx="5705856" cy="5705856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Orbit1"/>
          <p:cNvSpPr/>
          <p:nvPr/>
        </p:nvSpPr>
        <p:spPr>
          <a:xfrm rot="13080000">
            <a:off x="6667804" y="815644"/>
            <a:ext cx="5135270" cy="5135270"/>
          </a:xfrm>
          <a:prstGeom prst="arc">
            <a:avLst/>
          </a:prstGeom>
          <a:noFill/>
          <a:ln w="16510">
            <a:solidFill>
              <a:srgbClr val="F6C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Orbit2"/>
          <p:cNvSpPr/>
          <p:nvPr/>
        </p:nvSpPr>
        <p:spPr>
          <a:xfrm rot="18780000">
            <a:off x="7209861" y="1357701"/>
            <a:ext cx="4051157" cy="4051157"/>
          </a:xfrm>
          <a:prstGeom prst="arc">
            <a:avLst/>
          </a:prstGeom>
          <a:noFill/>
          <a:ln w="11430">
            <a:solidFill>
              <a:srgbClr val="2A3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rbitDot0"/>
          <p:cNvSpPr/>
          <p:nvPr/>
        </p:nvSpPr>
        <p:spPr>
          <a:xfrm>
            <a:off x="7656935" y="5751257"/>
            <a:ext cx="49377" cy="49377"/>
          </a:xfrm>
          <a:prstGeom prst="ellipse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OrbitDot1"/>
          <p:cNvSpPr/>
          <p:nvPr/>
        </p:nvSpPr>
        <p:spPr>
          <a:xfrm>
            <a:off x="6361733" y="3209280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OrbitDot2"/>
          <p:cNvSpPr/>
          <p:nvPr/>
        </p:nvSpPr>
        <p:spPr>
          <a:xfrm>
            <a:off x="7915548" y="816613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OrbitDot3"/>
          <p:cNvSpPr/>
          <p:nvPr/>
        </p:nvSpPr>
        <p:spPr>
          <a:xfrm>
            <a:off x="10764567" y="965924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OrbitDot4"/>
          <p:cNvSpPr/>
          <p:nvPr/>
        </p:nvSpPr>
        <p:spPr>
          <a:xfrm>
            <a:off x="12059769" y="3507901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OrbitDot5"/>
          <p:cNvSpPr/>
          <p:nvPr/>
        </p:nvSpPr>
        <p:spPr>
          <a:xfrm>
            <a:off x="10505953" y="5900568"/>
            <a:ext cx="49377" cy="49377"/>
          </a:xfrm>
          <a:prstGeom prst="ellipse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anel0"/>
          <p:cNvSpPr/>
          <p:nvPr/>
        </p:nvSpPr>
        <p:spPr>
          <a:xfrm>
            <a:off x="1280160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!!PanelImage0" descr="manu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030200" y="1828800"/>
            <a:ext cx="1737360" cy="3749039"/>
          </a:xfrm>
          <a:prstGeom prst="rect">
            <a:avLst/>
          </a:prstGeom>
        </p:spPr>
      </p:pic>
      <p:sp>
        <p:nvSpPr>
          <p:cNvPr id="14" name="!!PanelTitle0"/>
          <p:cNvSpPr txBox="1"/>
          <p:nvPr/>
        </p:nvSpPr>
        <p:spPr>
          <a:xfrm>
            <a:off x="1300276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5" name="!!Panel1"/>
          <p:cNvSpPr/>
          <p:nvPr/>
        </p:nvSpPr>
        <p:spPr>
          <a:xfrm>
            <a:off x="1527048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anelImage1" descr="p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99080" y="1828800"/>
            <a:ext cx="1737360" cy="3749039"/>
          </a:xfrm>
          <a:prstGeom prst="rect">
            <a:avLst/>
          </a:prstGeom>
        </p:spPr>
      </p:pic>
      <p:sp>
        <p:nvSpPr>
          <p:cNvPr id="17" name="!!PanelTitle1"/>
          <p:cNvSpPr txBox="1"/>
          <p:nvPr/>
        </p:nvSpPr>
        <p:spPr>
          <a:xfrm>
            <a:off x="1547164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18" name="!!Panel2"/>
          <p:cNvSpPr/>
          <p:nvPr/>
        </p:nvSpPr>
        <p:spPr>
          <a:xfrm>
            <a:off x="1773936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!!PanelImage2" descr="ram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967960" y="1828800"/>
            <a:ext cx="1737360" cy="3749039"/>
          </a:xfrm>
          <a:prstGeom prst="rect">
            <a:avLst/>
          </a:prstGeom>
        </p:spPr>
      </p:pic>
      <p:sp>
        <p:nvSpPr>
          <p:cNvPr id="20" name="!!PanelTitle2"/>
          <p:cNvSpPr txBox="1"/>
          <p:nvPr/>
        </p:nvSpPr>
        <p:spPr>
          <a:xfrm>
            <a:off x="17940527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1" name="!!Panel3"/>
          <p:cNvSpPr/>
          <p:nvPr/>
        </p:nvSpPr>
        <p:spPr>
          <a:xfrm>
            <a:off x="20208240" y="1188720"/>
            <a:ext cx="2194560" cy="4480560"/>
          </a:xfrm>
          <a:prstGeom prst="roundRect">
            <a:avLst>
              <a:gd name="adj" fmla="val 6000"/>
            </a:avLst>
          </a:prstGeom>
          <a:solidFill>
            <a:srgbClr val="131E2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!!PanelImage3" descr="vn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436840" y="1828800"/>
            <a:ext cx="1737360" cy="3749039"/>
          </a:xfrm>
          <a:prstGeom prst="rect">
            <a:avLst/>
          </a:prstGeom>
        </p:spPr>
      </p:pic>
      <p:sp>
        <p:nvSpPr>
          <p:cNvPr id="23" name="!!PanelTitle3"/>
          <p:cNvSpPr txBox="1"/>
          <p:nvPr/>
        </p:nvSpPr>
        <p:spPr>
          <a:xfrm>
            <a:off x="20409408" y="1307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1">
                <a:solidFill>
                  <a:srgbClr val="F6C649"/>
                </a:solidFill>
                <a:latin typeface="Arial"/>
              </a:defRPr>
            </a:pPr>
          </a:p>
        </p:txBody>
      </p:sp>
      <p:sp>
        <p:nvSpPr>
          <p:cNvPr id="24" name="!!Headline"/>
          <p:cNvSpPr txBox="1"/>
          <p:nvPr/>
        </p:nvSpPr>
        <p:spPr>
          <a:xfrm>
            <a:off x="685800" y="960120"/>
            <a:ext cx="10058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4300" b="1">
                <a:solidFill>
                  <a:srgbClr val="F2F4F8"/>
                </a:solidFill>
                <a:latin typeface="Arial"/>
              </a:defRPr>
            </a:pPr>
            <a:r>
              <a:t>Источники и границы</a:t>
            </a:r>
          </a:p>
        </p:txBody>
      </p:sp>
      <p:sp>
        <p:nvSpPr>
          <p:cNvPr id="25" name="Point0"/>
          <p:cNvSpPr/>
          <p:nvPr/>
        </p:nvSpPr>
        <p:spPr>
          <a:xfrm>
            <a:off x="731520" y="29718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ointText0"/>
          <p:cNvSpPr txBox="1"/>
          <p:nvPr/>
        </p:nvSpPr>
        <p:spPr>
          <a:xfrm>
            <a:off x="914400" y="2958084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ВНР: П1-05.01 М-0009 ЮЛ-099, версия 7; реквизиты сверить перед пилотом</a:t>
            </a:r>
          </a:p>
        </p:txBody>
      </p:sp>
      <p:sp>
        <p:nvSpPr>
          <p:cNvPr id="27" name="Point1"/>
          <p:cNvSpPr/>
          <p:nvPr/>
        </p:nvSpPr>
        <p:spPr>
          <a:xfrm>
            <a:off x="731520" y="36576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intText1"/>
          <p:cNvSpPr txBox="1"/>
          <p:nvPr/>
        </p:nvSpPr>
        <p:spPr>
          <a:xfrm>
            <a:off x="914400" y="3643884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ПБ и ОТ, пять томов: название со слов автора; полнота переноса не подтверждена</a:t>
            </a:r>
          </a:p>
        </p:txBody>
      </p:sp>
      <p:sp>
        <p:nvSpPr>
          <p:cNvPr id="29" name="Point2"/>
          <p:cNvSpPr/>
          <p:nvPr/>
        </p:nvSpPr>
        <p:spPr>
          <a:xfrm>
            <a:off x="731520" y="43434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ointText2"/>
          <p:cNvSpPr txBox="1"/>
          <p:nvPr/>
        </p:nvSpPr>
        <p:spPr>
          <a:xfrm>
            <a:off x="914400" y="4329683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Учебные материалы RosPump и «Качество данных» — контекст, не интеграция</a:t>
            </a:r>
          </a:p>
        </p:txBody>
      </p:sp>
      <p:sp>
        <p:nvSpPr>
          <p:cNvPr id="31" name="Point3"/>
          <p:cNvSpPr/>
          <p:nvPr/>
        </p:nvSpPr>
        <p:spPr>
          <a:xfrm>
            <a:off x="731520" y="5029200"/>
            <a:ext cx="32004" cy="265176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intText3"/>
          <p:cNvSpPr txBox="1"/>
          <p:nvPr/>
        </p:nvSpPr>
        <p:spPr>
          <a:xfrm>
            <a:off x="914400" y="5015483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 b="0">
                <a:solidFill>
                  <a:srgbClr val="F2F4F8"/>
                </a:solidFill>
                <a:latin typeface="Arial"/>
              </a:defRPr>
            </a:pPr>
            <a:r>
              <a:t>Приложение не управляет оборудованием и не заменяет действующие инструкции</a:t>
            </a:r>
          </a:p>
        </p:txBody>
      </p:sp>
      <p:sp>
        <p:nvSpPr>
          <p:cNvPr id="33" name="Text_32"/>
          <p:cNvSpPr txBox="1"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200" b="0">
                <a:solidFill>
                  <a:srgbClr val="A7B2C1"/>
                </a:solidFill>
                <a:latin typeface="Arial"/>
              </a:defRPr>
            </a:pPr>
            <a:r>
              <a:t>Реальный iPhone/Safari и воспроизведение Morph в Microsoft PowerPoint здесь не испытаны.</a:t>
            </a:r>
          </a:p>
        </p:txBody>
      </p:sp>
      <p:sp>
        <p:nvSpPr>
          <p:cNvPr id="34" name="!!Section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1">
                <a:solidFill>
                  <a:srgbClr val="F6C649"/>
                </a:solidFill>
                <a:latin typeface="Arial"/>
              </a:defRPr>
            </a:pPr>
            <a:r>
              <a:rPr spc="80"/>
              <a:t>САНЫЧ-6  /  МАТЕРИАЛЫ ДЛЯ ВОПРОСОВ</a:t>
            </a:r>
          </a:p>
        </p:txBody>
      </p:sp>
      <p:sp>
        <p:nvSpPr>
          <p:cNvPr id="35" name="!!Footer"/>
          <p:cNvSpPr txBox="1"/>
          <p:nvPr/>
        </p:nvSpPr>
        <p:spPr>
          <a:xfrm>
            <a:off x="594360" y="651052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800" b="0">
                <a:solidFill>
                  <a:srgbClr val="A7B2C1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36" name="PageNumber"/>
          <p:cNvSpPr txBox="1"/>
          <p:nvPr/>
        </p:nvSpPr>
        <p:spPr>
          <a:xfrm>
            <a:off x="1101852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900" b="0">
                <a:solidFill>
                  <a:srgbClr val="F6C649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37" name="!!Baseline"/>
          <p:cNvSpPr/>
          <p:nvPr/>
        </p:nvSpPr>
        <p:spPr>
          <a:xfrm>
            <a:off x="594360" y="6318504"/>
            <a:ext cx="11000232" cy="7315"/>
          </a:xfrm>
          <a:prstGeom prst="rect">
            <a:avLst/>
          </a:prstGeom>
          <a:solidFill>
            <a:srgbClr val="2A3C51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rogress"/>
          <p:cNvSpPr/>
          <p:nvPr/>
        </p:nvSpPr>
        <p:spPr>
          <a:xfrm>
            <a:off x="594360" y="6318504"/>
            <a:ext cx="11000232" cy="14630"/>
          </a:xfrm>
          <a:prstGeom prst="rect">
            <a:avLst/>
          </a:prstGeom>
          <a:solidFill>
            <a:srgbClr val="F6C649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