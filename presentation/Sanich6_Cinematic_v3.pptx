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Вступление: я представляю работающий инструмент, созданный вокруг реальных задач оператора нефтедобычи. Предлагается пилот, а не уже утверждённое корпоративное внедрение. Имя, должность и номер цеха автора уточняются. Ориентир выступления: 10–12 минут, приложения — для вопросов.</a:t>
            </a:r>
          </a:p>
          <a:p/>
          <a:p>
            <a:r>
              <a:t>Режиссура: opening.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Вступление: я представляю работающий инструмент, созданный вокруг реальных задач оператора нефтедобычи. Предлагается пилот, а не уже утверждённое корпоративное внедрение. Имя, должность и номер цеха автора уточняются. Ориентир выступления: 10–12 минут, приложения — для вопросов.</a:t>
            </a:r>
          </a:p>
          <a:p/>
          <a:p>
            <a:r>
              <a:t>Режиссура: reveal.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 — ориентировочная аудитория, а не число уже внедрённых пользователей и не число одновременно активных операторов. Начинать предлагается с небольшой согласованной группы; размер пилота определяется руководством.</a:t>
            </a:r>
          </a:p>
          <a:p/>
          <a:p>
            <a:r>
              <a:t>Режиссура: audience.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Основной акцент — поддержка правильных действий. Приложение не управляет станцией, не измеряет реальные параметры автоматически и не ставит программные блокировки на СУ. Снижение риска — гипотеза пилота, а не измеренный результат.</a:t>
            </a:r>
          </a:p>
          <a:p/>
          <a:p>
            <a:r>
              <a:t>Режиссура: riskmap.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Пример автора: слишком быстрый разгон может сопровождаться ростом количества взвешенных частиц и износом рабочих органов УЭЦН. Применимость причинной цепочки к конкретным скважинам и оборудованию подтверждает технологическая служба. Приложение рассчитывает темп и длительность по введённым параметрам, помогает пройти инструкцию. Уставки не назначает и отказ гарантированно не предотвращает.</a:t>
            </a:r>
          </a:p>
          <a:p/>
          <a:p>
            <a:r>
              <a:t>Режиссура: ramp.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Пример автора: неверная последовательность действий при настройке РИЧ может привести к переходу в УПР, остановке, сливу столба жидкости НКТ и времени на повторный вывод в нужный режим. Не каждый УПР означает один и тот же слив: последствия зависят от оборудования и режима. Сценарий требует технической проверки. Заявлять измеренную экономию добычи пока нельзя.</a:t>
            </a:r>
          </a:p>
          <a:p/>
          <a:p>
            <a:r>
              <a:t>Режиссура: rich.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 рабочему сценарию автора контроль притока нужен ежедневно при выводе на режим; обязательную периодичность и критерии сверить с конкретными пунктами действующих документов. Охлаждение ПЭД зависит не только от одной расчётной величины. Формула Qфакт = Qном × (Iраб/Iном)^2 перенесена из Android. Не обещать, что один калькулятор гарантирует отсутствие отказа. На скриншоте — пример интерфейса, не техническое назначение для реальной скважины.</a:t>
            </a:r>
          </a:p>
          <a:p/>
          <a:p>
            <a:r>
              <a:t>Режиссура: cooling.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 распространять 7–9 замеров на каждого из 250 пользователей ежедневно. Это рабочий сценарий активного дня. Для демонстрации: 100 литров за 60 секунд = 144 м³/сут, математический пример. Измерение объёма выполняет оператор; приложение не получает показания расходомера автоматически.</a:t>
            </a:r>
          </a:p>
          <a:p/>
          <a:p>
            <a:r>
              <a:t>Режиссура: manual.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 распространять 7–9 замеров на каждого из 250 пользователей ежедневно. Это рабочий сценарий активного дня. Для демонстрации: 100 литров за 60 секунд = 144 м³/сут, математический пример. Измерение объёма выполняет оператор; приложение не получает показания расходомера автоматически. Здесь увеличивается только математический пример результата: 100 л за 60 с = 144 м³/сут. Это не фактические показатели скважины.</a:t>
            </a:r>
          </a:p>
          <a:p/>
          <a:p>
            <a:r>
              <a:t>Режиссура: result.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Демонстрационный интервал: начало 23:50 предыдущего дня, конец 00:10 следующего. Продолжительность 20 минут; при 100 л результат 7,2 м³/сут. Оба значения — математический пример. Календарные даты выбираются явно.</a:t>
            </a:r>
          </a:p>
          <a:p/>
          <a:p>
            <a:r>
              <a:t>Режиссура: interval.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Показать переключение между разделами и возврат к секундомеру. Состояние таймера сохраняется, при повторном открытии учитывается прошедшее время. На iPhone нет произвольного окна поверх других приложений; мини-панель находится внутри PWA. История локальная, не является общим корпоративным журналом.</a:t>
            </a:r>
          </a:p>
          <a:p/>
          <a:p>
            <a:r>
              <a:t>Режиссура: timer.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Показать быстрый поиск и открытие закладки. Для офлайна предварительно загрузить документ при наличии интернета. Браузер может очистить данные при нехватке памяти или ручной очистке. Поиск помогает найти материал, но не заменяет проверку его актуальности. Не смешивать 207 страниц ВНР с отдельными пятью томами инструкций ПБиОТ.</a:t>
            </a:r>
          </a:p>
          <a:p/>
          <a:p>
            <a:r>
              <a:t>Режиссура: document.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Показать быстрый поиск и открытие закладки. Для офлайна предварительно загрузить документ при наличии интернета. Браузер может очистить данные при нехватке памяти или ручной очистке. Поиск помогает найти материал, но не заменяет проверку его актуальности. Не смешивать 207 страниц ВНР с отдельными пятью томами инструкций ПБиОТ.</a:t>
            </a:r>
          </a:p>
          <a:p/>
          <a:p>
            <a:r>
              <a:t>Режиссура: bookmark.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Отпайка ТМПН связана с выбором выходного напряжения трансформатора. Расчёт учитывает напряжение и ток двигателя, длину и сечение кабеля, материал и температуру; для соответствующего варианта — частоты и фильтр. Цель — уменьшить риск арифметических пропусков и показать зависимость результата от исходных параметров. Результат проверяют по документации, допустимым режимам и полномочиям персонала. Приложение не является разрешением на переключение.</a:t>
            </a:r>
          </a:p>
          <a:p/>
          <a:p>
            <a:r>
              <a:t>Режиссура: tap.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Объяснить пользу для наставничества: можно показать конкретный сценарий и вместе разобрать исходные данные. Содержание помощника ещё требует производственной проверки, в исходных материалах встречаются авторские пометки о черновых разделах. Приложение не заменяет обучение, проверку знаний и утверждённые инструкции.</a:t>
            </a:r>
          </a:p>
          <a:p/>
          <a:p>
            <a:r>
              <a:t>Режиссура: learning.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дать обзор, не читать каждую формулу. Дополнительно имеются потенциал скважины и коэффициент двигателя 2А. Электронный уровень исключён из PWA по согласованному решению и не выдаётся за готовую функцию.</a:t>
            </a:r>
          </a:p>
          <a:p/>
          <a:p>
            <a:r>
              <a:t>Режиссура: productmap.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новых PDF изучены как дополнительные учебные материалы. «Подбор УЭЦН к скважине», PDF стр. 3 и 5: сбор и анализ истории, проверка исходных данных и сопоставление фактических параметров с расчётными. «Качество данных», PDF стр. 15–17: ошибки исходных данных и сопоставления оборудования; стр. 39 — проверка частоты и рабочего тока. Это обоснование важности исходных данных, а не доказательство снижения отказов приложением. Саныч-6 не выполняет все проверки ИС Мехфонд и не исправляет данные корпоративных систем автоматически. Учебные материалы 2021/2022 годов не объявляются действующей нормативной базой без сверки.</a:t>
            </a:r>
          </a:p>
          <a:p/>
          <a:p>
            <a:r>
              <a:t>Режиссура: quality.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Пользователь назвал: ИНСТРУКЦИИ ПО ПРОМЫШЛЕННОЙ БЕЗОПАСНОСТИ И ОХРАНЕ ТРУДА ДЛЯ РАБОТНИКОВ СТРУКТУРНЫХ ПОДРАЗДЕЛЕНИЙ ООО «РН-ЮГАНСКНЕФТЕГАЗ». Это инструкции ПБиОТ; не переименовывать их в единую технологическую инструкцию. Наличие в приложении полного текста всех пяти томов сейчас не подтверждено. Составить реестр: том, редакция, раздел, функция приложения, ответственное лицо.</a:t>
            </a:r>
          </a:p>
          <a:p/>
          <a:p>
            <a:r>
              <a:t>Режиссура: sources.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Материальная база: смартфоны Android/iPhone, браузер, сеть для первой загрузки и обновлений, согласованное размещение. Сейчас PWA собирается GitHub Actions и публикуется через Pages; это не означает одобренную корпоративную инфраструктуру. 479 наборов относятся к исходным Kotlin-калькуляторам; остальные формулы проверяются отдельными примерами. Это не сертификация. Реальный iPhone/Safari и APK требуют дополнительных проверок. Автор сообщил: на производство программы потрачено три месяца, прямых денежных затрат кроме времени почти нет. Это длительность разработки, а не подтверждённая трудоёмкость в человеко-месяцах. Нет суммы расходов, поэтому не называть стоимость нулевой. Исторический труд, денежные расходы прошлого и будущие затраты официального внедрения учитываются отдельно.</a:t>
            </a:r>
          </a:p>
          <a:p/>
          <a:p>
            <a:r>
              <a:t>Режиссура: development.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Материальная база: смартфоны Android/iPhone, браузер, сеть для первой загрузки и обновлений, согласованное размещение. Сейчас PWA собирается GitHub Actions и публикуется через Pages; это не означает одобренную корпоративную инфраструктуру. 479 наборов относятся к исходным Kotlin-калькуляторам; остальные формулы проверяются отдельными примерами. Это не сертификация. Реальный iPhone/Safari и APK требуют дополнительных проверок. Автор сообщил: на производство программы потрачено три месяца, прямых денежных затрат кроме времени почти нет. Это длительность разработки, а не подтверждённая трудоёмкость в человеко-месяцах. Нет суммы расходов, поэтому не называть стоимость нулевой. Исторический труд, денежные расходы прошлого и будущие затраты официального внедрения учитываются отдельно.</a:t>
            </a:r>
          </a:p>
          <a:p/>
          <a:p>
            <a:r>
              <a:t>Режиссура: proof.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Высвобождённое время не равно снижению фонда оплаты труда. Ошибки не обязательно приводят к отказам; снижение их частоты ещё не даёт готовой оценки предотвращённых ремонтов. При оценке события нужно учитывать только ту часть эффекта, которую можно обоснованно связать с приложением, и исключать двойной счёт.</a:t>
            </a:r>
          </a:p>
          <a:p/>
          <a:p>
            <a:r>
              <a:t>Режиссура: effects.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пороговый расчёт, не прогноз предотвращённых отказов. Событие включает согласованные прямые расходы и согласованную оценку недополученной добычи за время простоя, если она не компенсируется позже. Недополученная добыча = дебит × часы простоя / 24. Стоимость единицы определяет экономическая служба; не брать произвольную цену нефти. Частота событий, снижение риска и стоимость ремонта пока не заданы.</a:t>
            </a:r>
          </a:p>
          <a:p/>
          <a:p>
            <a:r>
              <a:t>Режиссура: economics.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Предложение: ориентировочно четыре недели, срок и группа согласуются. Для редких тяжёлых отказов четырёх недель может быть недостаточно, поэтому нельзя по короткому пилоту доказать снижение аварийности. Основные ранние метрики: выполнение контрольных сценариев без отклонений, время на сопоставимых задачах, успешность офлайна и обращения за помощью. Редкие события оценивать отдельно на более длинной истории.</a:t>
            </a:r>
          </a:p>
          <a:p/>
          <a:p>
            <a:r>
              <a:t>Режиссура: pilot.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Завершение: прошу согласовать ограниченный пилот, назначить ответственных и предоставить исходные данные для проверки экономики. Финансирование и масштабирование обсуждаются по результатам. Оставить время для вопросов. После этого — резервные слайды, их не нужно читать подряд.</a:t>
            </a:r>
          </a:p>
          <a:p/>
          <a:p>
            <a:r>
              <a:t>Режиссура: closing.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Формулы приводятся как сведения о реализации, не как универсальная технология. Пример дебита: 100 л / 60 с → 144 м³/сут. Проверить единицы, допустимость исходных данных и область применения. В исходном коде уровня плотность интерфейса г/см³ преобразуется для математической функции.</a:t>
            </a:r>
          </a:p>
          <a:p/>
          <a:p>
            <a:r>
              <a:t>Режиссура: appendix.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 суммировать две оценки одного и того же ущерба. В модели есть доля некомпенсируемой добычи и доля вклада приложения. Проценты снижения риска не заданы; их нельзя назначить только из впечатления от презентации. Частота 7–9 замеров относится к отдельному активному дню. Подробные формулы, единицы и ограничения — в Excel и паспорте проекта.</a:t>
            </a:r>
          </a:p>
          <a:p/>
          <a:p>
            <a:r>
              <a:t>Режиссура: appendix.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Название инструкций получено от автора. Не утверждать, что все пять томов полностью загружены или целиком перенесены. Для каждого используемого раздела нужна действующая редакция и согласование применимости. При изменении документов назначить владельца актуализации.</a:t>
            </a:r>
          </a:p>
          <a:p/>
          <a:p>
            <a:r>
              <a:t>Режиссура: appendix.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Подбор УЭЦН к скважине: разработчик указан как ОМД УД ООО РН-ЦЭПиТР, Тюмень. На PDF стр. 3 изложено применение специализированного ПО RosPump в ИС Мехфонд. Алгоритм RosPump: титул 1.2.2021, пример замены ГНО без ГТМ на неосложнённом фонде; его уставки и параметры не переносятся как универсальные. Качество данных: ООО РН-ЦЭПиТР, май 2022. Видеофайлы не были доступны для чтения; не приписывать им выводы.</a:t>
            </a:r>
          </a:p>
          <a:p/>
          <a:p>
            <a:r>
              <a:t>Режиссура: appendix.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Android APK не собран из-за отсутствующего Gradle wrapper и проблем структуры исходных файлов сборки. Электронный уровень не входит в PWA. Офлайн требует предварительной загрузки; данные могут удаляться браузером. Не выдавать приложение за сертифицированную систему промышленной безопасности.</a:t>
            </a:r>
          </a:p>
          <a:p/>
          <a:p>
            <a:r>
              <a:t>Режиссура: appendix. В основном показе сценические изменения выполняются Morph; в несовместимых версиях резервный Fade. Резервные слайды не входят в обязательный рассказ.</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858000" y="365759"/>
            <a:ext cx="5669280" cy="566928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a:off x="7056424" y="564184"/>
            <a:ext cx="5272430" cy="5272430"/>
          </a:xfrm>
          <a:prstGeom prst="ellipse">
            <a:avLst/>
          </a:prstGeom>
        </p:spPr>
      </p:pic>
      <p:sp>
        <p:nvSpPr>
          <p:cNvPr id="4" name="!!LensTint"/>
          <p:cNvSpPr/>
          <p:nvPr/>
        </p:nvSpPr>
        <p:spPr>
          <a:xfrm>
            <a:off x="6858000" y="365759"/>
            <a:ext cx="5669280" cy="566928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a:off x="6858000" y="365759"/>
            <a:ext cx="5669280" cy="566928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4860000">
            <a:off x="7254849" y="762609"/>
            <a:ext cx="4875580" cy="4875580"/>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9720000">
            <a:off x="7765084" y="1272844"/>
            <a:ext cx="3855110" cy="3855110"/>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4580000">
            <a:off x="8303666" y="1811426"/>
            <a:ext cx="2777947" cy="2777947"/>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2268504" y="3168396"/>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1504677" y="501243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9660636" y="577626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7816594" y="501243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7052767" y="31683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7816594" y="132435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9660636" y="56052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1504677" y="132435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805672" y="987551"/>
            <a:ext cx="2368296" cy="488289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962" b="962"/>
          <a:stretch>
            <a:fillRect/>
          </a:stretch>
        </p:blipFill>
        <p:spPr>
          <a:xfrm>
            <a:off x="8869680" y="1051560"/>
            <a:ext cx="2240280" cy="475488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01 / 29</a:t>
            </a:r>
          </a:p>
        </p:txBody>
      </p:sp>
      <p:sp>
        <p:nvSpPr>
          <p:cNvPr id="22" name="!!Progress"/>
          <p:cNvSpPr/>
          <p:nvPr/>
        </p:nvSpPr>
        <p:spPr>
          <a:xfrm>
            <a:off x="0" y="6821424"/>
            <a:ext cx="420403"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1325880"/>
            <a:ext cx="8138160" cy="1188720"/>
          </a:xfrm>
          <a:prstGeom prst="rect">
            <a:avLst/>
          </a:prstGeom>
          <a:noFill/>
        </p:spPr>
        <p:txBody>
          <a:bodyPr wrap="square" lIns="0" rIns="0" tIns="0" bIns="0">
            <a:spAutoFit/>
          </a:bodyPr>
          <a:lstStyle/>
          <a:p>
            <a:pPr>
              <a:spcAft>
                <a:spcPts val="300"/>
              </a:spcAft>
              <a:defRPr sz="9200" b="1">
                <a:solidFill>
                  <a:srgbClr val="F6F7FB"/>
                </a:solidFill>
                <a:latin typeface="Arial"/>
              </a:defRPr>
            </a:pPr>
            <a:r>
              <a:t>Саныч-6</a:t>
            </a:r>
          </a:p>
        </p:txBody>
      </p:sp>
      <p:sp>
        <p:nvSpPr>
          <p:cNvPr id="24" name="!!Subline"/>
          <p:cNvSpPr txBox="1"/>
          <p:nvPr/>
        </p:nvSpPr>
        <p:spPr>
          <a:xfrm>
            <a:off x="658368" y="3017520"/>
            <a:ext cx="7132320" cy="1188720"/>
          </a:xfrm>
          <a:prstGeom prst="rect">
            <a:avLst/>
          </a:prstGeom>
          <a:noFill/>
        </p:spPr>
        <p:txBody>
          <a:bodyPr wrap="square" lIns="0" rIns="0" tIns="0" bIns="0">
            <a:spAutoFit/>
          </a:bodyPr>
          <a:lstStyle/>
          <a:p>
            <a:pPr>
              <a:spcAft>
                <a:spcPts val="300"/>
              </a:spcAft>
              <a:defRPr sz="3800" b="1">
                <a:solidFill>
                  <a:srgbClr val="FFCC38"/>
                </a:solidFill>
                <a:latin typeface="Arial"/>
              </a:defRPr>
            </a:pPr>
            <a:r>
              <a:t>Опора оператора</a:t>
            </a:r>
          </a:p>
          <a:p>
            <a:pPr>
              <a:spcAft>
                <a:spcPts val="300"/>
              </a:spcAft>
              <a:defRPr sz="3800" b="1">
                <a:solidFill>
                  <a:srgbClr val="FFCC38"/>
                </a:solidFill>
                <a:latin typeface="Arial"/>
              </a:defRPr>
            </a:pPr>
            <a:r>
              <a:t>в каждом действии.</a:t>
            </a:r>
          </a:p>
        </p:txBody>
      </p:sp>
      <p:sp>
        <p:nvSpPr>
          <p:cNvPr id="25" name="TextBox 24"/>
          <p:cNvSpPr txBox="1"/>
          <p:nvPr/>
        </p:nvSpPr>
        <p:spPr>
          <a:xfrm>
            <a:off x="685800" y="5193792"/>
            <a:ext cx="7040880" cy="731520"/>
          </a:xfrm>
          <a:prstGeom prst="rect">
            <a:avLst/>
          </a:prstGeom>
          <a:noFill/>
        </p:spPr>
        <p:txBody>
          <a:bodyPr wrap="square" lIns="0" rIns="0" tIns="0" bIns="0">
            <a:spAutoFit/>
          </a:bodyPr>
          <a:lstStyle/>
          <a:p>
            <a:pPr>
              <a:spcAft>
                <a:spcPts val="300"/>
              </a:spcAft>
              <a:defRPr sz="2000" b="0">
                <a:solidFill>
                  <a:srgbClr val="A1AFC2"/>
                </a:solidFill>
                <a:latin typeface="Arial"/>
              </a:defRPr>
            </a:pPr>
            <a:r>
              <a:t>Рабочая версия 3.0.0</a:t>
            </a:r>
          </a:p>
          <a:p>
            <a:pPr>
              <a:spcAft>
                <a:spcPts val="300"/>
              </a:spcAft>
              <a:defRPr sz="2000" b="0">
                <a:solidFill>
                  <a:srgbClr val="A1AFC2"/>
                </a:solidFill>
                <a:latin typeface="Arial"/>
              </a:defRPr>
            </a:pPr>
            <a:r>
              <a:t>Android + iPhone</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2697480" y="45719"/>
            <a:ext cx="6766560" cy="676656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620000">
            <a:off x="2934309" y="282549"/>
            <a:ext cx="6292900" cy="6292900"/>
          </a:xfrm>
          <a:prstGeom prst="ellipse">
            <a:avLst/>
          </a:prstGeom>
        </p:spPr>
      </p:pic>
      <p:sp>
        <p:nvSpPr>
          <p:cNvPr id="4" name="!!LensTint"/>
          <p:cNvSpPr/>
          <p:nvPr/>
        </p:nvSpPr>
        <p:spPr>
          <a:xfrm>
            <a:off x="2697480" y="45719"/>
            <a:ext cx="6766560" cy="676656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620000">
            <a:off x="2697480" y="45719"/>
            <a:ext cx="6766560" cy="676656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6480000">
            <a:off x="3171139" y="519379"/>
            <a:ext cx="5819241" cy="581924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1340000">
            <a:off x="3780129" y="1128369"/>
            <a:ext cx="4601260" cy="4601260"/>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6200000">
            <a:off x="4422952" y="1771192"/>
            <a:ext cx="3315614" cy="3315614"/>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8822118" y="4810094"/>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7010607" y="635727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4635657" y="617035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3088480" y="43588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3275393" y="198389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5086904" y="43672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7461854" y="62363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9009031" y="243514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4727448" y="594359"/>
            <a:ext cx="2734056" cy="561441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1359" b="1359"/>
          <a:stretch>
            <a:fillRect/>
          </a:stretch>
        </p:blipFill>
        <p:spPr>
          <a:xfrm>
            <a:off x="4791456" y="658368"/>
            <a:ext cx="2606040" cy="548640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02 / 29</a:t>
            </a:r>
          </a:p>
        </p:txBody>
      </p:sp>
      <p:sp>
        <p:nvSpPr>
          <p:cNvPr id="22" name="!!Progress"/>
          <p:cNvSpPr/>
          <p:nvPr/>
        </p:nvSpPr>
        <p:spPr>
          <a:xfrm>
            <a:off x="0" y="6821424"/>
            <a:ext cx="840806"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1097280"/>
            <a:ext cx="3840480" cy="1828800"/>
          </a:xfrm>
          <a:prstGeom prst="rect">
            <a:avLst/>
          </a:prstGeom>
          <a:noFill/>
        </p:spPr>
        <p:txBody>
          <a:bodyPr wrap="square" lIns="0" rIns="0" tIns="0" bIns="0">
            <a:spAutoFit/>
          </a:bodyPr>
          <a:lstStyle/>
          <a:p>
            <a:pPr>
              <a:spcAft>
                <a:spcPts val="300"/>
              </a:spcAft>
              <a:defRPr sz="4300" b="1">
                <a:solidFill>
                  <a:srgbClr val="F6F7FB"/>
                </a:solidFill>
                <a:latin typeface="Arial"/>
              </a:defRPr>
            </a:pPr>
            <a:r>
              <a:t>Рабочий</a:t>
            </a:r>
          </a:p>
          <a:p>
            <a:pPr>
              <a:spcAft>
                <a:spcPts val="300"/>
              </a:spcAft>
              <a:defRPr sz="4300" b="1">
                <a:solidFill>
                  <a:srgbClr val="F6F7FB"/>
                </a:solidFill>
                <a:latin typeface="Arial"/>
              </a:defRPr>
            </a:pPr>
            <a:r>
              <a:t>инструмент.</a:t>
            </a:r>
          </a:p>
        </p:txBody>
      </p:sp>
      <p:sp>
        <p:nvSpPr>
          <p:cNvPr id="24" name="!!Subline"/>
          <p:cNvSpPr txBox="1"/>
          <p:nvPr/>
        </p:nvSpPr>
        <p:spPr>
          <a:xfrm>
            <a:off x="640080" y="3749039"/>
            <a:ext cx="3749039" cy="1005840"/>
          </a:xfrm>
          <a:prstGeom prst="rect">
            <a:avLst/>
          </a:prstGeom>
          <a:noFill/>
        </p:spPr>
        <p:txBody>
          <a:bodyPr wrap="square" lIns="0" rIns="0" tIns="0" bIns="0">
            <a:spAutoFit/>
          </a:bodyPr>
          <a:lstStyle/>
          <a:p>
            <a:pPr>
              <a:spcAft>
                <a:spcPts val="300"/>
              </a:spcAft>
              <a:defRPr sz="2500" b="0">
                <a:solidFill>
                  <a:srgbClr val="A1AFC2"/>
                </a:solidFill>
                <a:latin typeface="Arial"/>
              </a:defRPr>
            </a:pPr>
            <a:r>
              <a:t>Расчёты</a:t>
            </a:r>
          </a:p>
          <a:p>
            <a:pPr>
              <a:spcAft>
                <a:spcPts val="300"/>
              </a:spcAft>
              <a:defRPr sz="2500" b="0">
                <a:solidFill>
                  <a:srgbClr val="A1AFC2"/>
                </a:solidFill>
                <a:latin typeface="Arial"/>
              </a:defRPr>
            </a:pPr>
            <a:r>
              <a:t>и инструкции рядом.</a:t>
            </a:r>
          </a:p>
        </p:txBody>
      </p:sp>
      <p:sp>
        <p:nvSpPr>
          <p:cNvPr id="25" name="TextBox 24"/>
          <p:cNvSpPr txBox="1"/>
          <p:nvPr/>
        </p:nvSpPr>
        <p:spPr>
          <a:xfrm>
            <a:off x="8092440" y="2194560"/>
            <a:ext cx="3383280" cy="1097280"/>
          </a:xfrm>
          <a:prstGeom prst="rect">
            <a:avLst/>
          </a:prstGeom>
          <a:noFill/>
        </p:spPr>
        <p:txBody>
          <a:bodyPr wrap="square" lIns="0" rIns="0" tIns="0" bIns="0">
            <a:spAutoFit/>
          </a:bodyPr>
          <a:lstStyle/>
          <a:p>
            <a:pPr>
              <a:spcAft>
                <a:spcPts val="300"/>
              </a:spcAft>
              <a:defRPr sz="3300" b="1">
                <a:solidFill>
                  <a:srgbClr val="FFCC38"/>
                </a:solidFill>
                <a:latin typeface="Arial"/>
              </a:defRPr>
            </a:pPr>
            <a:r>
              <a:t>В момент,</a:t>
            </a:r>
          </a:p>
          <a:p>
            <a:pPr>
              <a:spcAft>
                <a:spcPts val="300"/>
              </a:spcAft>
              <a:defRPr sz="3300" b="1">
                <a:solidFill>
                  <a:srgbClr val="FFCC38"/>
                </a:solidFill>
                <a:latin typeface="Arial"/>
              </a:defRPr>
            </a:pPr>
            <a:r>
              <a:t>когда нужно.</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594359" y="960119"/>
            <a:ext cx="4754880" cy="475488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3240000">
            <a:off x="760780" y="1126540"/>
            <a:ext cx="4422038" cy="4422038"/>
          </a:xfrm>
          <a:prstGeom prst="ellipse">
            <a:avLst/>
          </a:prstGeom>
        </p:spPr>
      </p:pic>
      <p:sp>
        <p:nvSpPr>
          <p:cNvPr id="4" name="!!LensTint"/>
          <p:cNvSpPr/>
          <p:nvPr/>
        </p:nvSpPr>
        <p:spPr>
          <a:xfrm>
            <a:off x="594359" y="960119"/>
            <a:ext cx="4754880" cy="475488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3240000">
            <a:off x="594359" y="960119"/>
            <a:ext cx="4754880" cy="475488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8100000">
            <a:off x="927201" y="1292961"/>
            <a:ext cx="4089196" cy="4089196"/>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2960000">
            <a:off x="1355140" y="1720900"/>
            <a:ext cx="3233318" cy="3233318"/>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7820000">
            <a:off x="1806854" y="2172614"/>
            <a:ext cx="2329891" cy="23298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4225426" y="5075074"/>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2597635" y="546587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170277" y="459118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779479" y="29633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654165" y="153603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3281956" y="11452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4709314" y="201992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5100112" y="364771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03 / 29</a:t>
            </a:r>
          </a:p>
        </p:txBody>
      </p:sp>
      <p:sp>
        <p:nvSpPr>
          <p:cNvPr id="22" name="!!Progress"/>
          <p:cNvSpPr/>
          <p:nvPr/>
        </p:nvSpPr>
        <p:spPr>
          <a:xfrm>
            <a:off x="0" y="6821424"/>
            <a:ext cx="1261209"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1005840" y="2103120"/>
            <a:ext cx="5669280" cy="1463040"/>
          </a:xfrm>
          <a:prstGeom prst="rect">
            <a:avLst/>
          </a:prstGeom>
          <a:noFill/>
        </p:spPr>
        <p:txBody>
          <a:bodyPr wrap="square" lIns="0" rIns="0" tIns="0" bIns="0">
            <a:spAutoFit/>
          </a:bodyPr>
          <a:lstStyle/>
          <a:p>
            <a:pPr>
              <a:spcAft>
                <a:spcPts val="300"/>
              </a:spcAft>
              <a:defRPr sz="11800" b="1">
                <a:solidFill>
                  <a:srgbClr val="FFCC38"/>
                </a:solidFill>
                <a:latin typeface="Arial"/>
              </a:defRPr>
            </a:pPr>
            <a:r>
              <a:t>≈250</a:t>
            </a:r>
          </a:p>
        </p:txBody>
      </p:sp>
      <p:sp>
        <p:nvSpPr>
          <p:cNvPr id="24" name="!!Subline"/>
          <p:cNvSpPr txBox="1"/>
          <p:nvPr/>
        </p:nvSpPr>
        <p:spPr>
          <a:xfrm>
            <a:off x="6766560" y="1188720"/>
            <a:ext cx="4754880" cy="1554480"/>
          </a:xfrm>
          <a:prstGeom prst="rect">
            <a:avLst/>
          </a:prstGeom>
          <a:noFill/>
        </p:spPr>
        <p:txBody>
          <a:bodyPr wrap="square" lIns="0" rIns="0" tIns="0" bIns="0">
            <a:spAutoFit/>
          </a:bodyPr>
          <a:lstStyle/>
          <a:p>
            <a:pPr>
              <a:spcAft>
                <a:spcPts val="300"/>
              </a:spcAft>
              <a:defRPr sz="3600" b="1">
                <a:solidFill>
                  <a:srgbClr val="F6F7FB"/>
                </a:solidFill>
                <a:latin typeface="Arial"/>
              </a:defRPr>
            </a:pPr>
            <a:r>
              <a:t>Общий инструмент.</a:t>
            </a:r>
          </a:p>
          <a:p>
            <a:pPr>
              <a:spcAft>
                <a:spcPts val="300"/>
              </a:spcAft>
              <a:defRPr sz="3600" b="1">
                <a:solidFill>
                  <a:srgbClr val="F6F7FB"/>
                </a:solidFill>
                <a:latin typeface="Arial"/>
              </a:defRPr>
            </a:pPr>
            <a:r>
              <a:t>Разный опыт.</a:t>
            </a:r>
          </a:p>
        </p:txBody>
      </p:sp>
      <p:sp>
        <p:nvSpPr>
          <p:cNvPr id="25" name="!!StepMarker0"/>
          <p:cNvSpPr/>
          <p:nvPr/>
        </p:nvSpPr>
        <p:spPr>
          <a:xfrm>
            <a:off x="6766560" y="365760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6949440" y="3657600"/>
            <a:ext cx="4389120" cy="457200"/>
          </a:xfrm>
          <a:prstGeom prst="rect">
            <a:avLst/>
          </a:prstGeom>
          <a:noFill/>
        </p:spPr>
        <p:txBody>
          <a:bodyPr wrap="square" lIns="0" rIns="0" tIns="0" bIns="0">
            <a:spAutoFit/>
          </a:bodyPr>
          <a:lstStyle/>
          <a:p>
            <a:pPr>
              <a:spcAft>
                <a:spcPts val="300"/>
              </a:spcAft>
              <a:defRPr sz="1800" b="0">
                <a:solidFill>
                  <a:srgbClr val="F6F7FB"/>
                </a:solidFill>
                <a:latin typeface="Arial"/>
              </a:defRPr>
            </a:pPr>
            <a:r>
              <a:t>Ориентировочная аудитория</a:t>
            </a:r>
          </a:p>
        </p:txBody>
      </p:sp>
      <p:sp>
        <p:nvSpPr>
          <p:cNvPr id="27" name="!!StepMarker1"/>
          <p:cNvSpPr/>
          <p:nvPr/>
        </p:nvSpPr>
        <p:spPr>
          <a:xfrm>
            <a:off x="6766560" y="422452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6949440" y="4224528"/>
            <a:ext cx="4389120" cy="457200"/>
          </a:xfrm>
          <a:prstGeom prst="rect">
            <a:avLst/>
          </a:prstGeom>
          <a:noFill/>
        </p:spPr>
        <p:txBody>
          <a:bodyPr wrap="square" lIns="0" rIns="0" tIns="0" bIns="0">
            <a:spAutoFit/>
          </a:bodyPr>
          <a:lstStyle/>
          <a:p>
            <a:pPr>
              <a:spcAft>
                <a:spcPts val="300"/>
              </a:spcAft>
              <a:defRPr sz="1800" b="0">
                <a:solidFill>
                  <a:srgbClr val="F6F7FB"/>
                </a:solidFill>
                <a:latin typeface="Arial"/>
              </a:defRPr>
            </a:pPr>
            <a:r>
              <a:t>Поддержка оператора и наставника</a:t>
            </a:r>
          </a:p>
        </p:txBody>
      </p:sp>
      <p:sp>
        <p:nvSpPr>
          <p:cNvPr id="29" name="!!StepMarker2"/>
          <p:cNvSpPr/>
          <p:nvPr/>
        </p:nvSpPr>
        <p:spPr>
          <a:xfrm>
            <a:off x="6766560" y="4791456"/>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6949440" y="4791456"/>
            <a:ext cx="4389120" cy="457200"/>
          </a:xfrm>
          <a:prstGeom prst="rect">
            <a:avLst/>
          </a:prstGeom>
          <a:noFill/>
        </p:spPr>
        <p:txBody>
          <a:bodyPr wrap="square" lIns="0" rIns="0" tIns="0" bIns="0">
            <a:spAutoFit/>
          </a:bodyPr>
          <a:lstStyle/>
          <a:p>
            <a:pPr>
              <a:spcAft>
                <a:spcPts val="300"/>
              </a:spcAft>
              <a:defRPr sz="1800" b="0">
                <a:solidFill>
                  <a:srgbClr val="F6F7FB"/>
                </a:solidFill>
                <a:latin typeface="Arial"/>
              </a:defRPr>
            </a:pPr>
            <a:r>
              <a:t>Пилот перед масштабированием</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Оценка автора; охват уточнить по фактическому составу персонала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217920" y="548639"/>
            <a:ext cx="5852160" cy="585216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4860000">
            <a:off x="6422745" y="753465"/>
            <a:ext cx="5442508" cy="5442508"/>
          </a:xfrm>
          <a:prstGeom prst="ellipse">
            <a:avLst/>
          </a:prstGeom>
        </p:spPr>
      </p:pic>
      <p:sp>
        <p:nvSpPr>
          <p:cNvPr id="4" name="!!LensTint"/>
          <p:cNvSpPr/>
          <p:nvPr/>
        </p:nvSpPr>
        <p:spPr>
          <a:xfrm>
            <a:off x="6217920" y="548639"/>
            <a:ext cx="5852160" cy="585216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4860000">
            <a:off x="6217920" y="548639"/>
            <a:ext cx="5852160" cy="585216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9720000">
            <a:off x="6627571" y="958291"/>
            <a:ext cx="5032857" cy="5032857"/>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4580000">
            <a:off x="7154265" y="1484985"/>
            <a:ext cx="3979468" cy="3979468"/>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9440000">
            <a:off x="7710220" y="2040940"/>
            <a:ext cx="2867558" cy="286755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9533116" y="6101566"/>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7529681" y="562058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6453145" y="38638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6934127" y="186040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8690875" y="78386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0694310" y="12648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1770846" y="30215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1289864" y="502503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04 / 29</a:t>
            </a:r>
          </a:p>
        </p:txBody>
      </p:sp>
      <p:sp>
        <p:nvSpPr>
          <p:cNvPr id="22" name="!!Progress"/>
          <p:cNvSpPr/>
          <p:nvPr/>
        </p:nvSpPr>
        <p:spPr>
          <a:xfrm>
            <a:off x="0" y="6821424"/>
            <a:ext cx="1681613"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200" b="1">
                <a:solidFill>
                  <a:srgbClr val="F6F7FB"/>
                </a:solidFill>
                <a:latin typeface="Arial"/>
              </a:defRPr>
            </a:pPr>
            <a:r>
              <a:t>Правильное действие</a:t>
            </a:r>
          </a:p>
          <a:p>
            <a:pPr>
              <a:spcAft>
                <a:spcPts val="300"/>
              </a:spcAft>
              <a:defRPr sz="4200" b="1">
                <a:solidFill>
                  <a:srgbClr val="F6F7FB"/>
                </a:solidFill>
                <a:latin typeface="Arial"/>
              </a:defRPr>
            </a:pPr>
            <a:r>
              <a:t>начинается с данных.</a:t>
            </a:r>
          </a:p>
        </p:txBody>
      </p:sp>
      <p:sp>
        <p:nvSpPr>
          <p:cNvPr id="24" name="!!Subline"/>
          <p:cNvSpPr txBox="1"/>
          <p:nvPr/>
        </p:nvSpPr>
        <p:spPr>
          <a:xfrm>
            <a:off x="612648" y="292608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Разгон · РИЧ · охлаждение · замер</a:t>
            </a:r>
          </a:p>
        </p:txBody>
      </p:sp>
      <p:sp>
        <p:nvSpPr>
          <p:cNvPr id="25" name="Oval 24"/>
          <p:cNvSpPr/>
          <p:nvPr/>
        </p:nvSpPr>
        <p:spPr>
          <a:xfrm>
            <a:off x="685800" y="4315968"/>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663440"/>
            <a:ext cx="2651760" cy="502920"/>
          </a:xfrm>
          <a:prstGeom prst="rect">
            <a:avLst/>
          </a:prstGeom>
          <a:noFill/>
        </p:spPr>
        <p:txBody>
          <a:bodyPr wrap="square" lIns="0" rIns="0" tIns="0" bIns="0">
            <a:spAutoFit/>
          </a:bodyPr>
          <a:lstStyle/>
          <a:p>
            <a:pPr>
              <a:spcAft>
                <a:spcPts val="300"/>
              </a:spcAft>
              <a:defRPr sz="1700" b="1">
                <a:solidFill>
                  <a:srgbClr val="F6F7FB"/>
                </a:solidFill>
                <a:latin typeface="Arial"/>
              </a:defRPr>
            </a:pPr>
            <a:r>
              <a:t>ИCХОДНЫЕ ДАННЫЕ</a:t>
            </a:r>
          </a:p>
        </p:txBody>
      </p:sp>
      <p:sp>
        <p:nvSpPr>
          <p:cNvPr id="27" name="Rectangle 26"/>
          <p:cNvSpPr/>
          <p:nvPr/>
        </p:nvSpPr>
        <p:spPr>
          <a:xfrm>
            <a:off x="822960" y="4379976"/>
            <a:ext cx="2688336" cy="12801"/>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520440" y="4315968"/>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4663440"/>
            <a:ext cx="2651760" cy="502920"/>
          </a:xfrm>
          <a:prstGeom prst="rect">
            <a:avLst/>
          </a:prstGeom>
          <a:noFill/>
        </p:spPr>
        <p:txBody>
          <a:bodyPr wrap="square" lIns="0" rIns="0" tIns="0" bIns="0">
            <a:spAutoFit/>
          </a:bodyPr>
          <a:lstStyle/>
          <a:p>
            <a:pPr>
              <a:spcAft>
                <a:spcPts val="300"/>
              </a:spcAft>
              <a:defRPr sz="1700" b="1">
                <a:solidFill>
                  <a:srgbClr val="F6F7FB"/>
                </a:solidFill>
                <a:latin typeface="Arial"/>
              </a:defRPr>
            </a:pPr>
            <a:r>
              <a:t>РАСЧЁТ</a:t>
            </a:r>
          </a:p>
        </p:txBody>
      </p:sp>
      <p:sp>
        <p:nvSpPr>
          <p:cNvPr id="30" name="Rectangle 29"/>
          <p:cNvSpPr/>
          <p:nvPr/>
        </p:nvSpPr>
        <p:spPr>
          <a:xfrm>
            <a:off x="3657600" y="4379976"/>
            <a:ext cx="2688336" cy="12801"/>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55080" y="4315968"/>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4663440"/>
            <a:ext cx="2651760" cy="502920"/>
          </a:xfrm>
          <a:prstGeom prst="rect">
            <a:avLst/>
          </a:prstGeom>
          <a:noFill/>
        </p:spPr>
        <p:txBody>
          <a:bodyPr wrap="square" lIns="0" rIns="0" tIns="0" bIns="0">
            <a:spAutoFit/>
          </a:bodyPr>
          <a:lstStyle/>
          <a:p>
            <a:pPr>
              <a:spcAft>
                <a:spcPts val="300"/>
              </a:spcAft>
              <a:defRPr sz="1700" b="1">
                <a:solidFill>
                  <a:srgbClr val="F6F7FB"/>
                </a:solidFill>
                <a:latin typeface="Arial"/>
              </a:defRPr>
            </a:pPr>
            <a:r>
              <a:t>ДЕЙСТВИЕ</a:t>
            </a:r>
          </a:p>
        </p:txBody>
      </p:sp>
      <p:sp>
        <p:nvSpPr>
          <p:cNvPr id="33" name="Rectangle 32"/>
          <p:cNvSpPr/>
          <p:nvPr/>
        </p:nvSpPr>
        <p:spPr>
          <a:xfrm>
            <a:off x="6492240" y="4379976"/>
            <a:ext cx="2688336" cy="12801"/>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89720" y="4315968"/>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9720" y="4663440"/>
            <a:ext cx="2651760" cy="502920"/>
          </a:xfrm>
          <a:prstGeom prst="rect">
            <a:avLst/>
          </a:prstGeom>
          <a:noFill/>
        </p:spPr>
        <p:txBody>
          <a:bodyPr wrap="square" lIns="0" rIns="0" tIns="0" bIns="0">
            <a:spAutoFit/>
          </a:bodyPr>
          <a:lstStyle/>
          <a:p>
            <a:pPr>
              <a:spcAft>
                <a:spcPts val="300"/>
              </a:spcAft>
              <a:defRPr sz="1700" b="1">
                <a:solidFill>
                  <a:srgbClr val="F6F7FB"/>
                </a:solidFill>
                <a:latin typeface="Arial"/>
              </a:defRPr>
            </a:pPr>
            <a:r>
              <a:t>СВЕРКА</a:t>
            </a:r>
          </a:p>
        </p:txBody>
      </p:sp>
      <p:sp>
        <p:nvSpPr>
          <p:cNvPr id="36" name="TextBox 3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Рабочие сценарии автора проекта; подтверждение технологической службой — этап пилота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648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648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134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620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2106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8933656" y="6197256"/>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7220064" y="473371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7043255" y="24871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8506800" y="77354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0753375" y="5967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2466967" y="206028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2643776" y="430685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1180231" y="60204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89711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ramp.png"/>
          <p:cNvPicPr>
            <a:picLocks noChangeAspect="1"/>
          </p:cNvPicPr>
          <p:nvPr/>
        </p:nvPicPr>
        <p:blipFill>
          <a:blip r:embed="rId3"/>
          <a:srcRect t="681" b="681"/>
          <a:stretch>
            <a:fillRect/>
          </a:stretch>
        </p:blipFill>
        <p:spPr>
          <a:xfrm>
            <a:off x="896112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05 / 29</a:t>
            </a:r>
          </a:p>
        </p:txBody>
      </p:sp>
      <p:sp>
        <p:nvSpPr>
          <p:cNvPr id="22" name="!!Progress"/>
          <p:cNvSpPr/>
          <p:nvPr/>
        </p:nvSpPr>
        <p:spPr>
          <a:xfrm>
            <a:off x="0" y="6821424"/>
            <a:ext cx="2102016"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315200" cy="1645920"/>
          </a:xfrm>
          <a:prstGeom prst="rect">
            <a:avLst/>
          </a:prstGeom>
          <a:noFill/>
        </p:spPr>
        <p:txBody>
          <a:bodyPr wrap="square" lIns="0" rIns="0" tIns="0" bIns="0">
            <a:spAutoFit/>
          </a:bodyPr>
          <a:lstStyle/>
          <a:p>
            <a:pPr>
              <a:spcAft>
                <a:spcPts val="300"/>
              </a:spcAft>
              <a:defRPr sz="3900" b="1">
                <a:solidFill>
                  <a:srgbClr val="F6F7FB"/>
                </a:solidFill>
                <a:latin typeface="Arial"/>
              </a:defRPr>
            </a:pPr>
            <a:r>
              <a:t>Разгон.</a:t>
            </a:r>
          </a:p>
          <a:p>
            <a:pPr>
              <a:spcAft>
                <a:spcPts val="300"/>
              </a:spcAft>
              <a:defRPr sz="3900" b="1">
                <a:solidFill>
                  <a:srgbClr val="F6F7FB"/>
                </a:solidFill>
                <a:latin typeface="Arial"/>
              </a:defRPr>
            </a:pPr>
            <a:r>
              <a:t>Выдержать заданный темп.</a:t>
            </a:r>
          </a:p>
        </p:txBody>
      </p:sp>
      <p:sp>
        <p:nvSpPr>
          <p:cNvPr id="24" name="!!Subline"/>
          <p:cNvSpPr txBox="1"/>
          <p:nvPr/>
        </p:nvSpPr>
        <p:spPr>
          <a:xfrm>
            <a:off x="612648" y="2743200"/>
            <a:ext cx="731520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Сверить параметры и шаги выбранной станции</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Задание → параметры</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Инструкция своей станции</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Сверка темпа и последовательности</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Сценарий автора; КВЧ — количество взвешенных частиц</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126479" y="594359"/>
            <a:ext cx="5486400" cy="54864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8100000">
            <a:off x="6318503" y="786383"/>
            <a:ext cx="5102352" cy="5102352"/>
          </a:xfrm>
          <a:prstGeom prst="ellipse">
            <a:avLst/>
          </a:prstGeom>
        </p:spPr>
      </p:pic>
      <p:sp>
        <p:nvSpPr>
          <p:cNvPr id="4" name="!!LensTint"/>
          <p:cNvSpPr/>
          <p:nvPr/>
        </p:nvSpPr>
        <p:spPr>
          <a:xfrm>
            <a:off x="6126479" y="594359"/>
            <a:ext cx="5486400" cy="54864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8100000">
            <a:off x="6126479" y="594359"/>
            <a:ext cx="5486400" cy="54864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2960000">
            <a:off x="6510527" y="978407"/>
            <a:ext cx="4718304" cy="4718304"/>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7820000">
            <a:off x="7004303" y="1472184"/>
            <a:ext cx="3730752" cy="3730752"/>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080000">
            <a:off x="7525511" y="1993391"/>
            <a:ext cx="2688336" cy="2688336"/>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7053119" y="5090112"/>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6313931" y="330555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7053119" y="152099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8837676" y="78181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0622232" y="152099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1361419" y="330555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0622232" y="509011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8837676" y="582930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165592" y="1078992"/>
            <a:ext cx="2414016" cy="49743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rich.png"/>
          <p:cNvPicPr>
            <a:picLocks noChangeAspect="1"/>
          </p:cNvPicPr>
          <p:nvPr/>
        </p:nvPicPr>
        <p:blipFill>
          <a:blip r:embed="rId3"/>
          <a:srcRect t="1019" b="1019"/>
          <a:stretch>
            <a:fillRect/>
          </a:stretch>
        </p:blipFill>
        <p:spPr>
          <a:xfrm>
            <a:off x="8229600" y="1143000"/>
            <a:ext cx="2286000" cy="48463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06 / 29</a:t>
            </a:r>
          </a:p>
        </p:txBody>
      </p:sp>
      <p:sp>
        <p:nvSpPr>
          <p:cNvPr id="22" name="!!Progress"/>
          <p:cNvSpPr/>
          <p:nvPr/>
        </p:nvSpPr>
        <p:spPr>
          <a:xfrm>
            <a:off x="0" y="6821424"/>
            <a:ext cx="2522419"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315200" cy="1645920"/>
          </a:xfrm>
          <a:prstGeom prst="rect">
            <a:avLst/>
          </a:prstGeom>
          <a:noFill/>
        </p:spPr>
        <p:txBody>
          <a:bodyPr wrap="square" lIns="0" rIns="0" tIns="0" bIns="0">
            <a:spAutoFit/>
          </a:bodyPr>
          <a:lstStyle/>
          <a:p>
            <a:pPr>
              <a:spcAft>
                <a:spcPts val="300"/>
              </a:spcAft>
              <a:defRPr sz="3900" b="1">
                <a:solidFill>
                  <a:srgbClr val="F6F7FB"/>
                </a:solidFill>
                <a:latin typeface="Arial"/>
              </a:defRPr>
            </a:pPr>
            <a:r>
              <a:t>РИЧ.</a:t>
            </a:r>
          </a:p>
          <a:p>
            <a:pPr>
              <a:spcAft>
                <a:spcPts val="300"/>
              </a:spcAft>
              <a:defRPr sz="3900" b="1">
                <a:solidFill>
                  <a:srgbClr val="F6F7FB"/>
                </a:solidFill>
                <a:latin typeface="Arial"/>
              </a:defRPr>
            </a:pPr>
            <a:r>
              <a:t>Своя последовательность.</a:t>
            </a:r>
          </a:p>
        </p:txBody>
      </p:sp>
      <p:sp>
        <p:nvSpPr>
          <p:cNvPr id="24" name="!!Subline"/>
          <p:cNvSpPr txBox="1"/>
          <p:nvPr/>
        </p:nvSpPr>
        <p:spPr>
          <a:xfrm>
            <a:off x="612648" y="2743200"/>
            <a:ext cx="731520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Пять станций · отдельные инструкции и фотографии</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Станция → нужный режим</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Пошаговое меню и фотографии</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Контроль выполняет персонал</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Сценарий автора проекта; не универсальное правило для всех станций</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972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972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458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944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270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7043255" y="4306855"/>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7220064" y="206028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8933656" y="5967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1180231" y="77354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2643776" y="24871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2466967" y="473371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0753375" y="619725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8506800" y="60204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89711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ped.png"/>
          <p:cNvPicPr>
            <a:picLocks noChangeAspect="1"/>
          </p:cNvPicPr>
          <p:nvPr/>
        </p:nvPicPr>
        <p:blipFill>
          <a:blip r:embed="rId3"/>
          <a:srcRect t="681" b="681"/>
          <a:stretch>
            <a:fillRect/>
          </a:stretch>
        </p:blipFill>
        <p:spPr>
          <a:xfrm>
            <a:off x="896112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07 / 29</a:t>
            </a:r>
          </a:p>
        </p:txBody>
      </p:sp>
      <p:sp>
        <p:nvSpPr>
          <p:cNvPr id="22" name="!!Progress"/>
          <p:cNvSpPr/>
          <p:nvPr/>
        </p:nvSpPr>
        <p:spPr>
          <a:xfrm>
            <a:off x="0" y="6821424"/>
            <a:ext cx="294282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315200" cy="1645920"/>
          </a:xfrm>
          <a:prstGeom prst="rect">
            <a:avLst/>
          </a:prstGeom>
          <a:noFill/>
        </p:spPr>
        <p:txBody>
          <a:bodyPr wrap="square" lIns="0" rIns="0" tIns="0" bIns="0">
            <a:spAutoFit/>
          </a:bodyPr>
          <a:lstStyle/>
          <a:p>
            <a:pPr>
              <a:spcAft>
                <a:spcPts val="300"/>
              </a:spcAft>
              <a:defRPr sz="3900" b="1">
                <a:solidFill>
                  <a:srgbClr val="F6F7FB"/>
                </a:solidFill>
                <a:latin typeface="Arial"/>
              </a:defRPr>
            </a:pPr>
            <a:r>
              <a:t>Приток.</a:t>
            </a:r>
          </a:p>
          <a:p>
            <a:pPr>
              <a:spcAft>
                <a:spcPts val="300"/>
              </a:spcAft>
              <a:defRPr sz="3900" b="1">
                <a:solidFill>
                  <a:srgbClr val="F6F7FB"/>
                </a:solidFill>
                <a:latin typeface="Arial"/>
              </a:defRPr>
            </a:pPr>
            <a:r>
              <a:t>Учесть охлаждение.</a:t>
            </a:r>
          </a:p>
        </p:txBody>
      </p:sp>
      <p:sp>
        <p:nvSpPr>
          <p:cNvPr id="24" name="!!Subline"/>
          <p:cNvSpPr txBox="1"/>
          <p:nvPr/>
        </p:nvSpPr>
        <p:spPr>
          <a:xfrm>
            <a:off x="612648" y="2743200"/>
            <a:ext cx="731520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Исходные данные ПЭД и рабочий ток — в одном сценарии</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Исходные параметры ПЭД</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Рабочий и номинальный ток</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Контроль применимости результата</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Исходные формулы Android и база ПЭД: 16 160 записей</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134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134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620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2106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432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6935398" y="2936395"/>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8112859" y="10149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0304116" y="4888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2225559" y="16663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2751633" y="38575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1574172" y="57790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9382915" y="63051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7461472" y="51276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89711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manual.png"/>
          <p:cNvPicPr>
            <a:picLocks noChangeAspect="1"/>
          </p:cNvPicPr>
          <p:nvPr/>
        </p:nvPicPr>
        <p:blipFill>
          <a:blip r:embed="rId3"/>
          <a:srcRect t="681" b="681"/>
          <a:stretch>
            <a:fillRect/>
          </a:stretch>
        </p:blipFill>
        <p:spPr>
          <a:xfrm>
            <a:off x="896112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08 / 29</a:t>
            </a:r>
          </a:p>
        </p:txBody>
      </p:sp>
      <p:sp>
        <p:nvSpPr>
          <p:cNvPr id="22" name="!!Progress"/>
          <p:cNvSpPr/>
          <p:nvPr/>
        </p:nvSpPr>
        <p:spPr>
          <a:xfrm>
            <a:off x="0" y="6821424"/>
            <a:ext cx="3363226"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1371600"/>
            <a:ext cx="8046720" cy="1508760"/>
          </a:xfrm>
          <a:prstGeom prst="rect">
            <a:avLst/>
          </a:prstGeom>
          <a:noFill/>
        </p:spPr>
        <p:txBody>
          <a:bodyPr wrap="square" lIns="0" rIns="0" tIns="0" bIns="0">
            <a:spAutoFit/>
          </a:bodyPr>
          <a:lstStyle/>
          <a:p>
            <a:pPr>
              <a:spcAft>
                <a:spcPts val="300"/>
              </a:spcAft>
              <a:defRPr sz="13000" b="1">
                <a:solidFill>
                  <a:srgbClr val="FFCC38"/>
                </a:solidFill>
                <a:latin typeface="Arial"/>
              </a:defRPr>
            </a:pPr>
            <a:r>
              <a:t>7–9</a:t>
            </a:r>
          </a:p>
        </p:txBody>
      </p:sp>
      <p:sp>
        <p:nvSpPr>
          <p:cNvPr id="24" name="!!Subline"/>
          <p:cNvSpPr txBox="1"/>
          <p:nvPr/>
        </p:nvSpPr>
        <p:spPr>
          <a:xfrm>
            <a:off x="713232" y="3337560"/>
            <a:ext cx="6858000" cy="640080"/>
          </a:xfrm>
          <a:prstGeom prst="rect">
            <a:avLst/>
          </a:prstGeom>
          <a:noFill/>
        </p:spPr>
        <p:txBody>
          <a:bodyPr wrap="square" lIns="0" rIns="0" tIns="0" bIns="0">
            <a:spAutoFit/>
          </a:bodyPr>
          <a:lstStyle/>
          <a:p>
            <a:pPr>
              <a:spcAft>
                <a:spcPts val="300"/>
              </a:spcAft>
              <a:defRPr sz="3000" b="1">
                <a:solidFill>
                  <a:srgbClr val="F6F7FB"/>
                </a:solidFill>
                <a:latin typeface="Arial"/>
              </a:defRPr>
            </a:pPr>
            <a:r>
              <a:t>замеров за активный день</a:t>
            </a:r>
          </a:p>
        </p:txBody>
      </p:sp>
      <p:sp>
        <p:nvSpPr>
          <p:cNvPr id="25" name="TextBox 24"/>
          <p:cNvSpPr txBox="1"/>
          <p:nvPr/>
        </p:nvSpPr>
        <p:spPr>
          <a:xfrm>
            <a:off x="731520" y="4343400"/>
            <a:ext cx="6858000" cy="1005840"/>
          </a:xfrm>
          <a:prstGeom prst="rect">
            <a:avLst/>
          </a:prstGeom>
          <a:noFill/>
        </p:spPr>
        <p:txBody>
          <a:bodyPr wrap="square" lIns="0" rIns="0" tIns="0" bIns="0">
            <a:spAutoFit/>
          </a:bodyPr>
          <a:lstStyle/>
          <a:p>
            <a:pPr>
              <a:spcAft>
                <a:spcPts val="300"/>
              </a:spcAft>
              <a:defRPr sz="2000" b="0">
                <a:solidFill>
                  <a:srgbClr val="A1AFC2"/>
                </a:solidFill>
                <a:latin typeface="Arial"/>
              </a:defRPr>
            </a:pPr>
            <a:r>
              <a:t>Рабочий сценарий автора.</a:t>
            </a:r>
          </a:p>
          <a:p>
            <a:pPr>
              <a:spcAft>
                <a:spcPts val="300"/>
              </a:spcAft>
              <a:defRPr sz="2000" b="0">
                <a:solidFill>
                  <a:srgbClr val="A1AFC2"/>
                </a:solidFill>
                <a:latin typeface="Arial"/>
              </a:defRPr>
            </a:pPr>
            <a:r>
              <a:t>Частота не распространяется автоматически</a:t>
            </a:r>
          </a:p>
          <a:p>
            <a:pPr>
              <a:spcAft>
                <a:spcPts val="300"/>
              </a:spcAft>
              <a:defRPr sz="2000" b="0">
                <a:solidFill>
                  <a:srgbClr val="A1AFC2"/>
                </a:solidFill>
                <a:latin typeface="Arial"/>
              </a:defRPr>
            </a:pPr>
            <a:r>
              <a:t>на всех пользователей.</a:t>
            </a:r>
          </a:p>
        </p:txBody>
      </p:sp>
      <p:sp>
        <p:nvSpPr>
          <p:cNvPr id="26" name="TextBox 2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Частота замеров — со слов автора; цифры скриншота — пример расчёта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365760" y="548640"/>
            <a:ext cx="6035040" cy="603504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2960000">
            <a:off x="576986" y="759866"/>
            <a:ext cx="5612587" cy="5612587"/>
          </a:xfrm>
          <a:prstGeom prst="ellipse">
            <a:avLst/>
          </a:prstGeom>
        </p:spPr>
      </p:pic>
      <p:sp>
        <p:nvSpPr>
          <p:cNvPr id="4" name="!!LensTint"/>
          <p:cNvSpPr/>
          <p:nvPr/>
        </p:nvSpPr>
        <p:spPr>
          <a:xfrm>
            <a:off x="365760" y="548640"/>
            <a:ext cx="6035040" cy="603504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2960000">
            <a:off x="365760" y="548640"/>
            <a:ext cx="6035040" cy="603504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7820000">
            <a:off x="788212" y="971092"/>
            <a:ext cx="5190134" cy="5190134"/>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080000">
            <a:off x="1331366" y="1514246"/>
            <a:ext cx="4103827" cy="4103827"/>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5940000">
            <a:off x="1904695" y="2087575"/>
            <a:ext cx="2957169" cy="2957169"/>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105349" y="1902394"/>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2916995" y="79221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4983037" y="128822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6093215" y="309987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5597202" y="516591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3785556" y="62760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719514" y="578008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609336" y="39684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9354312" y="2039112"/>
            <a:ext cx="1773936" cy="364845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manual.png"/>
          <p:cNvPicPr>
            <a:picLocks noChangeAspect="1"/>
          </p:cNvPicPr>
          <p:nvPr/>
        </p:nvPicPr>
        <p:blipFill>
          <a:blip r:embed="rId3"/>
          <a:srcRect t="583" b="583"/>
          <a:stretch>
            <a:fillRect/>
          </a:stretch>
        </p:blipFill>
        <p:spPr>
          <a:xfrm>
            <a:off x="9418320" y="2103120"/>
            <a:ext cx="1645920" cy="352044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09 / 29</a:t>
            </a:r>
          </a:p>
        </p:txBody>
      </p:sp>
      <p:sp>
        <p:nvSpPr>
          <p:cNvPr id="22" name="!!Progress"/>
          <p:cNvSpPr/>
          <p:nvPr/>
        </p:nvSpPr>
        <p:spPr>
          <a:xfrm>
            <a:off x="0" y="6821424"/>
            <a:ext cx="3783629"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914400" y="1828800"/>
            <a:ext cx="7680960" cy="1828800"/>
          </a:xfrm>
          <a:prstGeom prst="rect">
            <a:avLst/>
          </a:prstGeom>
          <a:noFill/>
        </p:spPr>
        <p:txBody>
          <a:bodyPr wrap="square" lIns="0" rIns="0" tIns="0" bIns="0">
            <a:spAutoFit/>
          </a:bodyPr>
          <a:lstStyle/>
          <a:p>
            <a:pPr>
              <a:spcAft>
                <a:spcPts val="300"/>
              </a:spcAft>
              <a:defRPr sz="16000" b="1">
                <a:solidFill>
                  <a:srgbClr val="FFCC38"/>
                </a:solidFill>
                <a:latin typeface="Arial"/>
              </a:defRPr>
            </a:pPr>
            <a:r>
              <a:t>144</a:t>
            </a:r>
          </a:p>
        </p:txBody>
      </p:sp>
      <p:sp>
        <p:nvSpPr>
          <p:cNvPr id="24" name="!!Subline"/>
          <p:cNvSpPr txBox="1"/>
          <p:nvPr/>
        </p:nvSpPr>
        <p:spPr>
          <a:xfrm>
            <a:off x="1188720" y="3840480"/>
            <a:ext cx="6949440" cy="548640"/>
          </a:xfrm>
          <a:prstGeom prst="rect">
            <a:avLst/>
          </a:prstGeom>
          <a:noFill/>
        </p:spPr>
        <p:txBody>
          <a:bodyPr wrap="square" lIns="0" rIns="0" tIns="0" bIns="0">
            <a:spAutoFit/>
          </a:bodyPr>
          <a:lstStyle/>
          <a:p>
            <a:pPr>
              <a:spcAft>
                <a:spcPts val="300"/>
              </a:spcAft>
              <a:defRPr sz="4300" b="1">
                <a:solidFill>
                  <a:srgbClr val="F6F7FB"/>
                </a:solidFill>
                <a:latin typeface="Arial"/>
              </a:defRPr>
            </a:pPr>
            <a:r>
              <a:t>м³/сут</a:t>
            </a:r>
          </a:p>
        </p:txBody>
      </p:sp>
      <p:sp>
        <p:nvSpPr>
          <p:cNvPr id="25" name="TextBox 24"/>
          <p:cNvSpPr txBox="1"/>
          <p:nvPr/>
        </p:nvSpPr>
        <p:spPr>
          <a:xfrm>
            <a:off x="1234440" y="4937760"/>
            <a:ext cx="6858000" cy="640080"/>
          </a:xfrm>
          <a:prstGeom prst="rect">
            <a:avLst/>
          </a:prstGeom>
          <a:noFill/>
        </p:spPr>
        <p:txBody>
          <a:bodyPr wrap="square" lIns="0" rIns="0" tIns="0" bIns="0">
            <a:spAutoFit/>
          </a:bodyPr>
          <a:lstStyle/>
          <a:p>
            <a:pPr>
              <a:spcAft>
                <a:spcPts val="300"/>
              </a:spcAft>
              <a:defRPr sz="2200" b="0">
                <a:solidFill>
                  <a:srgbClr val="A1AFC2"/>
                </a:solidFill>
                <a:latin typeface="Arial"/>
              </a:defRPr>
            </a:pPr>
            <a:r>
              <a:t>100 литров / 60 секунд</a:t>
            </a:r>
          </a:p>
          <a:p>
            <a:pPr>
              <a:spcAft>
                <a:spcPts val="300"/>
              </a:spcAft>
              <a:defRPr sz="2200" b="0">
                <a:solidFill>
                  <a:srgbClr val="A1AFC2"/>
                </a:solidFill>
                <a:latin typeface="Arial"/>
              </a:defRPr>
            </a:pPr>
            <a:r>
              <a:t>Математический пример</a:t>
            </a:r>
          </a:p>
        </p:txBody>
      </p:sp>
      <p:sp>
        <p:nvSpPr>
          <p:cNvPr id="26" name="TextBox 2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Частота замеров — со слов автора; цифры скриншота — пример расчёта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309360" y="731520"/>
            <a:ext cx="5303520" cy="530352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4580000">
            <a:off x="6494983" y="917143"/>
            <a:ext cx="4932273" cy="4932273"/>
          </a:xfrm>
          <a:prstGeom prst="ellipse">
            <a:avLst/>
          </a:prstGeom>
        </p:spPr>
      </p:pic>
      <p:sp>
        <p:nvSpPr>
          <p:cNvPr id="4" name="!!LensTint"/>
          <p:cNvSpPr/>
          <p:nvPr/>
        </p:nvSpPr>
        <p:spPr>
          <a:xfrm>
            <a:off x="6309360" y="731520"/>
            <a:ext cx="5303520" cy="530352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4580000">
            <a:off x="6309360" y="731520"/>
            <a:ext cx="5303520" cy="530352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9440000">
            <a:off x="6680606" y="1102766"/>
            <a:ext cx="4561027" cy="4561027"/>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2700000">
            <a:off x="7157923" y="1580083"/>
            <a:ext cx="3606393" cy="3606393"/>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7560000">
            <a:off x="7661757" y="2083917"/>
            <a:ext cx="2598724" cy="2598724"/>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7821552" y="1177559"/>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9682999" y="103106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1102832" y="224371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1249331" y="410515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0036679" y="552499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8175232" y="567149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6755399" y="44588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6608900" y="259739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manual.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10 / 29</a:t>
            </a:r>
          </a:p>
        </p:txBody>
      </p:sp>
      <p:sp>
        <p:nvSpPr>
          <p:cNvPr id="22" name="!!Progress"/>
          <p:cNvSpPr/>
          <p:nvPr/>
        </p:nvSpPr>
        <p:spPr>
          <a:xfrm>
            <a:off x="0" y="6821424"/>
            <a:ext cx="420403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640080" y="1554480"/>
            <a:ext cx="9144000" cy="1143000"/>
          </a:xfrm>
          <a:prstGeom prst="rect">
            <a:avLst/>
          </a:prstGeom>
          <a:noFill/>
        </p:spPr>
        <p:txBody>
          <a:bodyPr wrap="square" lIns="0" rIns="0" tIns="0" bIns="0">
            <a:spAutoFit/>
          </a:bodyPr>
          <a:lstStyle/>
          <a:p>
            <a:pPr>
              <a:spcAft>
                <a:spcPts val="300"/>
              </a:spcAft>
              <a:defRPr sz="6700" b="1">
                <a:solidFill>
                  <a:srgbClr val="FFCC38"/>
                </a:solidFill>
                <a:latin typeface="Arial"/>
              </a:defRPr>
            </a:pPr>
            <a:r>
              <a:t>23:50 → 00:10</a:t>
            </a:r>
          </a:p>
        </p:txBody>
      </p:sp>
      <p:sp>
        <p:nvSpPr>
          <p:cNvPr id="24" name="!!Subline"/>
          <p:cNvSpPr txBox="1"/>
          <p:nvPr/>
        </p:nvSpPr>
        <p:spPr>
          <a:xfrm>
            <a:off x="713232" y="3108960"/>
            <a:ext cx="6583680" cy="640080"/>
          </a:xfrm>
          <a:prstGeom prst="rect">
            <a:avLst/>
          </a:prstGeom>
          <a:noFill/>
        </p:spPr>
        <p:txBody>
          <a:bodyPr wrap="square" lIns="0" rIns="0" tIns="0" bIns="0">
            <a:spAutoFit/>
          </a:bodyPr>
          <a:lstStyle/>
          <a:p>
            <a:pPr>
              <a:spcAft>
                <a:spcPts val="300"/>
              </a:spcAft>
              <a:defRPr sz="3500" b="1">
                <a:solidFill>
                  <a:srgbClr val="F6F7FB"/>
                </a:solidFill>
                <a:latin typeface="Arial"/>
              </a:defRPr>
            </a:pPr>
            <a:r>
              <a:t>20 минут через полночь</a:t>
            </a:r>
          </a:p>
        </p:txBody>
      </p:sp>
      <p:sp>
        <p:nvSpPr>
          <p:cNvPr id="25" name="TextBox 24"/>
          <p:cNvSpPr txBox="1"/>
          <p:nvPr/>
        </p:nvSpPr>
        <p:spPr>
          <a:xfrm>
            <a:off x="731520" y="4251960"/>
            <a:ext cx="6492240" cy="1005840"/>
          </a:xfrm>
          <a:prstGeom prst="rect">
            <a:avLst/>
          </a:prstGeom>
          <a:noFill/>
        </p:spPr>
        <p:txBody>
          <a:bodyPr wrap="square" lIns="0" rIns="0" tIns="0" bIns="0">
            <a:spAutoFit/>
          </a:bodyPr>
          <a:lstStyle/>
          <a:p>
            <a:pPr>
              <a:spcAft>
                <a:spcPts val="300"/>
              </a:spcAft>
              <a:defRPr sz="2200" b="0">
                <a:solidFill>
                  <a:srgbClr val="A1AFC2"/>
                </a:solidFill>
                <a:latin typeface="Arial"/>
              </a:defRPr>
            </a:pPr>
            <a:r>
              <a:t>Даты начала и окончания выбираются отдельно.</a:t>
            </a:r>
          </a:p>
          <a:p>
            <a:pPr>
              <a:spcAft>
                <a:spcPts val="300"/>
              </a:spcAft>
              <a:defRPr sz="2200" b="0">
                <a:solidFill>
                  <a:srgbClr val="A1AFC2"/>
                </a:solidFill>
                <a:latin typeface="Arial"/>
              </a:defRPr>
            </a:pPr>
            <a:r>
              <a:t>Пример: 100 л за 20 минут → 7,2 м³/сут.</a:t>
            </a:r>
          </a:p>
        </p:txBody>
      </p:sp>
      <p:sp>
        <p:nvSpPr>
          <p:cNvPr id="26" name="Oval 25"/>
          <p:cNvSpPr/>
          <p:nvPr/>
        </p:nvSpPr>
        <p:spPr>
          <a:xfrm>
            <a:off x="9578340" y="3086099"/>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126980" y="3233107"/>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528612" y="3634739"/>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675619" y="4183379"/>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28612" y="4732019"/>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26980" y="5133652"/>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578340" y="5280659"/>
            <a:ext cx="45720" cy="45720"/>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Реализовано в PWA 3.0.0; восстановление и история проверены автотестами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30936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6200000">
            <a:off x="6533388" y="452627"/>
            <a:ext cx="5952744" cy="5952744"/>
          </a:xfrm>
          <a:prstGeom prst="ellipse">
            <a:avLst/>
          </a:prstGeom>
        </p:spPr>
      </p:pic>
      <p:sp>
        <p:nvSpPr>
          <p:cNvPr id="4" name="!!LensTint"/>
          <p:cNvSpPr/>
          <p:nvPr/>
        </p:nvSpPr>
        <p:spPr>
          <a:xfrm>
            <a:off x="630936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6200000">
            <a:off x="630936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21060000">
            <a:off x="675741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4320000">
            <a:off x="733348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9180000">
            <a:off x="794156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9477756" y="452627"/>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1559738" y="13150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2422124" y="33969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1559738" y="54789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9477756" y="634136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7395773" y="54789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6533388" y="33969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7395773" y="13150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988552" y="1078992"/>
            <a:ext cx="2276856" cy="470001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manual.png"/>
          <p:cNvPicPr>
            <a:picLocks noChangeAspect="1"/>
          </p:cNvPicPr>
          <p:nvPr/>
        </p:nvPicPr>
        <p:blipFill>
          <a:blip r:embed="rId3"/>
          <a:srcRect t="842" b="842"/>
          <a:stretch>
            <a:fillRect/>
          </a:stretch>
        </p:blipFill>
        <p:spPr>
          <a:xfrm>
            <a:off x="9052560" y="1143000"/>
            <a:ext cx="2148840" cy="457200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11 / 29</a:t>
            </a:r>
          </a:p>
        </p:txBody>
      </p:sp>
      <p:sp>
        <p:nvSpPr>
          <p:cNvPr id="22" name="!!Progress"/>
          <p:cNvSpPr/>
          <p:nvPr/>
        </p:nvSpPr>
        <p:spPr>
          <a:xfrm>
            <a:off x="0" y="6821424"/>
            <a:ext cx="4624436"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315200" cy="1645920"/>
          </a:xfrm>
          <a:prstGeom prst="rect">
            <a:avLst/>
          </a:prstGeom>
          <a:noFill/>
        </p:spPr>
        <p:txBody>
          <a:bodyPr wrap="square" lIns="0" rIns="0" tIns="0" bIns="0">
            <a:spAutoFit/>
          </a:bodyPr>
          <a:lstStyle/>
          <a:p>
            <a:pPr>
              <a:spcAft>
                <a:spcPts val="300"/>
              </a:spcAft>
              <a:defRPr sz="4400" b="1">
                <a:solidFill>
                  <a:srgbClr val="F6F7FB"/>
                </a:solidFill>
                <a:latin typeface="Arial"/>
              </a:defRPr>
            </a:pPr>
            <a:r>
              <a:t>Старт.</a:t>
            </a:r>
          </a:p>
          <a:p>
            <a:pPr>
              <a:spcAft>
                <a:spcPts val="300"/>
              </a:spcAft>
              <a:defRPr sz="4400" b="1">
                <a:solidFill>
                  <a:srgbClr val="F6F7FB"/>
                </a:solidFill>
                <a:latin typeface="Arial"/>
              </a:defRPr>
            </a:pPr>
            <a:r>
              <a:t>Возврат. Результат.</a:t>
            </a:r>
          </a:p>
        </p:txBody>
      </p:sp>
      <p:sp>
        <p:nvSpPr>
          <p:cNvPr id="24" name="!!Subline"/>
          <p:cNvSpPr txBox="1"/>
          <p:nvPr/>
        </p:nvSpPr>
        <p:spPr>
          <a:xfrm>
            <a:off x="612648" y="2926080"/>
            <a:ext cx="731520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Таймер восстанавливается, корректный замер сохраняется автоматически</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7269480" cy="457200"/>
          </a:xfrm>
          <a:prstGeom prst="rect">
            <a:avLst/>
          </a:prstGeom>
          <a:noFill/>
        </p:spPr>
        <p:txBody>
          <a:bodyPr wrap="square" lIns="0" rIns="0" tIns="0" bIns="0">
            <a:spAutoFit/>
          </a:bodyPr>
          <a:lstStyle/>
          <a:p>
            <a:pPr>
              <a:spcAft>
                <a:spcPts val="300"/>
              </a:spcAft>
              <a:defRPr sz="2100" b="0">
                <a:solidFill>
                  <a:srgbClr val="F6F7FB"/>
                </a:solidFill>
                <a:latin typeface="Arial"/>
              </a:defRPr>
            </a:pPr>
            <a:r>
              <a:t>Состояние таймера сохраняется</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7269480" cy="457200"/>
          </a:xfrm>
          <a:prstGeom prst="rect">
            <a:avLst/>
          </a:prstGeom>
          <a:noFill/>
        </p:spPr>
        <p:txBody>
          <a:bodyPr wrap="square" lIns="0" rIns="0" tIns="0" bIns="0">
            <a:spAutoFit/>
          </a:bodyPr>
          <a:lstStyle/>
          <a:p>
            <a:pPr>
              <a:spcAft>
                <a:spcPts val="300"/>
              </a:spcAft>
              <a:defRPr sz="2100" b="0">
                <a:solidFill>
                  <a:srgbClr val="F6F7FB"/>
                </a:solidFill>
                <a:latin typeface="Arial"/>
              </a:defRPr>
            </a:pPr>
            <a:r>
              <a:t>Возврат к текущему замеру</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7269480" cy="457200"/>
          </a:xfrm>
          <a:prstGeom prst="rect">
            <a:avLst/>
          </a:prstGeom>
          <a:noFill/>
        </p:spPr>
        <p:txBody>
          <a:bodyPr wrap="square" lIns="0" rIns="0" tIns="0" bIns="0">
            <a:spAutoFit/>
          </a:bodyPr>
          <a:lstStyle/>
          <a:p>
            <a:pPr>
              <a:spcAft>
                <a:spcPts val="300"/>
              </a:spcAft>
              <a:defRPr sz="2100" b="0">
                <a:solidFill>
                  <a:srgbClr val="F6F7FB"/>
                </a:solidFill>
                <a:latin typeface="Arial"/>
              </a:defRPr>
            </a:pPr>
            <a:r>
              <a:t>История на этом устройстве</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Реализовано в PWA 3.0.0; восстановление и история проверены автотестами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172200" y="320040"/>
            <a:ext cx="6126480" cy="612648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7820000">
            <a:off x="6386626" y="534466"/>
            <a:ext cx="5697626" cy="5697626"/>
          </a:xfrm>
          <a:prstGeom prst="ellipse">
            <a:avLst/>
          </a:prstGeom>
        </p:spPr>
      </p:pic>
      <p:sp>
        <p:nvSpPr>
          <p:cNvPr id="4" name="!!LensTint"/>
          <p:cNvSpPr/>
          <p:nvPr/>
        </p:nvSpPr>
        <p:spPr>
          <a:xfrm>
            <a:off x="6172200" y="320040"/>
            <a:ext cx="6126480" cy="612648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7820000">
            <a:off x="6172200" y="320040"/>
            <a:ext cx="6126480" cy="612648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080000">
            <a:off x="6601053" y="748893"/>
            <a:ext cx="5268772" cy="5268772"/>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5940000">
            <a:off x="7152436" y="1300276"/>
            <a:ext cx="4166006" cy="4166006"/>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0800000">
            <a:off x="7734452" y="1882292"/>
            <a:ext cx="3001975" cy="3001975"/>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0482863" y="840258"/>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1883685" y="248041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1714453" y="463070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0074301" y="603152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7924008" y="586229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6523186" y="422214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6692418" y="207184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8332570" y="67102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394192" y="758952"/>
            <a:ext cx="2551176" cy="529437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vnr.png"/>
          <p:cNvPicPr>
            <a:picLocks noChangeAspect="1"/>
          </p:cNvPicPr>
          <p:nvPr/>
        </p:nvPicPr>
        <p:blipFill>
          <a:blip r:embed="rId3"/>
          <a:srcRect t="740" b="740"/>
          <a:stretch>
            <a:fillRect/>
          </a:stretch>
        </p:blipFill>
        <p:spPr>
          <a:xfrm>
            <a:off x="8458200" y="822960"/>
            <a:ext cx="2423160" cy="516636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12 / 29</a:t>
            </a:r>
          </a:p>
        </p:txBody>
      </p:sp>
      <p:sp>
        <p:nvSpPr>
          <p:cNvPr id="22" name="!!Progress"/>
          <p:cNvSpPr/>
          <p:nvPr/>
        </p:nvSpPr>
        <p:spPr>
          <a:xfrm>
            <a:off x="0" y="6821424"/>
            <a:ext cx="5044839"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1463040"/>
            <a:ext cx="7315200" cy="1691640"/>
          </a:xfrm>
          <a:prstGeom prst="rect">
            <a:avLst/>
          </a:prstGeom>
          <a:noFill/>
        </p:spPr>
        <p:txBody>
          <a:bodyPr wrap="square" lIns="0" rIns="0" tIns="0" bIns="0">
            <a:spAutoFit/>
          </a:bodyPr>
          <a:lstStyle/>
          <a:p>
            <a:pPr>
              <a:spcAft>
                <a:spcPts val="300"/>
              </a:spcAft>
              <a:defRPr sz="13800" b="1">
                <a:solidFill>
                  <a:srgbClr val="FFCC38"/>
                </a:solidFill>
                <a:latin typeface="Arial"/>
              </a:defRPr>
            </a:pPr>
            <a:r>
              <a:t>207</a:t>
            </a:r>
          </a:p>
        </p:txBody>
      </p:sp>
      <p:sp>
        <p:nvSpPr>
          <p:cNvPr id="24" name="!!Subline"/>
          <p:cNvSpPr txBox="1"/>
          <p:nvPr/>
        </p:nvSpPr>
        <p:spPr>
          <a:xfrm>
            <a:off x="713232" y="3474720"/>
            <a:ext cx="6858000" cy="914400"/>
          </a:xfrm>
          <a:prstGeom prst="rect">
            <a:avLst/>
          </a:prstGeom>
          <a:noFill/>
        </p:spPr>
        <p:txBody>
          <a:bodyPr wrap="square" lIns="0" rIns="0" tIns="0" bIns="0">
            <a:spAutoFit/>
          </a:bodyPr>
          <a:lstStyle/>
          <a:p>
            <a:pPr>
              <a:spcAft>
                <a:spcPts val="300"/>
              </a:spcAft>
              <a:defRPr sz="3300" b="1">
                <a:solidFill>
                  <a:srgbClr val="F6F7FB"/>
                </a:solidFill>
                <a:latin typeface="Arial"/>
              </a:defRPr>
            </a:pPr>
            <a:r>
              <a:t>страниц ВНР</a:t>
            </a:r>
          </a:p>
          <a:p>
            <a:pPr>
              <a:spcAft>
                <a:spcPts val="300"/>
              </a:spcAft>
              <a:defRPr sz="3300" b="1">
                <a:solidFill>
                  <a:srgbClr val="F6F7FB"/>
                </a:solidFill>
                <a:latin typeface="Arial"/>
              </a:defRPr>
            </a:pPr>
            <a:r>
              <a:t>на телефоне</a:t>
            </a:r>
          </a:p>
        </p:txBody>
      </p:sp>
      <p:sp>
        <p:nvSpPr>
          <p:cNvPr id="25" name="TextBox 24"/>
          <p:cNvSpPr txBox="1"/>
          <p:nvPr/>
        </p:nvSpPr>
        <p:spPr>
          <a:xfrm>
            <a:off x="731520" y="5029200"/>
            <a:ext cx="6949440" cy="502920"/>
          </a:xfrm>
          <a:prstGeom prst="rect">
            <a:avLst/>
          </a:prstGeom>
          <a:noFill/>
        </p:spPr>
        <p:txBody>
          <a:bodyPr wrap="square" lIns="0" rIns="0" tIns="0" bIns="0">
            <a:spAutoFit/>
          </a:bodyPr>
          <a:lstStyle/>
          <a:p>
            <a:pPr>
              <a:spcAft>
                <a:spcPts val="300"/>
              </a:spcAft>
              <a:defRPr sz="2000" b="0">
                <a:solidFill>
                  <a:srgbClr val="A1AFC2"/>
                </a:solidFill>
                <a:latin typeface="Arial"/>
              </a:defRPr>
            </a:pPr>
            <a:r>
              <a:t>Офлайн после предварительной загрузки</a:t>
            </a:r>
          </a:p>
        </p:txBody>
      </p:sp>
      <p:sp>
        <p:nvSpPr>
          <p:cNvPr id="26" name="TextBox 2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ВНР № П1-01.05 ТИ-0009 ЮЛ-099, версия 7; распоряжение 16.10.2025 № 2345</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5669279" y="-137159"/>
            <a:ext cx="7132320" cy="713232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9440000">
            <a:off x="5918911" y="112471"/>
            <a:ext cx="6633057" cy="6633057"/>
          </a:xfrm>
          <a:prstGeom prst="ellipse">
            <a:avLst/>
          </a:prstGeom>
        </p:spPr>
      </p:pic>
      <p:sp>
        <p:nvSpPr>
          <p:cNvPr id="4" name="!!LensTint"/>
          <p:cNvSpPr/>
          <p:nvPr/>
        </p:nvSpPr>
        <p:spPr>
          <a:xfrm>
            <a:off x="5669279" y="-137159"/>
            <a:ext cx="7132320" cy="713232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9440000">
            <a:off x="5669279" y="-137159"/>
            <a:ext cx="7132320" cy="713232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2700000">
            <a:off x="6168542" y="362102"/>
            <a:ext cx="6133795" cy="6133795"/>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7560000">
            <a:off x="6810451" y="1004011"/>
            <a:ext cx="4849977" cy="4849977"/>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2420000">
            <a:off x="7488021" y="1681581"/>
            <a:ext cx="3494836" cy="3494836"/>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1857713" y="1468550"/>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2443910" y="39102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1131881" y="605127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8690195" y="663747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6549158" y="532544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5962961" y="288375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7274990" y="74271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9716676" y="15652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7982712" y="1170432"/>
            <a:ext cx="2916936" cy="4480559"/>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vnr.png"/>
          <p:cNvPicPr>
            <a:picLocks noChangeAspect="1"/>
          </p:cNvPicPr>
          <p:nvPr/>
        </p:nvPicPr>
        <p:blipFill>
          <a:blip r:embed="rId3"/>
          <a:srcRect b="28000"/>
          <a:stretch>
            <a:fillRect/>
          </a:stretch>
        </p:blipFill>
        <p:spPr>
          <a:xfrm>
            <a:off x="8046720" y="1234440"/>
            <a:ext cx="2788920" cy="4352544"/>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13 / 29</a:t>
            </a:r>
          </a:p>
        </p:txBody>
      </p:sp>
      <p:sp>
        <p:nvSpPr>
          <p:cNvPr id="22" name="!!Progress"/>
          <p:cNvSpPr/>
          <p:nvPr/>
        </p:nvSpPr>
        <p:spPr>
          <a:xfrm>
            <a:off x="0" y="6821424"/>
            <a:ext cx="546524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040880" cy="1645920"/>
          </a:xfrm>
          <a:prstGeom prst="rect">
            <a:avLst/>
          </a:prstGeom>
          <a:noFill/>
        </p:spPr>
        <p:txBody>
          <a:bodyPr wrap="square" lIns="0" rIns="0" tIns="0" bIns="0">
            <a:spAutoFit/>
          </a:bodyPr>
          <a:lstStyle/>
          <a:p>
            <a:pPr>
              <a:spcAft>
                <a:spcPts val="300"/>
              </a:spcAft>
              <a:defRPr sz="4100" b="1">
                <a:solidFill>
                  <a:srgbClr val="F6F7FB"/>
                </a:solidFill>
                <a:latin typeface="Arial"/>
              </a:defRPr>
            </a:pPr>
            <a:r>
              <a:t>Нужная страница.</a:t>
            </a:r>
          </a:p>
          <a:p>
            <a:pPr>
              <a:spcAft>
                <a:spcPts val="300"/>
              </a:spcAft>
              <a:defRPr sz="4100" b="1">
                <a:solidFill>
                  <a:srgbClr val="F6F7FB"/>
                </a:solidFill>
                <a:latin typeface="Arial"/>
              </a:defRPr>
            </a:pPr>
            <a:r>
              <a:t>В нужный момент.</a:t>
            </a:r>
          </a:p>
        </p:txBody>
      </p:sp>
      <p:sp>
        <p:nvSpPr>
          <p:cNvPr id="24" name="!!Subline"/>
          <p:cNvSpPr txBox="1"/>
          <p:nvPr/>
        </p:nvSpPr>
        <p:spPr>
          <a:xfrm>
            <a:off x="612648" y="3063240"/>
            <a:ext cx="704088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Поиск · ссылки · закладки · офлайн после загрузки</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640080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Найти совпадение</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640080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Открыть ссылку</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640080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Вернуться к закладке</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ВНР № П1-01.05 ТИ-0009 ЮЛ-099, версия 7; распоряжение 16.10.2025 № 2345</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2106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2106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432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918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404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2751633" y="2936395"/>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2225559" y="51276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0304116" y="63051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8112859" y="57790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6935398" y="38575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7461472" y="16663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9382915" y="4888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1574172" y="10149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89711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tap.png"/>
          <p:cNvPicPr>
            <a:picLocks noChangeAspect="1"/>
          </p:cNvPicPr>
          <p:nvPr/>
        </p:nvPicPr>
        <p:blipFill>
          <a:blip r:embed="rId3"/>
          <a:srcRect t="681" b="681"/>
          <a:stretch>
            <a:fillRect/>
          </a:stretch>
        </p:blipFill>
        <p:spPr>
          <a:xfrm>
            <a:off x="896112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14 / 29</a:t>
            </a:r>
          </a:p>
        </p:txBody>
      </p:sp>
      <p:sp>
        <p:nvSpPr>
          <p:cNvPr id="22" name="!!Progress"/>
          <p:cNvSpPr/>
          <p:nvPr/>
        </p:nvSpPr>
        <p:spPr>
          <a:xfrm>
            <a:off x="0" y="6821424"/>
            <a:ext cx="5885645"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315200" cy="1645920"/>
          </a:xfrm>
          <a:prstGeom prst="rect">
            <a:avLst/>
          </a:prstGeom>
          <a:noFill/>
        </p:spPr>
        <p:txBody>
          <a:bodyPr wrap="square" lIns="0" rIns="0" tIns="0" bIns="0">
            <a:spAutoFit/>
          </a:bodyPr>
          <a:lstStyle/>
          <a:p>
            <a:pPr>
              <a:spcAft>
                <a:spcPts val="300"/>
              </a:spcAft>
              <a:defRPr sz="3900" b="1">
                <a:solidFill>
                  <a:srgbClr val="F6F7FB"/>
                </a:solidFill>
                <a:latin typeface="Arial"/>
              </a:defRPr>
            </a:pPr>
            <a:r>
              <a:t>Отпайка.</a:t>
            </a:r>
          </a:p>
          <a:p>
            <a:pPr>
              <a:spcAft>
                <a:spcPts val="300"/>
              </a:spcAft>
              <a:defRPr sz="3900" b="1">
                <a:solidFill>
                  <a:srgbClr val="F6F7FB"/>
                </a:solidFill>
                <a:latin typeface="Arial"/>
              </a:defRPr>
            </a:pPr>
            <a:r>
              <a:t>Расчёт напряжения.</a:t>
            </a:r>
          </a:p>
        </p:txBody>
      </p:sp>
      <p:sp>
        <p:nvSpPr>
          <p:cNvPr id="24" name="!!Subline"/>
          <p:cNvSpPr txBox="1"/>
          <p:nvPr/>
        </p:nvSpPr>
        <p:spPr>
          <a:xfrm>
            <a:off x="612648" y="2743200"/>
            <a:ext cx="731520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Питание · ПЭД · кабель · вариант ЧРП</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Питание и параметры двигателя</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Потери напряжения в кабеле</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7269480" cy="457200"/>
          </a:xfrm>
          <a:prstGeom prst="rect">
            <a:avLst/>
          </a:prstGeom>
          <a:noFill/>
        </p:spPr>
        <p:txBody>
          <a:bodyPr wrap="square" lIns="0" rIns="0" tIns="0" bIns="0">
            <a:spAutoFit/>
          </a:bodyPr>
          <a:lstStyle/>
          <a:p>
            <a:pPr>
              <a:spcAft>
                <a:spcPts val="300"/>
              </a:spcAft>
              <a:defRPr sz="2000" b="0">
                <a:solidFill>
                  <a:srgbClr val="F6F7FB"/>
                </a:solidFill>
                <a:latin typeface="Arial"/>
              </a:defRPr>
            </a:pPr>
            <a:r>
              <a:t>Вариант с ЧРП / без ЧРП</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Формулы и варианты перенесены из Android; эталонные проверки расчёта отпайки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08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08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594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080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566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2643776" y="4306855"/>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1180231" y="60204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8933656" y="619725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7220064" y="473371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7043255" y="24871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8506800" y="77354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0753375" y="5967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2466967" y="206028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889711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technologist.png"/>
          <p:cNvPicPr>
            <a:picLocks noChangeAspect="1"/>
          </p:cNvPicPr>
          <p:nvPr/>
        </p:nvPicPr>
        <p:blipFill>
          <a:blip r:embed="rId3"/>
          <a:srcRect t="681" b="681"/>
          <a:stretch>
            <a:fillRect/>
          </a:stretch>
        </p:blipFill>
        <p:spPr>
          <a:xfrm>
            <a:off x="896112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15 / 29</a:t>
            </a:r>
          </a:p>
        </p:txBody>
      </p:sp>
      <p:sp>
        <p:nvSpPr>
          <p:cNvPr id="22" name="!!Progress"/>
          <p:cNvSpPr/>
          <p:nvPr/>
        </p:nvSpPr>
        <p:spPr>
          <a:xfrm>
            <a:off x="0" y="6821424"/>
            <a:ext cx="6306049"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800" b="1">
                <a:solidFill>
                  <a:srgbClr val="F6F7FB"/>
                </a:solidFill>
                <a:latin typeface="Arial"/>
              </a:defRPr>
            </a:pPr>
            <a:r>
              <a:t>Подсказка</a:t>
            </a:r>
          </a:p>
          <a:p>
            <a:pPr>
              <a:spcAft>
                <a:spcPts val="300"/>
              </a:spcAft>
              <a:defRPr sz="4800" b="1">
                <a:solidFill>
                  <a:srgbClr val="F6F7FB"/>
                </a:solidFill>
                <a:latin typeface="Arial"/>
              </a:defRPr>
            </a:pPr>
            <a:r>
              <a:t>в нужный момент.</a:t>
            </a:r>
          </a:p>
        </p:txBody>
      </p:sp>
      <p:sp>
        <p:nvSpPr>
          <p:cNvPr id="24" name="!!Subline"/>
          <p:cNvSpPr txBox="1"/>
          <p:nvPr/>
        </p:nvSpPr>
        <p:spPr>
          <a:xfrm>
            <a:off x="612648" y="310896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Поддержка менее опытного оператора и работы наставника</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7498079" cy="457200"/>
          </a:xfrm>
          <a:prstGeom prst="rect">
            <a:avLst/>
          </a:prstGeom>
          <a:noFill/>
        </p:spPr>
        <p:txBody>
          <a:bodyPr wrap="square" lIns="0" rIns="0" tIns="0" bIns="0">
            <a:spAutoFit/>
          </a:bodyPr>
          <a:lstStyle/>
          <a:p>
            <a:pPr>
              <a:spcAft>
                <a:spcPts val="300"/>
              </a:spcAft>
              <a:defRPr sz="2100" b="0">
                <a:solidFill>
                  <a:srgbClr val="F6F7FB"/>
                </a:solidFill>
                <a:latin typeface="Arial"/>
              </a:defRPr>
            </a:pPr>
            <a:r>
              <a:t>Помощник по рабочим ситуациям</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7498079" cy="457200"/>
          </a:xfrm>
          <a:prstGeom prst="rect">
            <a:avLst/>
          </a:prstGeom>
          <a:noFill/>
        </p:spPr>
        <p:txBody>
          <a:bodyPr wrap="square" lIns="0" rIns="0" tIns="0" bIns="0">
            <a:spAutoFit/>
          </a:bodyPr>
          <a:lstStyle/>
          <a:p>
            <a:pPr>
              <a:spcAft>
                <a:spcPts val="300"/>
              </a:spcAft>
              <a:defRPr sz="2100" b="0">
                <a:solidFill>
                  <a:srgbClr val="F6F7FB"/>
                </a:solidFill>
                <a:latin typeface="Arial"/>
              </a:defRPr>
            </a:pPr>
            <a:r>
              <a:t>Инструкции пяти станций</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7498079" cy="457200"/>
          </a:xfrm>
          <a:prstGeom prst="rect">
            <a:avLst/>
          </a:prstGeom>
          <a:noFill/>
        </p:spPr>
        <p:txBody>
          <a:bodyPr wrap="square" lIns="0" rIns="0" tIns="0" bIns="0">
            <a:spAutoFit/>
          </a:bodyPr>
          <a:lstStyle/>
          <a:p>
            <a:pPr>
              <a:spcAft>
                <a:spcPts val="300"/>
              </a:spcAft>
              <a:defRPr sz="2100" b="0">
                <a:solidFill>
                  <a:srgbClr val="F6F7FB"/>
                </a:solidFill>
                <a:latin typeface="Arial"/>
              </a:defRPr>
            </a:pPr>
            <a:r>
              <a:t>Практический показ с наставником</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Доступные материалы Android: 12 тем помощника; 75 шагов станций и 71 фотография</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270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270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756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242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728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1925498" y="5478978"/>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9843516" y="634136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7761533" y="54789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6899148" y="33969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7761533" y="13150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9843515" y="45262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1925498" y="13150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2787884" y="33969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16 / 29</a:t>
            </a:r>
          </a:p>
        </p:txBody>
      </p:sp>
      <p:sp>
        <p:nvSpPr>
          <p:cNvPr id="22" name="!!Progress"/>
          <p:cNvSpPr/>
          <p:nvPr/>
        </p:nvSpPr>
        <p:spPr>
          <a:xfrm>
            <a:off x="0" y="6821424"/>
            <a:ext cx="672645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640080" y="914400"/>
            <a:ext cx="10789920" cy="1005840"/>
          </a:xfrm>
          <a:prstGeom prst="rect">
            <a:avLst/>
          </a:prstGeom>
          <a:noFill/>
        </p:spPr>
        <p:txBody>
          <a:bodyPr wrap="square" lIns="0" rIns="0" tIns="0" bIns="0">
            <a:spAutoFit/>
          </a:bodyPr>
          <a:lstStyle/>
          <a:p>
            <a:pPr>
              <a:spcAft>
                <a:spcPts val="300"/>
              </a:spcAft>
              <a:defRPr sz="5600" b="1">
                <a:solidFill>
                  <a:srgbClr val="F6F7FB"/>
                </a:solidFill>
                <a:latin typeface="Arial"/>
              </a:defRPr>
            </a:pPr>
            <a:r>
              <a:t>Расчёты + знания</a:t>
            </a:r>
          </a:p>
        </p:txBody>
      </p:sp>
      <p:sp>
        <p:nvSpPr>
          <p:cNvPr id="24" name="!!Subline"/>
          <p:cNvSpPr txBox="1"/>
          <p:nvPr/>
        </p:nvSpPr>
        <p:spPr>
          <a:xfrm>
            <a:off x="685800" y="2103120"/>
            <a:ext cx="10515600" cy="457200"/>
          </a:xfrm>
          <a:prstGeom prst="rect">
            <a:avLst/>
          </a:prstGeom>
          <a:noFill/>
        </p:spPr>
        <p:txBody>
          <a:bodyPr wrap="square" lIns="0" rIns="0" tIns="0" bIns="0">
            <a:spAutoFit/>
          </a:bodyPr>
          <a:lstStyle/>
          <a:p>
            <a:pPr>
              <a:spcAft>
                <a:spcPts val="300"/>
              </a:spcAft>
              <a:defRPr sz="1500" b="1">
                <a:solidFill>
                  <a:srgbClr val="FFCC38"/>
                </a:solidFill>
                <a:latin typeface="Arial"/>
              </a:defRPr>
            </a:pPr>
            <a:r>
              <a:t>ОДИН РАБОЧИЙ КОНТЕКСТ</a:t>
            </a:r>
          </a:p>
        </p:txBody>
      </p:sp>
      <p:sp>
        <p:nvSpPr>
          <p:cNvPr id="25" name="TextBox 24"/>
          <p:cNvSpPr txBox="1"/>
          <p:nvPr/>
        </p:nvSpPr>
        <p:spPr>
          <a:xfrm>
            <a:off x="731520" y="3383280"/>
            <a:ext cx="2560320" cy="548640"/>
          </a:xfrm>
          <a:prstGeom prst="rect">
            <a:avLst/>
          </a:prstGeom>
          <a:noFill/>
        </p:spPr>
        <p:txBody>
          <a:bodyPr wrap="square" lIns="0" rIns="0" tIns="0" bIns="0">
            <a:spAutoFit/>
          </a:bodyPr>
          <a:lstStyle/>
          <a:p>
            <a:pPr>
              <a:spcAft>
                <a:spcPts val="300"/>
              </a:spcAft>
              <a:defRPr sz="3600" b="1">
                <a:solidFill>
                  <a:srgbClr val="FFCC38"/>
                </a:solidFill>
                <a:latin typeface="Arial"/>
              </a:defRPr>
            </a:pPr>
            <a:r>
              <a:t>01</a:t>
            </a:r>
          </a:p>
        </p:txBody>
      </p:sp>
      <p:sp>
        <p:nvSpPr>
          <p:cNvPr id="26" name="TextBox 25"/>
          <p:cNvSpPr txBox="1"/>
          <p:nvPr/>
        </p:nvSpPr>
        <p:spPr>
          <a:xfrm>
            <a:off x="731520" y="4251960"/>
            <a:ext cx="2651760" cy="640080"/>
          </a:xfrm>
          <a:prstGeom prst="rect">
            <a:avLst/>
          </a:prstGeom>
          <a:noFill/>
        </p:spPr>
        <p:txBody>
          <a:bodyPr wrap="square" lIns="0" rIns="0" tIns="0" bIns="0">
            <a:spAutoFit/>
          </a:bodyPr>
          <a:lstStyle/>
          <a:p>
            <a:pPr>
              <a:spcAft>
                <a:spcPts val="300"/>
              </a:spcAft>
              <a:defRPr sz="2500" b="1">
                <a:solidFill>
                  <a:srgbClr val="F6F7FB"/>
                </a:solidFill>
                <a:latin typeface="Arial"/>
              </a:defRPr>
            </a:pPr>
            <a:r>
              <a:t>Расчёты</a:t>
            </a:r>
          </a:p>
        </p:txBody>
      </p:sp>
      <p:sp>
        <p:nvSpPr>
          <p:cNvPr id="27" name="Rectangle 26"/>
          <p:cNvSpPr/>
          <p:nvPr/>
        </p:nvSpPr>
        <p:spPr>
          <a:xfrm>
            <a:off x="731520" y="5120640"/>
            <a:ext cx="2468880" cy="22860"/>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66160" y="3383280"/>
            <a:ext cx="2560320" cy="548640"/>
          </a:xfrm>
          <a:prstGeom prst="rect">
            <a:avLst/>
          </a:prstGeom>
          <a:noFill/>
        </p:spPr>
        <p:txBody>
          <a:bodyPr wrap="square" lIns="0" rIns="0" tIns="0" bIns="0">
            <a:spAutoFit/>
          </a:bodyPr>
          <a:lstStyle/>
          <a:p>
            <a:pPr>
              <a:spcAft>
                <a:spcPts val="300"/>
              </a:spcAft>
              <a:defRPr sz="3600" b="1">
                <a:solidFill>
                  <a:srgbClr val="FFCC38"/>
                </a:solidFill>
                <a:latin typeface="Arial"/>
              </a:defRPr>
            </a:pPr>
            <a:r>
              <a:t>02</a:t>
            </a:r>
          </a:p>
        </p:txBody>
      </p:sp>
      <p:sp>
        <p:nvSpPr>
          <p:cNvPr id="29" name="TextBox 28"/>
          <p:cNvSpPr txBox="1"/>
          <p:nvPr/>
        </p:nvSpPr>
        <p:spPr>
          <a:xfrm>
            <a:off x="3566160" y="4251960"/>
            <a:ext cx="2651760" cy="640080"/>
          </a:xfrm>
          <a:prstGeom prst="rect">
            <a:avLst/>
          </a:prstGeom>
          <a:noFill/>
        </p:spPr>
        <p:txBody>
          <a:bodyPr wrap="square" lIns="0" rIns="0" tIns="0" bIns="0">
            <a:spAutoFit/>
          </a:bodyPr>
          <a:lstStyle/>
          <a:p>
            <a:pPr>
              <a:spcAft>
                <a:spcPts val="300"/>
              </a:spcAft>
              <a:defRPr sz="2500" b="1">
                <a:solidFill>
                  <a:srgbClr val="F6F7FB"/>
                </a:solidFill>
                <a:latin typeface="Arial"/>
              </a:defRPr>
            </a:pPr>
            <a:r>
              <a:t>Технолог</a:t>
            </a:r>
          </a:p>
        </p:txBody>
      </p:sp>
      <p:sp>
        <p:nvSpPr>
          <p:cNvPr id="30" name="Rectangle 29"/>
          <p:cNvSpPr/>
          <p:nvPr/>
        </p:nvSpPr>
        <p:spPr>
          <a:xfrm>
            <a:off x="3566160" y="5120640"/>
            <a:ext cx="2468880" cy="22860"/>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383280"/>
            <a:ext cx="2560320" cy="548640"/>
          </a:xfrm>
          <a:prstGeom prst="rect">
            <a:avLst/>
          </a:prstGeom>
          <a:noFill/>
        </p:spPr>
        <p:txBody>
          <a:bodyPr wrap="square" lIns="0" rIns="0" tIns="0" bIns="0">
            <a:spAutoFit/>
          </a:bodyPr>
          <a:lstStyle/>
          <a:p>
            <a:pPr>
              <a:spcAft>
                <a:spcPts val="300"/>
              </a:spcAft>
              <a:defRPr sz="3600" b="1">
                <a:solidFill>
                  <a:srgbClr val="FFCC38"/>
                </a:solidFill>
                <a:latin typeface="Arial"/>
              </a:defRPr>
            </a:pPr>
            <a:r>
              <a:t>03</a:t>
            </a:r>
          </a:p>
        </p:txBody>
      </p:sp>
      <p:sp>
        <p:nvSpPr>
          <p:cNvPr id="32" name="TextBox 31"/>
          <p:cNvSpPr txBox="1"/>
          <p:nvPr/>
        </p:nvSpPr>
        <p:spPr>
          <a:xfrm>
            <a:off x="6400800" y="4251960"/>
            <a:ext cx="2651760" cy="640080"/>
          </a:xfrm>
          <a:prstGeom prst="rect">
            <a:avLst/>
          </a:prstGeom>
          <a:noFill/>
        </p:spPr>
        <p:txBody>
          <a:bodyPr wrap="square" lIns="0" rIns="0" tIns="0" bIns="0">
            <a:spAutoFit/>
          </a:bodyPr>
          <a:lstStyle/>
          <a:p>
            <a:pPr>
              <a:spcAft>
                <a:spcPts val="300"/>
              </a:spcAft>
              <a:defRPr sz="2500" b="1">
                <a:solidFill>
                  <a:srgbClr val="F6F7FB"/>
                </a:solidFill>
                <a:latin typeface="Arial"/>
              </a:defRPr>
            </a:pPr>
            <a:r>
              <a:t>Справочник</a:t>
            </a:r>
          </a:p>
        </p:txBody>
      </p:sp>
      <p:sp>
        <p:nvSpPr>
          <p:cNvPr id="33" name="Rectangle 32"/>
          <p:cNvSpPr/>
          <p:nvPr/>
        </p:nvSpPr>
        <p:spPr>
          <a:xfrm>
            <a:off x="6400800" y="5120640"/>
            <a:ext cx="2468880" cy="22860"/>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0" y="3383280"/>
            <a:ext cx="2560320" cy="548640"/>
          </a:xfrm>
          <a:prstGeom prst="rect">
            <a:avLst/>
          </a:prstGeom>
          <a:noFill/>
        </p:spPr>
        <p:txBody>
          <a:bodyPr wrap="square" lIns="0" rIns="0" tIns="0" bIns="0">
            <a:spAutoFit/>
          </a:bodyPr>
          <a:lstStyle/>
          <a:p>
            <a:pPr>
              <a:spcAft>
                <a:spcPts val="300"/>
              </a:spcAft>
              <a:defRPr sz="3600" b="1">
                <a:solidFill>
                  <a:srgbClr val="FFCC38"/>
                </a:solidFill>
                <a:latin typeface="Arial"/>
              </a:defRPr>
            </a:pPr>
            <a:r>
              <a:t>04</a:t>
            </a:r>
          </a:p>
        </p:txBody>
      </p:sp>
      <p:sp>
        <p:nvSpPr>
          <p:cNvPr id="35" name="TextBox 34"/>
          <p:cNvSpPr txBox="1"/>
          <p:nvPr/>
        </p:nvSpPr>
        <p:spPr>
          <a:xfrm>
            <a:off x="9235440" y="4251960"/>
            <a:ext cx="2651760" cy="640080"/>
          </a:xfrm>
          <a:prstGeom prst="rect">
            <a:avLst/>
          </a:prstGeom>
          <a:noFill/>
        </p:spPr>
        <p:txBody>
          <a:bodyPr wrap="square" lIns="0" rIns="0" tIns="0" bIns="0">
            <a:spAutoFit/>
          </a:bodyPr>
          <a:lstStyle/>
          <a:p>
            <a:pPr>
              <a:spcAft>
                <a:spcPts val="300"/>
              </a:spcAft>
              <a:defRPr sz="2500" b="1">
                <a:solidFill>
                  <a:srgbClr val="F6F7FB"/>
                </a:solidFill>
                <a:latin typeface="Arial"/>
              </a:defRPr>
            </a:pPr>
            <a:r>
              <a:t>История</a:t>
            </a:r>
          </a:p>
        </p:txBody>
      </p:sp>
      <p:sp>
        <p:nvSpPr>
          <p:cNvPr id="36" name="Rectangle 35"/>
          <p:cNvSpPr/>
          <p:nvPr/>
        </p:nvSpPr>
        <p:spPr>
          <a:xfrm>
            <a:off x="9235440" y="5120640"/>
            <a:ext cx="2468880" cy="22860"/>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PWA 3.0.0, коммит 2e9d9f2; функции подтверждены исходниками и доступными тестами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432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432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918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404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1890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10753375" y="6197256"/>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8506800" y="60204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7043255" y="430685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7220064" y="206028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8933656" y="5967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1180231" y="77354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2643776" y="24871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2466967" y="473371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17 / 29</a:t>
            </a:r>
          </a:p>
        </p:txBody>
      </p:sp>
      <p:sp>
        <p:nvSpPr>
          <p:cNvPr id="22" name="!!Progress"/>
          <p:cNvSpPr/>
          <p:nvPr/>
        </p:nvSpPr>
        <p:spPr>
          <a:xfrm>
            <a:off x="0" y="6821424"/>
            <a:ext cx="7146855"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200" b="1">
                <a:solidFill>
                  <a:srgbClr val="F6F7FB"/>
                </a:solidFill>
                <a:latin typeface="Arial"/>
              </a:defRPr>
            </a:pPr>
            <a:r>
              <a:t>Качество данных —</a:t>
            </a:r>
          </a:p>
          <a:p>
            <a:pPr>
              <a:spcAft>
                <a:spcPts val="300"/>
              </a:spcAft>
              <a:defRPr sz="4200" b="1">
                <a:solidFill>
                  <a:srgbClr val="F6F7FB"/>
                </a:solidFill>
                <a:latin typeface="Arial"/>
              </a:defRPr>
            </a:pPr>
            <a:r>
              <a:t>часть правильного решения.</a:t>
            </a:r>
          </a:p>
        </p:txBody>
      </p:sp>
      <p:sp>
        <p:nvSpPr>
          <p:cNvPr id="24" name="!!Subline"/>
          <p:cNvSpPr txBox="1"/>
          <p:nvPr/>
        </p:nvSpPr>
        <p:spPr>
          <a:xfrm>
            <a:off x="612648" y="297180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История → исходные параметры → расчёт → сопоставление с фактом</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1078992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Корректные исходные параметры</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1078992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Сопоставление расчёта с фактом</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1078992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Применимость проверяет специалист</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Учебные PDF: «Подбор УЭЦН», стр. 3, 5; «Качество данных», стр. 15–17, 39</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594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594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080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566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2052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9382915" y="6305113"/>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7461472" y="51276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6935398" y="29363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8112859" y="10149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0304116" y="4888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2225559" y="16663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2751633" y="38575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11574172" y="57790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18 / 29</a:t>
            </a:r>
          </a:p>
        </p:txBody>
      </p:sp>
      <p:sp>
        <p:nvSpPr>
          <p:cNvPr id="22" name="!!Progress"/>
          <p:cNvSpPr/>
          <p:nvPr/>
        </p:nvSpPr>
        <p:spPr>
          <a:xfrm>
            <a:off x="0" y="6821424"/>
            <a:ext cx="7567259"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500" b="1">
                <a:solidFill>
                  <a:srgbClr val="F6F7FB"/>
                </a:solidFill>
                <a:latin typeface="Arial"/>
              </a:defRPr>
            </a:pPr>
            <a:r>
              <a:t>Понятно,</a:t>
            </a:r>
          </a:p>
          <a:p>
            <a:pPr>
              <a:spcAft>
                <a:spcPts val="300"/>
              </a:spcAft>
              <a:defRPr sz="4500" b="1">
                <a:solidFill>
                  <a:srgbClr val="F6F7FB"/>
                </a:solidFill>
                <a:latin typeface="Arial"/>
              </a:defRPr>
            </a:pPr>
            <a:r>
              <a:t>на чём основан проект.</a:t>
            </a:r>
          </a:p>
        </p:txBody>
      </p:sp>
      <p:sp>
        <p:nvSpPr>
          <p:cNvPr id="24" name="!!Subline"/>
          <p:cNvSpPr txBox="1"/>
          <p:nvPr/>
        </p:nvSpPr>
        <p:spPr>
          <a:xfrm>
            <a:off x="612648" y="301752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Документы предприятия · Android-эталон · сценарии автора</a:t>
            </a:r>
          </a:p>
        </p:txBody>
      </p:sp>
      <p:sp>
        <p:nvSpPr>
          <p:cNvPr id="25" name="!!StepMarker0"/>
          <p:cNvSpPr/>
          <p:nvPr/>
        </p:nvSpPr>
        <p:spPr>
          <a:xfrm>
            <a:off x="658368" y="3913632"/>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opic0"/>
          <p:cNvSpPr txBox="1"/>
          <p:nvPr/>
        </p:nvSpPr>
        <p:spPr>
          <a:xfrm>
            <a:off x="841247" y="3913632"/>
            <a:ext cx="1078992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ВНР: документ и реквизиты подтверждены</a:t>
            </a:r>
          </a:p>
        </p:txBody>
      </p:sp>
      <p:sp>
        <p:nvSpPr>
          <p:cNvPr id="27" name="!!StepMarker1"/>
          <p:cNvSpPr/>
          <p:nvPr/>
        </p:nvSpPr>
        <p:spPr>
          <a:xfrm>
            <a:off x="658368" y="4480560"/>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opic1"/>
          <p:cNvSpPr txBox="1"/>
          <p:nvPr/>
        </p:nvSpPr>
        <p:spPr>
          <a:xfrm>
            <a:off x="841247" y="4480560"/>
            <a:ext cx="1078992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ПБиОТ, пять томов: сверить редакции и разделы</a:t>
            </a:r>
          </a:p>
        </p:txBody>
      </p:sp>
      <p:sp>
        <p:nvSpPr>
          <p:cNvPr id="29" name="!!StepMarker2"/>
          <p:cNvSpPr/>
          <p:nvPr/>
        </p:nvSpPr>
        <p:spPr>
          <a:xfrm>
            <a:off x="658368" y="5047488"/>
            <a:ext cx="32004" cy="347472"/>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pic2"/>
          <p:cNvSpPr txBox="1"/>
          <p:nvPr/>
        </p:nvSpPr>
        <p:spPr>
          <a:xfrm>
            <a:off x="841247" y="5047488"/>
            <a:ext cx="10789920" cy="457200"/>
          </a:xfrm>
          <a:prstGeom prst="rect">
            <a:avLst/>
          </a:prstGeom>
          <a:noFill/>
        </p:spPr>
        <p:txBody>
          <a:bodyPr wrap="square" lIns="0" rIns="0" tIns="0" bIns="0">
            <a:spAutoFit/>
          </a:bodyPr>
          <a:lstStyle/>
          <a:p>
            <a:pPr>
              <a:spcAft>
                <a:spcPts val="300"/>
              </a:spcAft>
              <a:defRPr sz="2200" b="0">
                <a:solidFill>
                  <a:srgbClr val="F6F7FB"/>
                </a:solidFill>
                <a:latin typeface="Arial"/>
              </a:defRPr>
            </a:pPr>
            <a:r>
              <a:t>Android: исходные формулы и материалы</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Реестр источников и открытые вопросы — в приложении к презентации</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731519"/>
            <a:ext cx="5486400" cy="54864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7560000">
            <a:off x="6867144" y="923543"/>
            <a:ext cx="5102352" cy="5102352"/>
          </a:xfrm>
          <a:prstGeom prst="ellipse">
            <a:avLst/>
          </a:prstGeom>
        </p:spPr>
      </p:pic>
      <p:sp>
        <p:nvSpPr>
          <p:cNvPr id="4" name="!!LensTint"/>
          <p:cNvSpPr/>
          <p:nvPr/>
        </p:nvSpPr>
        <p:spPr>
          <a:xfrm>
            <a:off x="6675120" y="731519"/>
            <a:ext cx="5486400" cy="54864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7560000">
            <a:off x="6675120" y="731519"/>
            <a:ext cx="5486400" cy="54864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2420000">
            <a:off x="7059168" y="1115567"/>
            <a:ext cx="4718304" cy="4718304"/>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7280000">
            <a:off x="7552944" y="1609343"/>
            <a:ext cx="3730752" cy="3730752"/>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540000">
            <a:off x="8074152" y="2130552"/>
            <a:ext cx="2688336" cy="2688336"/>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7902896" y="5484467"/>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6893643" y="383751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7344564" y="19592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8991515" y="95004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0869735" y="140096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1878988" y="304791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1428067" y="49261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9781116" y="593538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19 / 29</a:t>
            </a:r>
          </a:p>
        </p:txBody>
      </p:sp>
      <p:sp>
        <p:nvSpPr>
          <p:cNvPr id="22" name="!!Progress"/>
          <p:cNvSpPr/>
          <p:nvPr/>
        </p:nvSpPr>
        <p:spPr>
          <a:xfrm>
            <a:off x="0" y="6821424"/>
            <a:ext cx="798766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1371600"/>
            <a:ext cx="9692640" cy="1645920"/>
          </a:xfrm>
          <a:prstGeom prst="rect">
            <a:avLst/>
          </a:prstGeom>
          <a:noFill/>
        </p:spPr>
        <p:txBody>
          <a:bodyPr wrap="square" lIns="0" rIns="0" tIns="0" bIns="0">
            <a:spAutoFit/>
          </a:bodyPr>
          <a:lstStyle/>
          <a:p>
            <a:pPr>
              <a:spcAft>
                <a:spcPts val="300"/>
              </a:spcAft>
              <a:defRPr sz="10500" b="1">
                <a:solidFill>
                  <a:srgbClr val="FFCC38"/>
                </a:solidFill>
                <a:latin typeface="Arial"/>
              </a:defRPr>
            </a:pPr>
            <a:r>
              <a:t>3 месяца</a:t>
            </a:r>
          </a:p>
        </p:txBody>
      </p:sp>
      <p:sp>
        <p:nvSpPr>
          <p:cNvPr id="24" name="!!Subline"/>
          <p:cNvSpPr txBox="1"/>
          <p:nvPr/>
        </p:nvSpPr>
        <p:spPr>
          <a:xfrm>
            <a:off x="731520" y="3291840"/>
            <a:ext cx="9601200" cy="822960"/>
          </a:xfrm>
          <a:prstGeom prst="rect">
            <a:avLst/>
          </a:prstGeom>
          <a:noFill/>
        </p:spPr>
        <p:txBody>
          <a:bodyPr wrap="square" lIns="0" rIns="0" tIns="0" bIns="0">
            <a:spAutoFit/>
          </a:bodyPr>
          <a:lstStyle/>
          <a:p>
            <a:pPr>
              <a:spcAft>
                <a:spcPts val="300"/>
              </a:spcAft>
              <a:defRPr sz="4100" b="1">
                <a:solidFill>
                  <a:srgbClr val="F6F7FB"/>
                </a:solidFill>
                <a:latin typeface="Arial"/>
              </a:defRPr>
            </a:pPr>
            <a:r>
              <a:t>разработки программы</a:t>
            </a:r>
          </a:p>
        </p:txBody>
      </p:sp>
      <p:sp>
        <p:nvSpPr>
          <p:cNvPr id="25" name="TextBox 24"/>
          <p:cNvSpPr txBox="1"/>
          <p:nvPr/>
        </p:nvSpPr>
        <p:spPr>
          <a:xfrm>
            <a:off x="749808" y="4572000"/>
            <a:ext cx="9601200" cy="868680"/>
          </a:xfrm>
          <a:prstGeom prst="rect">
            <a:avLst/>
          </a:prstGeom>
          <a:noFill/>
        </p:spPr>
        <p:txBody>
          <a:bodyPr wrap="square" lIns="0" rIns="0" tIns="0" bIns="0">
            <a:spAutoFit/>
          </a:bodyPr>
          <a:lstStyle/>
          <a:p>
            <a:pPr>
              <a:spcAft>
                <a:spcPts val="300"/>
              </a:spcAft>
              <a:defRPr sz="2300" b="0">
                <a:solidFill>
                  <a:srgbClr val="A1AFC2"/>
                </a:solidFill>
                <a:latin typeface="Arial"/>
              </a:defRPr>
            </a:pPr>
            <a:r>
              <a:t>Прямые денежные расходы, по оценке автора, минимальны.</a:t>
            </a:r>
          </a:p>
          <a:p>
            <a:pPr>
              <a:spcAft>
                <a:spcPts val="300"/>
              </a:spcAft>
              <a:defRPr sz="2300" b="0">
                <a:solidFill>
                  <a:srgbClr val="A1AFC2"/>
                </a:solidFill>
                <a:latin typeface="Arial"/>
              </a:defRPr>
            </a:pPr>
            <a:r>
              <a:t>Затраченное время — отдельный ресурс.</a:t>
            </a:r>
          </a:p>
        </p:txBody>
      </p:sp>
      <p:sp>
        <p:nvSpPr>
          <p:cNvPr id="26" name="TextBox 2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Срок и расходы — со слов автора; результаты тестов — протоколы PWA 3.0.0</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731519"/>
            <a:ext cx="5486400" cy="54864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9180000">
            <a:off x="6867144" y="923543"/>
            <a:ext cx="5102352" cy="5102352"/>
          </a:xfrm>
          <a:prstGeom prst="ellipse">
            <a:avLst/>
          </a:prstGeom>
        </p:spPr>
      </p:pic>
      <p:sp>
        <p:nvSpPr>
          <p:cNvPr id="4" name="!!LensTint"/>
          <p:cNvSpPr/>
          <p:nvPr/>
        </p:nvSpPr>
        <p:spPr>
          <a:xfrm>
            <a:off x="6675120" y="731519"/>
            <a:ext cx="5486400" cy="54864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9180000">
            <a:off x="6675120" y="731519"/>
            <a:ext cx="5486400" cy="54864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4040000">
            <a:off x="7059168" y="1115567"/>
            <a:ext cx="4718304" cy="4718304"/>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18900000">
            <a:off x="7552944" y="1609343"/>
            <a:ext cx="3730752" cy="3730752"/>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2160000">
            <a:off x="8074152" y="2130552"/>
            <a:ext cx="2688336" cy="2688336"/>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7137643" y="4588471"/>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6986092" y="26628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8240560" y="119404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0166195" y="104249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1634988" y="2296960"/>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1786539" y="42225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0532071" y="569138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8606436" y="58429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20 / 29</a:t>
            </a:r>
          </a:p>
        </p:txBody>
      </p:sp>
      <p:sp>
        <p:nvSpPr>
          <p:cNvPr id="22" name="!!Progress"/>
          <p:cNvSpPr/>
          <p:nvPr/>
        </p:nvSpPr>
        <p:spPr>
          <a:xfrm>
            <a:off x="0" y="6821424"/>
            <a:ext cx="8408065"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800" b="1">
                <a:solidFill>
                  <a:srgbClr val="F6F7FB"/>
                </a:solidFill>
                <a:latin typeface="Arial"/>
              </a:defRPr>
            </a:pPr>
            <a:r>
              <a:t>Проверяемая основа.</a:t>
            </a:r>
          </a:p>
        </p:txBody>
      </p:sp>
      <p:sp>
        <p:nvSpPr>
          <p:cNvPr id="24" name="!!Subline"/>
          <p:cNvSpPr txBox="1"/>
          <p:nvPr/>
        </p:nvSpPr>
        <p:spPr>
          <a:xfrm>
            <a:off x="612648" y="265176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ПРОТОКОЛЫ ДОСТУПНЫХ ЛОКАЛЬНЫХ ПРОВЕРОК</a:t>
            </a:r>
          </a:p>
        </p:txBody>
      </p:sp>
      <p:sp>
        <p:nvSpPr>
          <p:cNvPr id="25" name="!!ProofNumber0"/>
          <p:cNvSpPr txBox="1"/>
          <p:nvPr/>
        </p:nvSpPr>
        <p:spPr>
          <a:xfrm>
            <a:off x="731520" y="3657600"/>
            <a:ext cx="3474720" cy="1188720"/>
          </a:xfrm>
          <a:prstGeom prst="rect">
            <a:avLst/>
          </a:prstGeom>
          <a:noFill/>
        </p:spPr>
        <p:txBody>
          <a:bodyPr wrap="square" lIns="0" rIns="0" tIns="0" bIns="0">
            <a:spAutoFit/>
          </a:bodyPr>
          <a:lstStyle/>
          <a:p>
            <a:pPr>
              <a:spcAft>
                <a:spcPts val="300"/>
              </a:spcAft>
              <a:defRPr sz="8400" b="1">
                <a:solidFill>
                  <a:srgbClr val="FFCC38"/>
                </a:solidFill>
                <a:latin typeface="Arial"/>
              </a:defRPr>
            </a:pPr>
            <a:r>
              <a:t>58</a:t>
            </a:r>
          </a:p>
        </p:txBody>
      </p:sp>
      <p:sp>
        <p:nvSpPr>
          <p:cNvPr id="26" name="TextBox 25"/>
          <p:cNvSpPr txBox="1"/>
          <p:nvPr/>
        </p:nvSpPr>
        <p:spPr>
          <a:xfrm>
            <a:off x="768096" y="5120640"/>
            <a:ext cx="3337560" cy="731520"/>
          </a:xfrm>
          <a:prstGeom prst="rect">
            <a:avLst/>
          </a:prstGeom>
          <a:noFill/>
        </p:spPr>
        <p:txBody>
          <a:bodyPr wrap="square" lIns="0" rIns="0" tIns="0" bIns="0">
            <a:spAutoFit/>
          </a:bodyPr>
          <a:lstStyle/>
          <a:p>
            <a:pPr>
              <a:spcAft>
                <a:spcPts val="300"/>
              </a:spcAft>
              <a:defRPr sz="1900" b="0">
                <a:solidFill>
                  <a:srgbClr val="F6F7FB"/>
                </a:solidFill>
                <a:latin typeface="Arial"/>
              </a:defRPr>
            </a:pPr>
            <a:r>
              <a:t>локально пройденных тестов</a:t>
            </a:r>
          </a:p>
        </p:txBody>
      </p:sp>
      <p:sp>
        <p:nvSpPr>
          <p:cNvPr id="27" name="!!ProofNumber1"/>
          <p:cNvSpPr txBox="1"/>
          <p:nvPr/>
        </p:nvSpPr>
        <p:spPr>
          <a:xfrm>
            <a:off x="4480559" y="3657600"/>
            <a:ext cx="3474720" cy="1188720"/>
          </a:xfrm>
          <a:prstGeom prst="rect">
            <a:avLst/>
          </a:prstGeom>
          <a:noFill/>
        </p:spPr>
        <p:txBody>
          <a:bodyPr wrap="square" lIns="0" rIns="0" tIns="0" bIns="0">
            <a:spAutoFit/>
          </a:bodyPr>
          <a:lstStyle/>
          <a:p>
            <a:pPr>
              <a:spcAft>
                <a:spcPts val="300"/>
              </a:spcAft>
              <a:defRPr sz="8400" b="1">
                <a:solidFill>
                  <a:srgbClr val="FFCC38"/>
                </a:solidFill>
                <a:latin typeface="Arial"/>
              </a:defRPr>
            </a:pPr>
            <a:r>
              <a:t>479</a:t>
            </a:r>
          </a:p>
        </p:txBody>
      </p:sp>
      <p:sp>
        <p:nvSpPr>
          <p:cNvPr id="28" name="TextBox 27"/>
          <p:cNvSpPr txBox="1"/>
          <p:nvPr/>
        </p:nvSpPr>
        <p:spPr>
          <a:xfrm>
            <a:off x="4517136" y="5120640"/>
            <a:ext cx="3337560" cy="731520"/>
          </a:xfrm>
          <a:prstGeom prst="rect">
            <a:avLst/>
          </a:prstGeom>
          <a:noFill/>
        </p:spPr>
        <p:txBody>
          <a:bodyPr wrap="square" lIns="0" rIns="0" tIns="0" bIns="0">
            <a:spAutoFit/>
          </a:bodyPr>
          <a:lstStyle/>
          <a:p>
            <a:pPr>
              <a:spcAft>
                <a:spcPts val="300"/>
              </a:spcAft>
              <a:defRPr sz="1900" b="0">
                <a:solidFill>
                  <a:srgbClr val="F6F7FB"/>
                </a:solidFill>
                <a:latin typeface="Arial"/>
              </a:defRPr>
            </a:pPr>
            <a:r>
              <a:t>эталонных наборов Kotlin</a:t>
            </a:r>
          </a:p>
        </p:txBody>
      </p:sp>
      <p:sp>
        <p:nvSpPr>
          <p:cNvPr id="29" name="!!ProofNumber2"/>
          <p:cNvSpPr txBox="1"/>
          <p:nvPr/>
        </p:nvSpPr>
        <p:spPr>
          <a:xfrm>
            <a:off x="8229600" y="3657600"/>
            <a:ext cx="3474720" cy="1188720"/>
          </a:xfrm>
          <a:prstGeom prst="rect">
            <a:avLst/>
          </a:prstGeom>
          <a:noFill/>
        </p:spPr>
        <p:txBody>
          <a:bodyPr wrap="square" lIns="0" rIns="0" tIns="0" bIns="0">
            <a:spAutoFit/>
          </a:bodyPr>
          <a:lstStyle/>
          <a:p>
            <a:pPr>
              <a:spcAft>
                <a:spcPts val="300"/>
              </a:spcAft>
              <a:defRPr sz="8400" b="1">
                <a:solidFill>
                  <a:srgbClr val="FFCC38"/>
                </a:solidFill>
                <a:latin typeface="Arial"/>
              </a:defRPr>
            </a:pPr>
            <a:r>
              <a:t>6</a:t>
            </a:r>
          </a:p>
        </p:txBody>
      </p:sp>
      <p:sp>
        <p:nvSpPr>
          <p:cNvPr id="30" name="TextBox 29"/>
          <p:cNvSpPr txBox="1"/>
          <p:nvPr/>
        </p:nvSpPr>
        <p:spPr>
          <a:xfrm>
            <a:off x="8266175" y="5120640"/>
            <a:ext cx="3337560" cy="731520"/>
          </a:xfrm>
          <a:prstGeom prst="rect">
            <a:avLst/>
          </a:prstGeom>
          <a:noFill/>
        </p:spPr>
        <p:txBody>
          <a:bodyPr wrap="square" lIns="0" rIns="0" tIns="0" bIns="0">
            <a:spAutoFit/>
          </a:bodyPr>
          <a:lstStyle/>
          <a:p>
            <a:pPr>
              <a:spcAft>
                <a:spcPts val="300"/>
              </a:spcAft>
              <a:defRPr sz="1900" b="0">
                <a:solidFill>
                  <a:srgbClr val="F6F7FB"/>
                </a:solidFill>
                <a:latin typeface="Arial"/>
              </a:defRPr>
            </a:pPr>
            <a:r>
              <a:t>проверок готовой сборки</a:t>
            </a:r>
          </a:p>
        </p:txBody>
      </p:sp>
      <p:sp>
        <p:nvSpPr>
          <p:cNvPr id="31" name="TextBox 30"/>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Срок и расходы — со слов автора; результаты тестов — протоколы PWA 3.0.0</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080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080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566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2052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378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6899148" y="3396996"/>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7761533" y="13150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9843515" y="45262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1925498" y="13150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2787884" y="33969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1925498" y="54789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9843516" y="634136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7761533" y="54789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21 / 29</a:t>
            </a:r>
          </a:p>
        </p:txBody>
      </p:sp>
      <p:sp>
        <p:nvSpPr>
          <p:cNvPr id="22" name="!!Progress"/>
          <p:cNvSpPr/>
          <p:nvPr/>
        </p:nvSpPr>
        <p:spPr>
          <a:xfrm>
            <a:off x="0" y="6821424"/>
            <a:ext cx="8828468"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700" b="1">
                <a:solidFill>
                  <a:srgbClr val="F6F7FB"/>
                </a:solidFill>
                <a:latin typeface="Arial"/>
              </a:defRPr>
            </a:pPr>
            <a:r>
              <a:t>Три вида эффекта.</a:t>
            </a:r>
          </a:p>
        </p:txBody>
      </p:sp>
      <p:sp>
        <p:nvSpPr>
          <p:cNvPr id="24" name="!!Subline"/>
          <p:cNvSpPr txBox="1"/>
          <p:nvPr/>
        </p:nvSpPr>
        <p:spPr>
          <a:xfrm>
            <a:off x="612648" y="274320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ВРЕМЯ · ВЫПОЛНЕНИЕ ДЕЙСТВИЙ · ОБУЧЕНИЕ</a:t>
            </a:r>
          </a:p>
        </p:txBody>
      </p:sp>
      <p:sp>
        <p:nvSpPr>
          <p:cNvPr id="25" name="Oval 24"/>
          <p:cNvSpPr/>
          <p:nvPr/>
        </p:nvSpPr>
        <p:spPr>
          <a:xfrm>
            <a:off x="731520" y="3931920"/>
            <a:ext cx="109728" cy="10972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389120"/>
            <a:ext cx="3566160" cy="594360"/>
          </a:xfrm>
          <a:prstGeom prst="rect">
            <a:avLst/>
          </a:prstGeom>
          <a:noFill/>
        </p:spPr>
        <p:txBody>
          <a:bodyPr wrap="square" lIns="0" rIns="0" tIns="0" bIns="0">
            <a:spAutoFit/>
          </a:bodyPr>
          <a:lstStyle/>
          <a:p>
            <a:pPr>
              <a:spcAft>
                <a:spcPts val="300"/>
              </a:spcAft>
              <a:defRPr sz="3000" b="1">
                <a:solidFill>
                  <a:srgbClr val="F6F7FB"/>
                </a:solidFill>
                <a:latin typeface="Arial"/>
              </a:defRPr>
            </a:pPr>
            <a:r>
              <a:t>Время</a:t>
            </a:r>
          </a:p>
        </p:txBody>
      </p:sp>
      <p:sp>
        <p:nvSpPr>
          <p:cNvPr id="27" name="TextBox 26"/>
          <p:cNvSpPr txBox="1"/>
          <p:nvPr/>
        </p:nvSpPr>
        <p:spPr>
          <a:xfrm>
            <a:off x="731520" y="5166360"/>
            <a:ext cx="3383280" cy="502920"/>
          </a:xfrm>
          <a:prstGeom prst="rect">
            <a:avLst/>
          </a:prstGeom>
          <a:noFill/>
        </p:spPr>
        <p:txBody>
          <a:bodyPr wrap="square" lIns="0" rIns="0" tIns="0" bIns="0">
            <a:spAutoFit/>
          </a:bodyPr>
          <a:lstStyle/>
          <a:p>
            <a:pPr>
              <a:spcAft>
                <a:spcPts val="300"/>
              </a:spcAft>
              <a:defRPr sz="1900" b="0">
                <a:solidFill>
                  <a:srgbClr val="A1AFC2"/>
                </a:solidFill>
                <a:latin typeface="Arial"/>
              </a:defRPr>
            </a:pPr>
            <a:r>
              <a:t>Сопоставимые операции</a:t>
            </a:r>
          </a:p>
        </p:txBody>
      </p:sp>
      <p:sp>
        <p:nvSpPr>
          <p:cNvPr id="28" name="Oval 27"/>
          <p:cNvSpPr/>
          <p:nvPr/>
        </p:nvSpPr>
        <p:spPr>
          <a:xfrm>
            <a:off x="4480559" y="3931920"/>
            <a:ext cx="109728" cy="10972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59" y="4389120"/>
            <a:ext cx="3566160" cy="594360"/>
          </a:xfrm>
          <a:prstGeom prst="rect">
            <a:avLst/>
          </a:prstGeom>
          <a:noFill/>
        </p:spPr>
        <p:txBody>
          <a:bodyPr wrap="square" lIns="0" rIns="0" tIns="0" bIns="0">
            <a:spAutoFit/>
          </a:bodyPr>
          <a:lstStyle/>
          <a:p>
            <a:pPr>
              <a:spcAft>
                <a:spcPts val="300"/>
              </a:spcAft>
              <a:defRPr sz="3000" b="1">
                <a:solidFill>
                  <a:srgbClr val="F6F7FB"/>
                </a:solidFill>
                <a:latin typeface="Arial"/>
              </a:defRPr>
            </a:pPr>
            <a:r>
              <a:t>Действия</a:t>
            </a:r>
          </a:p>
        </p:txBody>
      </p:sp>
      <p:sp>
        <p:nvSpPr>
          <p:cNvPr id="30" name="TextBox 29"/>
          <p:cNvSpPr txBox="1"/>
          <p:nvPr/>
        </p:nvSpPr>
        <p:spPr>
          <a:xfrm>
            <a:off x="4480559" y="5166360"/>
            <a:ext cx="3383280" cy="502920"/>
          </a:xfrm>
          <a:prstGeom prst="rect">
            <a:avLst/>
          </a:prstGeom>
          <a:noFill/>
        </p:spPr>
        <p:txBody>
          <a:bodyPr wrap="square" lIns="0" rIns="0" tIns="0" bIns="0">
            <a:spAutoFit/>
          </a:bodyPr>
          <a:lstStyle/>
          <a:p>
            <a:pPr>
              <a:spcAft>
                <a:spcPts val="300"/>
              </a:spcAft>
              <a:defRPr sz="1900" b="0">
                <a:solidFill>
                  <a:srgbClr val="A1AFC2"/>
                </a:solidFill>
                <a:latin typeface="Arial"/>
              </a:defRPr>
            </a:pPr>
            <a:r>
              <a:t>Отклонения в сценариях</a:t>
            </a:r>
          </a:p>
        </p:txBody>
      </p:sp>
      <p:sp>
        <p:nvSpPr>
          <p:cNvPr id="31" name="Oval 30"/>
          <p:cNvSpPr/>
          <p:nvPr/>
        </p:nvSpPr>
        <p:spPr>
          <a:xfrm>
            <a:off x="8229600" y="3931920"/>
            <a:ext cx="109728" cy="10972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4389120"/>
            <a:ext cx="3566160" cy="594360"/>
          </a:xfrm>
          <a:prstGeom prst="rect">
            <a:avLst/>
          </a:prstGeom>
          <a:noFill/>
        </p:spPr>
        <p:txBody>
          <a:bodyPr wrap="square" lIns="0" rIns="0" tIns="0" bIns="0">
            <a:spAutoFit/>
          </a:bodyPr>
          <a:lstStyle/>
          <a:p>
            <a:pPr>
              <a:spcAft>
                <a:spcPts val="300"/>
              </a:spcAft>
              <a:defRPr sz="3000" b="1">
                <a:solidFill>
                  <a:srgbClr val="F6F7FB"/>
                </a:solidFill>
                <a:latin typeface="Arial"/>
              </a:defRPr>
            </a:pPr>
            <a:r>
              <a:t>Обучение</a:t>
            </a:r>
          </a:p>
        </p:txBody>
      </p:sp>
      <p:sp>
        <p:nvSpPr>
          <p:cNvPr id="33" name="TextBox 32"/>
          <p:cNvSpPr txBox="1"/>
          <p:nvPr/>
        </p:nvSpPr>
        <p:spPr>
          <a:xfrm>
            <a:off x="8229600" y="5166360"/>
            <a:ext cx="3383280" cy="502920"/>
          </a:xfrm>
          <a:prstGeom prst="rect">
            <a:avLst/>
          </a:prstGeom>
          <a:noFill/>
        </p:spPr>
        <p:txBody>
          <a:bodyPr wrap="square" lIns="0" rIns="0" tIns="0" bIns="0">
            <a:spAutoFit/>
          </a:bodyPr>
          <a:lstStyle/>
          <a:p>
            <a:pPr>
              <a:spcAft>
                <a:spcPts val="300"/>
              </a:spcAft>
              <a:defRPr sz="1900" b="0">
                <a:solidFill>
                  <a:srgbClr val="A1AFC2"/>
                </a:solidFill>
                <a:latin typeface="Arial"/>
              </a:defRPr>
            </a:pPr>
            <a:r>
              <a:t>Самостоятельность и помощь</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242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242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728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54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540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7220064" y="2060280"/>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8933656" y="5967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1180231" y="77354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2643776" y="248713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2466967" y="4733711"/>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10753375" y="619725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8506800" y="6020447"/>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7043255" y="430685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22 / 29</a:t>
            </a:r>
          </a:p>
        </p:txBody>
      </p:sp>
      <p:sp>
        <p:nvSpPr>
          <p:cNvPr id="22" name="!!Progress"/>
          <p:cNvSpPr/>
          <p:nvPr/>
        </p:nvSpPr>
        <p:spPr>
          <a:xfrm>
            <a:off x="0" y="6821424"/>
            <a:ext cx="924887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4500" b="1">
                <a:solidFill>
                  <a:srgbClr val="F6F7FB"/>
                </a:solidFill>
                <a:latin typeface="Arial"/>
              </a:defRPr>
            </a:pPr>
            <a:r>
              <a:t>Какой эффект</a:t>
            </a:r>
          </a:p>
          <a:p>
            <a:pPr>
              <a:spcAft>
                <a:spcPts val="300"/>
              </a:spcAft>
              <a:defRPr sz="4500" b="1">
                <a:solidFill>
                  <a:srgbClr val="F6F7FB"/>
                </a:solidFill>
                <a:latin typeface="Arial"/>
              </a:defRPr>
            </a:pPr>
            <a:r>
              <a:t>покроет внедрение?</a:t>
            </a:r>
          </a:p>
        </p:txBody>
      </p:sp>
      <p:sp>
        <p:nvSpPr>
          <p:cNvPr id="24" name="!!Subline"/>
          <p:cNvSpPr txBox="1"/>
          <p:nvPr/>
        </p:nvSpPr>
        <p:spPr>
          <a:xfrm>
            <a:off x="612648" y="274320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Прозрачный порог вместо неподтверждённого прогноза</a:t>
            </a:r>
          </a:p>
        </p:txBody>
      </p:sp>
      <p:sp>
        <p:nvSpPr>
          <p:cNvPr id="25" name="TextBox 24"/>
          <p:cNvSpPr txBox="1"/>
          <p:nvPr/>
        </p:nvSpPr>
        <p:spPr>
          <a:xfrm>
            <a:off x="777240" y="3749039"/>
            <a:ext cx="10698480" cy="731520"/>
          </a:xfrm>
          <a:prstGeom prst="rect">
            <a:avLst/>
          </a:prstGeom>
          <a:noFill/>
        </p:spPr>
        <p:txBody>
          <a:bodyPr wrap="square" lIns="0" rIns="0" tIns="0" bIns="0">
            <a:spAutoFit/>
          </a:bodyPr>
          <a:lstStyle/>
          <a:p>
            <a:pPr>
              <a:spcAft>
                <a:spcPts val="300"/>
              </a:spcAft>
              <a:defRPr sz="3800" b="1">
                <a:solidFill>
                  <a:srgbClr val="F6F7FB"/>
                </a:solidFill>
                <a:latin typeface="Arial"/>
              </a:defRPr>
            </a:pPr>
            <a:r>
              <a:t>ЗАТРАТЫ  ÷  ЭФФЕКТ СОБЫТИЯ</a:t>
            </a:r>
          </a:p>
        </p:txBody>
      </p:sp>
      <p:sp>
        <p:nvSpPr>
          <p:cNvPr id="26" name="TextBox 25"/>
          <p:cNvSpPr txBox="1"/>
          <p:nvPr/>
        </p:nvSpPr>
        <p:spPr>
          <a:xfrm>
            <a:off x="777240" y="4800600"/>
            <a:ext cx="10789920" cy="640080"/>
          </a:xfrm>
          <a:prstGeom prst="rect">
            <a:avLst/>
          </a:prstGeom>
          <a:noFill/>
        </p:spPr>
        <p:txBody>
          <a:bodyPr wrap="square" lIns="0" rIns="0" tIns="0" bIns="0">
            <a:spAutoFit/>
          </a:bodyPr>
          <a:lstStyle/>
          <a:p>
            <a:pPr>
              <a:spcAft>
                <a:spcPts val="300"/>
              </a:spcAft>
              <a:defRPr sz="3500" b="1">
                <a:solidFill>
                  <a:srgbClr val="FFCC38"/>
                </a:solidFill>
                <a:latin typeface="Arial"/>
              </a:defRPr>
            </a:pPr>
            <a:r>
              <a:t>= ПОРОГ ОКУПАЕМОСТИ</a:t>
            </a:r>
          </a:p>
        </p:txBody>
      </p:sp>
      <p:sp>
        <p:nvSpPr>
          <p:cNvPr id="27" name="TextBox 26"/>
          <p:cNvSpPr txBox="1"/>
          <p:nvPr/>
        </p:nvSpPr>
        <p:spPr>
          <a:xfrm>
            <a:off x="822960" y="5641848"/>
            <a:ext cx="10607040" cy="274320"/>
          </a:xfrm>
          <a:prstGeom prst="rect">
            <a:avLst/>
          </a:prstGeom>
          <a:noFill/>
        </p:spPr>
        <p:txBody>
          <a:bodyPr wrap="square" lIns="0" rIns="0" tIns="0" bIns="0">
            <a:spAutoFit/>
          </a:bodyPr>
          <a:lstStyle/>
          <a:p>
            <a:pPr>
              <a:spcAft>
                <a:spcPts val="300"/>
              </a:spcAft>
              <a:defRPr sz="1300" b="0">
                <a:solidFill>
                  <a:srgbClr val="A1AFC2"/>
                </a:solidFill>
                <a:latin typeface="Arial"/>
              </a:defRPr>
            </a:pPr>
            <a:r>
              <a:t>Пороговый расчёт. Частота предотвращённых событий пока не доказана.</a:t>
            </a:r>
          </a:p>
        </p:txBody>
      </p:sp>
      <p:sp>
        <p:nvSpPr>
          <p:cNvPr id="28" name="TextBox 27"/>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Рабочая модель в Excel: отдельно эффект времени, событие, ожидание и затраты</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6675120" y="228600"/>
            <a:ext cx="6400800" cy="640080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4040000">
            <a:off x="6899148" y="452627"/>
            <a:ext cx="5952744" cy="5952744"/>
          </a:xfrm>
          <a:prstGeom prst="ellipse">
            <a:avLst/>
          </a:prstGeom>
        </p:spPr>
      </p:pic>
      <p:sp>
        <p:nvSpPr>
          <p:cNvPr id="4" name="!!LensTint"/>
          <p:cNvSpPr/>
          <p:nvPr/>
        </p:nvSpPr>
        <p:spPr>
          <a:xfrm>
            <a:off x="6675120" y="228600"/>
            <a:ext cx="6400800" cy="640080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4040000">
            <a:off x="6675120" y="228600"/>
            <a:ext cx="6400800" cy="640080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18900000">
            <a:off x="7123176" y="676656"/>
            <a:ext cx="5504688" cy="5504688"/>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2160000">
            <a:off x="7699248" y="1252727"/>
            <a:ext cx="4352544" cy="4352544"/>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7020000">
            <a:off x="8307324" y="1860804"/>
            <a:ext cx="3136391" cy="313639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8112859" y="1014952"/>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10304116" y="488878"/>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2225559" y="16663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12751633" y="385759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11574172" y="57790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9382915" y="6305113"/>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7461472" y="512765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6935398" y="293639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23 / 29</a:t>
            </a:r>
          </a:p>
        </p:txBody>
      </p:sp>
      <p:sp>
        <p:nvSpPr>
          <p:cNvPr id="22" name="!!Progress"/>
          <p:cNvSpPr/>
          <p:nvPr/>
        </p:nvSpPr>
        <p:spPr>
          <a:xfrm>
            <a:off x="0" y="6821424"/>
            <a:ext cx="9669275"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594360" y="960120"/>
            <a:ext cx="7909560" cy="1645920"/>
          </a:xfrm>
          <a:prstGeom prst="rect">
            <a:avLst/>
          </a:prstGeom>
          <a:noFill/>
        </p:spPr>
        <p:txBody>
          <a:bodyPr wrap="square" lIns="0" rIns="0" tIns="0" bIns="0">
            <a:spAutoFit/>
          </a:bodyPr>
          <a:lstStyle/>
          <a:p>
            <a:pPr>
              <a:spcAft>
                <a:spcPts val="300"/>
              </a:spcAft>
              <a:defRPr sz="5300" b="1">
                <a:solidFill>
                  <a:srgbClr val="F6F7FB"/>
                </a:solidFill>
                <a:latin typeface="Arial"/>
              </a:defRPr>
            </a:pPr>
            <a:r>
              <a:t>Проверить в работе.</a:t>
            </a:r>
          </a:p>
        </p:txBody>
      </p:sp>
      <p:sp>
        <p:nvSpPr>
          <p:cNvPr id="24" name="!!Subline"/>
          <p:cNvSpPr txBox="1"/>
          <p:nvPr/>
        </p:nvSpPr>
        <p:spPr>
          <a:xfrm>
            <a:off x="612648" y="2468880"/>
            <a:ext cx="7909560" cy="777240"/>
          </a:xfrm>
          <a:prstGeom prst="rect">
            <a:avLst/>
          </a:prstGeom>
          <a:noFill/>
        </p:spPr>
        <p:txBody>
          <a:bodyPr wrap="square" lIns="0" rIns="0" tIns="0" bIns="0">
            <a:spAutoFit/>
          </a:bodyPr>
          <a:lstStyle/>
          <a:p>
            <a:pPr>
              <a:spcAft>
                <a:spcPts val="300"/>
              </a:spcAft>
              <a:defRPr sz="2100" b="0">
                <a:solidFill>
                  <a:srgbClr val="A1AFC2"/>
                </a:solidFill>
                <a:latin typeface="Arial"/>
              </a:defRPr>
            </a:pPr>
            <a:r>
              <a:t>ПОДГОТОВКА → ПИЛОТ → ИЗМЕРЕНИЯ → РЕШЕНИЕ</a:t>
            </a:r>
          </a:p>
        </p:txBody>
      </p:sp>
      <p:sp>
        <p:nvSpPr>
          <p:cNvPr id="25" name="Oval 24"/>
          <p:cNvSpPr/>
          <p:nvPr/>
        </p:nvSpPr>
        <p:spPr>
          <a:xfrm>
            <a:off x="768096" y="3794760"/>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206240"/>
            <a:ext cx="2651760" cy="640080"/>
          </a:xfrm>
          <a:prstGeom prst="rect">
            <a:avLst/>
          </a:prstGeom>
          <a:noFill/>
        </p:spPr>
        <p:txBody>
          <a:bodyPr wrap="square" lIns="0" rIns="0" tIns="0" bIns="0">
            <a:spAutoFit/>
          </a:bodyPr>
          <a:lstStyle/>
          <a:p>
            <a:pPr>
              <a:spcAft>
                <a:spcPts val="300"/>
              </a:spcAft>
              <a:defRPr sz="4000" b="1">
                <a:solidFill>
                  <a:srgbClr val="FFCC38"/>
                </a:solidFill>
                <a:latin typeface="Arial"/>
              </a:defRPr>
            </a:pPr>
            <a:r>
              <a:t>01</a:t>
            </a:r>
          </a:p>
        </p:txBody>
      </p:sp>
      <p:sp>
        <p:nvSpPr>
          <p:cNvPr id="27" name="TextBox 26"/>
          <p:cNvSpPr txBox="1"/>
          <p:nvPr/>
        </p:nvSpPr>
        <p:spPr>
          <a:xfrm>
            <a:off x="731520" y="5029200"/>
            <a:ext cx="2651760" cy="548640"/>
          </a:xfrm>
          <a:prstGeom prst="rect">
            <a:avLst/>
          </a:prstGeom>
          <a:noFill/>
        </p:spPr>
        <p:txBody>
          <a:bodyPr wrap="square" lIns="0" rIns="0" tIns="0" bIns="0">
            <a:spAutoFit/>
          </a:bodyPr>
          <a:lstStyle/>
          <a:p>
            <a:pPr>
              <a:spcAft>
                <a:spcPts val="300"/>
              </a:spcAft>
              <a:defRPr sz="2400" b="1">
                <a:solidFill>
                  <a:srgbClr val="F6F7FB"/>
                </a:solidFill>
                <a:latin typeface="Arial"/>
              </a:defRPr>
            </a:pPr>
            <a:r>
              <a:t>Подготовить</a:t>
            </a:r>
          </a:p>
        </p:txBody>
      </p:sp>
      <p:sp>
        <p:nvSpPr>
          <p:cNvPr id="28" name="Rectangle 27"/>
          <p:cNvSpPr/>
          <p:nvPr/>
        </p:nvSpPr>
        <p:spPr>
          <a:xfrm>
            <a:off x="914400" y="3858768"/>
            <a:ext cx="2697480" cy="13716"/>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02736" y="3794760"/>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66160" y="4206240"/>
            <a:ext cx="2651760" cy="640080"/>
          </a:xfrm>
          <a:prstGeom prst="rect">
            <a:avLst/>
          </a:prstGeom>
          <a:noFill/>
        </p:spPr>
        <p:txBody>
          <a:bodyPr wrap="square" lIns="0" rIns="0" tIns="0" bIns="0">
            <a:spAutoFit/>
          </a:bodyPr>
          <a:lstStyle/>
          <a:p>
            <a:pPr>
              <a:spcAft>
                <a:spcPts val="300"/>
              </a:spcAft>
              <a:defRPr sz="4000" b="1">
                <a:solidFill>
                  <a:srgbClr val="FFCC38"/>
                </a:solidFill>
                <a:latin typeface="Arial"/>
              </a:defRPr>
            </a:pPr>
            <a:r>
              <a:t>02</a:t>
            </a:r>
          </a:p>
        </p:txBody>
      </p:sp>
      <p:sp>
        <p:nvSpPr>
          <p:cNvPr id="31" name="TextBox 30"/>
          <p:cNvSpPr txBox="1"/>
          <p:nvPr/>
        </p:nvSpPr>
        <p:spPr>
          <a:xfrm>
            <a:off x="3566160" y="5029200"/>
            <a:ext cx="2651760" cy="548640"/>
          </a:xfrm>
          <a:prstGeom prst="rect">
            <a:avLst/>
          </a:prstGeom>
          <a:noFill/>
        </p:spPr>
        <p:txBody>
          <a:bodyPr wrap="square" lIns="0" rIns="0" tIns="0" bIns="0">
            <a:spAutoFit/>
          </a:bodyPr>
          <a:lstStyle/>
          <a:p>
            <a:pPr>
              <a:spcAft>
                <a:spcPts val="300"/>
              </a:spcAft>
              <a:defRPr sz="2400" b="1">
                <a:solidFill>
                  <a:srgbClr val="F6F7FB"/>
                </a:solidFill>
                <a:latin typeface="Arial"/>
              </a:defRPr>
            </a:pPr>
            <a:r>
              <a:t>Проверить</a:t>
            </a:r>
          </a:p>
        </p:txBody>
      </p:sp>
      <p:sp>
        <p:nvSpPr>
          <p:cNvPr id="32" name="Rectangle 31"/>
          <p:cNvSpPr/>
          <p:nvPr/>
        </p:nvSpPr>
        <p:spPr>
          <a:xfrm>
            <a:off x="3749040" y="3858768"/>
            <a:ext cx="2697480" cy="13716"/>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3794760"/>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206240"/>
            <a:ext cx="2651760" cy="640080"/>
          </a:xfrm>
          <a:prstGeom prst="rect">
            <a:avLst/>
          </a:prstGeom>
          <a:noFill/>
        </p:spPr>
        <p:txBody>
          <a:bodyPr wrap="square" lIns="0" rIns="0" tIns="0" bIns="0">
            <a:spAutoFit/>
          </a:bodyPr>
          <a:lstStyle/>
          <a:p>
            <a:pPr>
              <a:spcAft>
                <a:spcPts val="300"/>
              </a:spcAft>
              <a:defRPr sz="4000" b="1">
                <a:solidFill>
                  <a:srgbClr val="FFCC38"/>
                </a:solidFill>
                <a:latin typeface="Arial"/>
              </a:defRPr>
            </a:pPr>
            <a:r>
              <a:t>03</a:t>
            </a:r>
          </a:p>
        </p:txBody>
      </p:sp>
      <p:sp>
        <p:nvSpPr>
          <p:cNvPr id="35" name="TextBox 34"/>
          <p:cNvSpPr txBox="1"/>
          <p:nvPr/>
        </p:nvSpPr>
        <p:spPr>
          <a:xfrm>
            <a:off x="6400800" y="5029200"/>
            <a:ext cx="2651760" cy="548640"/>
          </a:xfrm>
          <a:prstGeom prst="rect">
            <a:avLst/>
          </a:prstGeom>
          <a:noFill/>
        </p:spPr>
        <p:txBody>
          <a:bodyPr wrap="square" lIns="0" rIns="0" tIns="0" bIns="0">
            <a:spAutoFit/>
          </a:bodyPr>
          <a:lstStyle/>
          <a:p>
            <a:pPr>
              <a:spcAft>
                <a:spcPts val="300"/>
              </a:spcAft>
              <a:defRPr sz="2400" b="1">
                <a:solidFill>
                  <a:srgbClr val="F6F7FB"/>
                </a:solidFill>
                <a:latin typeface="Arial"/>
              </a:defRPr>
            </a:pPr>
            <a:r>
              <a:t>Измерить</a:t>
            </a:r>
          </a:p>
        </p:txBody>
      </p:sp>
      <p:sp>
        <p:nvSpPr>
          <p:cNvPr id="36" name="Rectangle 35"/>
          <p:cNvSpPr/>
          <p:nvPr/>
        </p:nvSpPr>
        <p:spPr>
          <a:xfrm>
            <a:off x="6583680" y="3858768"/>
            <a:ext cx="2697480" cy="13716"/>
          </a:xfrm>
          <a:prstGeom prst="rect">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272016" y="3794760"/>
            <a:ext cx="146304" cy="146304"/>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0" y="4206240"/>
            <a:ext cx="2651760" cy="640080"/>
          </a:xfrm>
          <a:prstGeom prst="rect">
            <a:avLst/>
          </a:prstGeom>
          <a:noFill/>
        </p:spPr>
        <p:txBody>
          <a:bodyPr wrap="square" lIns="0" rIns="0" tIns="0" bIns="0">
            <a:spAutoFit/>
          </a:bodyPr>
          <a:lstStyle/>
          <a:p>
            <a:pPr>
              <a:spcAft>
                <a:spcPts val="300"/>
              </a:spcAft>
              <a:defRPr sz="4000" b="1">
                <a:solidFill>
                  <a:srgbClr val="FFCC38"/>
                </a:solidFill>
                <a:latin typeface="Arial"/>
              </a:defRPr>
            </a:pPr>
            <a:r>
              <a:t>04</a:t>
            </a:r>
          </a:p>
        </p:txBody>
      </p:sp>
      <p:sp>
        <p:nvSpPr>
          <p:cNvPr id="39" name="TextBox 38"/>
          <p:cNvSpPr txBox="1"/>
          <p:nvPr/>
        </p:nvSpPr>
        <p:spPr>
          <a:xfrm>
            <a:off x="9235440" y="5029200"/>
            <a:ext cx="2651760" cy="548640"/>
          </a:xfrm>
          <a:prstGeom prst="rect">
            <a:avLst/>
          </a:prstGeom>
          <a:noFill/>
        </p:spPr>
        <p:txBody>
          <a:bodyPr wrap="square" lIns="0" rIns="0" tIns="0" bIns="0">
            <a:spAutoFit/>
          </a:bodyPr>
          <a:lstStyle/>
          <a:p>
            <a:pPr>
              <a:spcAft>
                <a:spcPts val="300"/>
              </a:spcAft>
              <a:defRPr sz="2400" b="1">
                <a:solidFill>
                  <a:srgbClr val="F6F7FB"/>
                </a:solidFill>
                <a:latin typeface="Arial"/>
              </a:defRPr>
            </a:pPr>
            <a:r>
              <a:t>Решить</a:t>
            </a:r>
          </a:p>
        </p:txBody>
      </p:sp>
      <p:sp>
        <p:nvSpPr>
          <p:cNvPr id="40" name="TextBox 39"/>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Предложение автора; сроки, состав группы и бюджет не утверждены</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OrbBase"/>
          <p:cNvSpPr/>
          <p:nvPr/>
        </p:nvSpPr>
        <p:spPr>
          <a:xfrm>
            <a:off x="1431950" y="-1234439"/>
            <a:ext cx="9326880" cy="9326880"/>
          </a:xfrm>
          <a:prstGeom prst="ellipse">
            <a:avLst/>
          </a:prstGeom>
          <a:solidFill>
            <a:srgbClr val="101B2B">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rdwareLens" descr="station.jpg"/>
          <p:cNvPicPr>
            <a:picLocks noChangeAspect="1"/>
          </p:cNvPicPr>
          <p:nvPr/>
        </p:nvPicPr>
        <p:blipFill>
          <a:blip r:embed="rId2"/>
          <a:srcRect l="16643" r="16643"/>
          <a:stretch>
            <a:fillRect/>
          </a:stretch>
        </p:blipFill>
        <p:spPr>
          <a:xfrm rot="15660000">
            <a:off x="1758391" y="-907999"/>
            <a:ext cx="8673998" cy="8673998"/>
          </a:xfrm>
          <a:prstGeom prst="ellipse">
            <a:avLst/>
          </a:prstGeom>
        </p:spPr>
      </p:pic>
      <p:sp>
        <p:nvSpPr>
          <p:cNvPr id="4" name="!!LensTint"/>
          <p:cNvSpPr/>
          <p:nvPr/>
        </p:nvSpPr>
        <p:spPr>
          <a:xfrm>
            <a:off x="1431950" y="-1234439"/>
            <a:ext cx="9326880" cy="9326880"/>
          </a:xfrm>
          <a:prstGeom prst="ellipse">
            <a:avLst/>
          </a:prstGeom>
          <a:solidFill>
            <a:srgbClr val="080C13">
              <a:alpha val="9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rbitArc0"/>
          <p:cNvSpPr/>
          <p:nvPr/>
        </p:nvSpPr>
        <p:spPr>
          <a:xfrm rot="15660000">
            <a:off x="1431950" y="-1234439"/>
            <a:ext cx="9326880" cy="9326880"/>
          </a:xfrm>
          <a:prstGeom prst="arc">
            <a:avLst/>
          </a:prstGeom>
          <a:noFill/>
          <a:ln w="2032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bitArc1"/>
          <p:cNvSpPr/>
          <p:nvPr/>
        </p:nvSpPr>
        <p:spPr>
          <a:xfrm rot="20520000">
            <a:off x="2084832" y="-581558"/>
            <a:ext cx="8021116" cy="8021116"/>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bitArc2"/>
          <p:cNvSpPr/>
          <p:nvPr/>
        </p:nvSpPr>
        <p:spPr>
          <a:xfrm rot="3780000">
            <a:off x="2924251" y="257860"/>
            <a:ext cx="6342278" cy="6342278"/>
          </a:xfrm>
          <a:prstGeom prst="arc">
            <a:avLst/>
          </a:prstGeom>
          <a:noFill/>
          <a:ln w="11430">
            <a:solidFill>
              <a:srgbClr val="FFC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bitArc3"/>
          <p:cNvSpPr/>
          <p:nvPr/>
        </p:nvSpPr>
        <p:spPr>
          <a:xfrm rot="8640000">
            <a:off x="3810304" y="1143914"/>
            <a:ext cx="4570171" cy="4570171"/>
          </a:xfrm>
          <a:prstGeom prst="arc">
            <a:avLst/>
          </a:prstGeom>
          <a:noFill/>
          <a:ln w="11430">
            <a:solidFill>
              <a:srgbClr val="31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itNode0"/>
          <p:cNvSpPr/>
          <p:nvPr/>
        </p:nvSpPr>
        <p:spPr>
          <a:xfrm>
            <a:off x="5392225" y="-840547"/>
            <a:ext cx="64008" cy="64008"/>
          </a:xfrm>
          <a:prstGeom prst="ellipse">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rbitNode1"/>
          <p:cNvSpPr/>
          <p:nvPr/>
        </p:nvSpPr>
        <p:spPr>
          <a:xfrm>
            <a:off x="8585199" y="-7398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rbitNode2"/>
          <p:cNvSpPr/>
          <p:nvPr/>
        </p:nvSpPr>
        <p:spPr>
          <a:xfrm>
            <a:off x="10300929" y="2725835"/>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bitNode3"/>
          <p:cNvSpPr/>
          <p:nvPr/>
        </p:nvSpPr>
        <p:spPr>
          <a:xfrm>
            <a:off x="9534364" y="591880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bitNode4"/>
          <p:cNvSpPr/>
          <p:nvPr/>
        </p:nvSpPr>
        <p:spPr>
          <a:xfrm>
            <a:off x="6734547" y="7634539"/>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bitNode5"/>
          <p:cNvSpPr/>
          <p:nvPr/>
        </p:nvSpPr>
        <p:spPr>
          <a:xfrm>
            <a:off x="3541573" y="6867974"/>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bitNode6"/>
          <p:cNvSpPr/>
          <p:nvPr/>
        </p:nvSpPr>
        <p:spPr>
          <a:xfrm>
            <a:off x="1825843" y="4068156"/>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rbitNode7"/>
          <p:cNvSpPr/>
          <p:nvPr/>
        </p:nvSpPr>
        <p:spPr>
          <a:xfrm>
            <a:off x="2592408" y="875182"/>
            <a:ext cx="64008" cy="64008"/>
          </a:xfrm>
          <a:prstGeom prst="ellipse">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oneFrame"/>
          <p:cNvSpPr/>
          <p:nvPr/>
        </p:nvSpPr>
        <p:spPr>
          <a:xfrm>
            <a:off x="12829032" y="804671"/>
            <a:ext cx="2505456" cy="5202936"/>
          </a:xfrm>
          <a:prstGeom prst="roundRect">
            <a:avLst>
              <a:gd name="adj" fmla="val 6000"/>
            </a:avLst>
          </a:prstGeom>
          <a:solidFill>
            <a:srgbClr val="314256">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AppScreen" descr="home.png"/>
          <p:cNvPicPr>
            <a:picLocks noChangeAspect="1"/>
          </p:cNvPicPr>
          <p:nvPr/>
        </p:nvPicPr>
        <p:blipFill>
          <a:blip r:embed="rId3"/>
          <a:srcRect t="681" b="681"/>
          <a:stretch>
            <a:fillRect/>
          </a:stretch>
        </p:blipFill>
        <p:spPr>
          <a:xfrm>
            <a:off x="12893040" y="868680"/>
            <a:ext cx="2377440" cy="5074920"/>
          </a:xfrm>
          <a:prstGeom prst="rect">
            <a:avLst/>
          </a:prstGeom>
        </p:spPr>
      </p:pic>
      <p:sp>
        <p:nvSpPr>
          <p:cNvPr id="19"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ПРОЕКТ ВНЕДРЕНИЯ</a:t>
            </a:r>
          </a:p>
        </p:txBody>
      </p:sp>
      <p:sp>
        <p:nvSpPr>
          <p:cNvPr id="20"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21" name="TextBox 20"/>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24 / 29</a:t>
            </a:r>
          </a:p>
        </p:txBody>
      </p:sp>
      <p:sp>
        <p:nvSpPr>
          <p:cNvPr id="22" name="!!Progress"/>
          <p:cNvSpPr/>
          <p:nvPr/>
        </p:nvSpPr>
        <p:spPr>
          <a:xfrm>
            <a:off x="0" y="6821424"/>
            <a:ext cx="10089678"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eadline"/>
          <p:cNvSpPr txBox="1"/>
          <p:nvPr/>
        </p:nvSpPr>
        <p:spPr>
          <a:xfrm>
            <a:off x="914400" y="1645920"/>
            <a:ext cx="10698480" cy="2103120"/>
          </a:xfrm>
          <a:prstGeom prst="rect">
            <a:avLst/>
          </a:prstGeom>
          <a:noFill/>
        </p:spPr>
        <p:txBody>
          <a:bodyPr wrap="square" lIns="0" rIns="0" tIns="0" bIns="0">
            <a:spAutoFit/>
          </a:bodyPr>
          <a:lstStyle/>
          <a:p>
            <a:pPr>
              <a:spcAft>
                <a:spcPts val="300"/>
              </a:spcAft>
              <a:defRPr sz="5800" b="1">
                <a:solidFill>
                  <a:srgbClr val="F6F7FB"/>
                </a:solidFill>
                <a:latin typeface="Arial"/>
              </a:defRPr>
            </a:pPr>
            <a:r>
              <a:t>Согласовать пилот.</a:t>
            </a:r>
          </a:p>
          <a:p>
            <a:pPr>
              <a:spcAft>
                <a:spcPts val="300"/>
              </a:spcAft>
              <a:defRPr sz="5800" b="1">
                <a:solidFill>
                  <a:srgbClr val="F6F7FB"/>
                </a:solidFill>
                <a:latin typeface="Arial"/>
              </a:defRPr>
            </a:pPr>
            <a:r>
              <a:t>Проверить эффект.</a:t>
            </a:r>
          </a:p>
        </p:txBody>
      </p:sp>
      <p:sp>
        <p:nvSpPr>
          <p:cNvPr id="24" name="!!Subline"/>
          <p:cNvSpPr txBox="1"/>
          <p:nvPr/>
        </p:nvSpPr>
        <p:spPr>
          <a:xfrm>
            <a:off x="1005840" y="4389120"/>
            <a:ext cx="10149840" cy="548640"/>
          </a:xfrm>
          <a:prstGeom prst="rect">
            <a:avLst/>
          </a:prstGeom>
          <a:noFill/>
        </p:spPr>
        <p:txBody>
          <a:bodyPr wrap="square" lIns="0" rIns="0" tIns="0" bIns="0">
            <a:spAutoFit/>
          </a:bodyPr>
          <a:lstStyle/>
          <a:p>
            <a:pPr>
              <a:spcAft>
                <a:spcPts val="300"/>
              </a:spcAft>
              <a:defRPr sz="2100" b="1">
                <a:solidFill>
                  <a:srgbClr val="FFCC38"/>
                </a:solidFill>
                <a:latin typeface="Arial"/>
              </a:defRPr>
            </a:pPr>
            <a:r>
              <a:t>РЕАЛЬНЫЕ СЦЕНАРИИ. ПОДТВЕРЖДЁННЫЕ РЕЗУЛЬТАТЫ.</a:t>
            </a:r>
          </a:p>
        </p:txBody>
      </p:sp>
      <p:sp>
        <p:nvSpPr>
          <p:cNvPr id="25" name="TextBox 24"/>
          <p:cNvSpPr txBox="1"/>
          <p:nvPr/>
        </p:nvSpPr>
        <p:spPr>
          <a:xfrm>
            <a:off x="1051560" y="5349240"/>
            <a:ext cx="9784080" cy="457200"/>
          </a:xfrm>
          <a:prstGeom prst="rect">
            <a:avLst/>
          </a:prstGeom>
          <a:noFill/>
        </p:spPr>
        <p:txBody>
          <a:bodyPr wrap="square" lIns="0" rIns="0" tIns="0" bIns="0">
            <a:spAutoFit/>
          </a:bodyPr>
          <a:lstStyle/>
          <a:p>
            <a:pPr>
              <a:spcAft>
                <a:spcPts val="300"/>
              </a:spcAft>
              <a:defRPr sz="2100" b="0">
                <a:solidFill>
                  <a:srgbClr val="A1AFC2"/>
                </a:solidFill>
                <a:latin typeface="Arial"/>
              </a:defRPr>
            </a:pPr>
            <a:r>
              <a:t>Согласовать участников, владельца и критерии пилота.</a:t>
            </a:r>
          </a:p>
        </p:txBody>
      </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spd="slow" advClick="1" p14:dur="1300">
        <p159:morph option="byObject"/>
      </p:transition>
    </mc:Choice>
    <mc:Fallback>
      <p:transition spd="slow" advClick="1">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МАТЕРИАЛЫ ДЛЯ ВОПРОСОВ</a:t>
            </a:r>
          </a:p>
        </p:txBody>
      </p:sp>
      <p:sp>
        <p:nvSpPr>
          <p:cNvPr id="3"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4" name="TextBox 3"/>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25 / 29</a:t>
            </a:r>
          </a:p>
        </p:txBody>
      </p:sp>
      <p:sp>
        <p:nvSpPr>
          <p:cNvPr id="5" name="!!Progress"/>
          <p:cNvSpPr/>
          <p:nvPr/>
        </p:nvSpPr>
        <p:spPr>
          <a:xfrm>
            <a:off x="0" y="6821424"/>
            <a:ext cx="10510082"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27080" cy="1280160"/>
          </a:xfrm>
          <a:prstGeom prst="rect">
            <a:avLst/>
          </a:prstGeom>
          <a:noFill/>
        </p:spPr>
        <p:txBody>
          <a:bodyPr wrap="square" lIns="0" rIns="0" tIns="0" bIns="0">
            <a:spAutoFit/>
          </a:bodyPr>
          <a:lstStyle/>
          <a:p>
            <a:pPr>
              <a:spcAft>
                <a:spcPts val="300"/>
              </a:spcAft>
              <a:defRPr sz="3900" b="1">
                <a:solidFill>
                  <a:srgbClr val="F6F7FB"/>
                </a:solidFill>
                <a:latin typeface="Arial"/>
              </a:defRPr>
            </a:pPr>
            <a:r>
              <a:t>Резерв · Примеры</a:t>
            </a:r>
          </a:p>
          <a:p>
            <a:pPr>
              <a:spcAft>
                <a:spcPts val="300"/>
              </a:spcAft>
              <a:defRPr sz="3900" b="1">
                <a:solidFill>
                  <a:srgbClr val="F6F7FB"/>
                </a:solidFill>
                <a:latin typeface="Arial"/>
              </a:defRPr>
            </a:pPr>
            <a:r>
              <a:t>проверяемых расчётов.</a:t>
            </a:r>
          </a:p>
        </p:txBody>
      </p:sp>
      <p:sp>
        <p:nvSpPr>
          <p:cNvPr id="7" name="TextBox 6"/>
          <p:cNvSpPr txBox="1"/>
          <p:nvPr/>
        </p:nvSpPr>
        <p:spPr>
          <a:xfrm>
            <a:off x="676656" y="2331720"/>
            <a:ext cx="10881360" cy="685800"/>
          </a:xfrm>
          <a:prstGeom prst="rect">
            <a:avLst/>
          </a:prstGeom>
          <a:noFill/>
        </p:spPr>
        <p:txBody>
          <a:bodyPr wrap="square" lIns="0" rIns="0" tIns="0" bIns="0">
            <a:spAutoFit/>
          </a:bodyPr>
          <a:lstStyle/>
          <a:p>
            <a:pPr>
              <a:spcAft>
                <a:spcPts val="300"/>
              </a:spcAft>
              <a:defRPr sz="2000" b="0">
                <a:solidFill>
                  <a:srgbClr val="A1AFC2"/>
                </a:solidFill>
                <a:latin typeface="Arial"/>
              </a:defRPr>
            </a:pPr>
            <a:r>
              <a:t>Для ответа на технические вопросы.</a:t>
            </a:r>
          </a:p>
        </p:txBody>
      </p:sp>
      <p:sp>
        <p:nvSpPr>
          <p:cNvPr id="8" name="TextBox 7"/>
          <p:cNvSpPr txBox="1"/>
          <p:nvPr/>
        </p:nvSpPr>
        <p:spPr>
          <a:xfrm>
            <a:off x="731520" y="3200400"/>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01</a:t>
            </a:r>
          </a:p>
        </p:txBody>
      </p:sp>
      <p:sp>
        <p:nvSpPr>
          <p:cNvPr id="9" name="TextBox 8"/>
          <p:cNvSpPr txBox="1"/>
          <p:nvPr/>
        </p:nvSpPr>
        <p:spPr>
          <a:xfrm>
            <a:off x="1325880" y="3200400"/>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Дебит: Q = 86,4 × V / t; литры и секунды</a:t>
            </a:r>
          </a:p>
        </p:txBody>
      </p:sp>
      <p:sp>
        <p:nvSpPr>
          <p:cNvPr id="10" name="TextBox 9"/>
          <p:cNvSpPr txBox="1"/>
          <p:nvPr/>
        </p:nvSpPr>
        <p:spPr>
          <a:xfrm>
            <a:off x="731520" y="3822191"/>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02</a:t>
            </a:r>
          </a:p>
        </p:txBody>
      </p:sp>
      <p:sp>
        <p:nvSpPr>
          <p:cNvPr id="11" name="TextBox 10"/>
          <p:cNvSpPr txBox="1"/>
          <p:nvPr/>
        </p:nvSpPr>
        <p:spPr>
          <a:xfrm>
            <a:off x="1325880" y="3822191"/>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Охлаждение: Qфакт = Qном × (Iраб / Iном)²</a:t>
            </a:r>
          </a:p>
        </p:txBody>
      </p:sp>
      <p:sp>
        <p:nvSpPr>
          <p:cNvPr id="12" name="TextBox 11"/>
          <p:cNvSpPr txBox="1"/>
          <p:nvPr/>
        </p:nvSpPr>
        <p:spPr>
          <a:xfrm>
            <a:off x="731520" y="4443984"/>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03</a:t>
            </a:r>
          </a:p>
        </p:txBody>
      </p:sp>
      <p:sp>
        <p:nvSpPr>
          <p:cNvPr id="13" name="TextBox 12"/>
          <p:cNvSpPr txBox="1"/>
          <p:nvPr/>
        </p:nvSpPr>
        <p:spPr>
          <a:xfrm>
            <a:off x="1325880" y="4443984"/>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Уровень: глубина с учётом удлинения, давлений и плотности</a:t>
            </a:r>
          </a:p>
        </p:txBody>
      </p:sp>
      <p:sp>
        <p:nvSpPr>
          <p:cNvPr id="14" name="TextBox 13"/>
          <p:cNvSpPr txBox="1"/>
          <p:nvPr/>
        </p:nvSpPr>
        <p:spPr>
          <a:xfrm>
            <a:off x="731520" y="5065776"/>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04</a:t>
            </a:r>
          </a:p>
        </p:txBody>
      </p:sp>
      <p:sp>
        <p:nvSpPr>
          <p:cNvPr id="15" name="TextBox 14"/>
          <p:cNvSpPr txBox="1"/>
          <p:nvPr/>
        </p:nvSpPr>
        <p:spPr>
          <a:xfrm>
            <a:off x="1325880" y="5065776"/>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Отпайка: исходное напряжение, потери кабеля и вариант ЧРП</a:t>
            </a:r>
          </a:p>
        </p:txBody>
      </p:sp>
      <p:sp>
        <p:nvSpPr>
          <p:cNvPr id="16" name="TextBox 1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calculator/*.kt, экраны Android, js/math.js и протоколы сопоставления</a:t>
            </a:r>
          </a:p>
        </p:txBody>
      </p:sp>
    </p:spTree>
  </p:cSld>
  <p:clrMapOvr>
    <a:masterClrMapping/>
  </p:clrMapOvr>
  <p:transition spd="slow"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МАТЕРИАЛЫ ДЛЯ ВОПРОСОВ</a:t>
            </a:r>
          </a:p>
        </p:txBody>
      </p:sp>
      <p:sp>
        <p:nvSpPr>
          <p:cNvPr id="3"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4" name="TextBox 3"/>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26 / 29</a:t>
            </a:r>
          </a:p>
        </p:txBody>
      </p:sp>
      <p:sp>
        <p:nvSpPr>
          <p:cNvPr id="5" name="!!Progress"/>
          <p:cNvSpPr/>
          <p:nvPr/>
        </p:nvSpPr>
        <p:spPr>
          <a:xfrm>
            <a:off x="0" y="6821424"/>
            <a:ext cx="10930485"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27080" cy="1280160"/>
          </a:xfrm>
          <a:prstGeom prst="rect">
            <a:avLst/>
          </a:prstGeom>
          <a:noFill/>
        </p:spPr>
        <p:txBody>
          <a:bodyPr wrap="square" lIns="0" rIns="0" tIns="0" bIns="0">
            <a:spAutoFit/>
          </a:bodyPr>
          <a:lstStyle/>
          <a:p>
            <a:pPr>
              <a:spcAft>
                <a:spcPts val="300"/>
              </a:spcAft>
              <a:defRPr sz="3900" b="1">
                <a:solidFill>
                  <a:srgbClr val="F6F7FB"/>
                </a:solidFill>
                <a:latin typeface="Arial"/>
              </a:defRPr>
            </a:pPr>
            <a:r>
              <a:t>Резерв · Экономика</a:t>
            </a:r>
          </a:p>
          <a:p>
            <a:pPr>
              <a:spcAft>
                <a:spcPts val="300"/>
              </a:spcAft>
              <a:defRPr sz="3900" b="1">
                <a:solidFill>
                  <a:srgbClr val="F6F7FB"/>
                </a:solidFill>
                <a:latin typeface="Arial"/>
              </a:defRPr>
            </a:pPr>
            <a:r>
              <a:t>по составляющим.</a:t>
            </a:r>
          </a:p>
        </p:txBody>
      </p:sp>
      <p:sp>
        <p:nvSpPr>
          <p:cNvPr id="7" name="TextBox 6"/>
          <p:cNvSpPr txBox="1"/>
          <p:nvPr/>
        </p:nvSpPr>
        <p:spPr>
          <a:xfrm>
            <a:off x="676656" y="2331720"/>
            <a:ext cx="10881360" cy="685800"/>
          </a:xfrm>
          <a:prstGeom prst="rect">
            <a:avLst/>
          </a:prstGeom>
          <a:noFill/>
        </p:spPr>
        <p:txBody>
          <a:bodyPr wrap="square" lIns="0" rIns="0" tIns="0" bIns="0">
            <a:spAutoFit/>
          </a:bodyPr>
          <a:lstStyle/>
          <a:p>
            <a:pPr>
              <a:spcAft>
                <a:spcPts val="300"/>
              </a:spcAft>
              <a:defRPr sz="2000" b="0">
                <a:solidFill>
                  <a:srgbClr val="A1AFC2"/>
                </a:solidFill>
                <a:latin typeface="Arial"/>
              </a:defRPr>
            </a:pPr>
            <a:r>
              <a:t>Все неизвестные показатели вводятся отдельно и получают источник подтверждения.</a:t>
            </a:r>
          </a:p>
        </p:txBody>
      </p:sp>
      <p:sp>
        <p:nvSpPr>
          <p:cNvPr id="8" name="TextBox 7"/>
          <p:cNvSpPr txBox="1"/>
          <p:nvPr/>
        </p:nvSpPr>
        <p:spPr>
          <a:xfrm>
            <a:off x="731520" y="3200400"/>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01</a:t>
            </a:r>
          </a:p>
        </p:txBody>
      </p:sp>
      <p:sp>
        <p:nvSpPr>
          <p:cNvPr id="9" name="TextBox 8"/>
          <p:cNvSpPr txBox="1"/>
          <p:nvPr/>
        </p:nvSpPr>
        <p:spPr>
          <a:xfrm>
            <a:off x="1325880" y="3200400"/>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Время = активные пользователи × операции × экономия минут</a:t>
            </a:r>
          </a:p>
        </p:txBody>
      </p:sp>
      <p:sp>
        <p:nvSpPr>
          <p:cNvPr id="10" name="TextBox 9"/>
          <p:cNvSpPr txBox="1"/>
          <p:nvPr/>
        </p:nvSpPr>
        <p:spPr>
          <a:xfrm>
            <a:off x="731520" y="3822191"/>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02</a:t>
            </a:r>
          </a:p>
        </p:txBody>
      </p:sp>
      <p:sp>
        <p:nvSpPr>
          <p:cNvPr id="11" name="TextBox 10"/>
          <p:cNvSpPr txBox="1"/>
          <p:nvPr/>
        </p:nvSpPr>
        <p:spPr>
          <a:xfrm>
            <a:off x="1325880" y="3822191"/>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Эффект события = прямые расходы + согласованные потери добычи</a:t>
            </a:r>
          </a:p>
        </p:txBody>
      </p:sp>
      <p:sp>
        <p:nvSpPr>
          <p:cNvPr id="12" name="TextBox 11"/>
          <p:cNvSpPr txBox="1"/>
          <p:nvPr/>
        </p:nvSpPr>
        <p:spPr>
          <a:xfrm>
            <a:off x="731520" y="4443984"/>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03</a:t>
            </a:r>
          </a:p>
        </p:txBody>
      </p:sp>
      <p:sp>
        <p:nvSpPr>
          <p:cNvPr id="13" name="TextBox 12"/>
          <p:cNvSpPr txBox="1"/>
          <p:nvPr/>
        </p:nvSpPr>
        <p:spPr>
          <a:xfrm>
            <a:off x="1325880" y="4443984"/>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Ожидание = частота событий × снижение × вклад приложения × эффект</a:t>
            </a:r>
          </a:p>
        </p:txBody>
      </p:sp>
      <p:sp>
        <p:nvSpPr>
          <p:cNvPr id="14" name="TextBox 13"/>
          <p:cNvSpPr txBox="1"/>
          <p:nvPr/>
        </p:nvSpPr>
        <p:spPr>
          <a:xfrm>
            <a:off x="731520" y="5065776"/>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04</a:t>
            </a:r>
          </a:p>
        </p:txBody>
      </p:sp>
      <p:sp>
        <p:nvSpPr>
          <p:cNvPr id="15" name="TextBox 14"/>
          <p:cNvSpPr txBox="1"/>
          <p:nvPr/>
        </p:nvSpPr>
        <p:spPr>
          <a:xfrm>
            <a:off x="1325880" y="5065776"/>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Первый год = подтверждённые эффекты − старт − сопровождение</a:t>
            </a:r>
          </a:p>
        </p:txBody>
      </p:sp>
    </p:spTree>
  </p:cSld>
  <p:clrMapOvr>
    <a:masterClrMapping/>
  </p:clrMapOvr>
  <p:transition spd="slow"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МАТЕРИАЛЫ ДЛЯ ВОПРОСОВ</a:t>
            </a:r>
          </a:p>
        </p:txBody>
      </p:sp>
      <p:sp>
        <p:nvSpPr>
          <p:cNvPr id="3"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4" name="TextBox 3"/>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27 / 29</a:t>
            </a:r>
          </a:p>
        </p:txBody>
      </p:sp>
      <p:sp>
        <p:nvSpPr>
          <p:cNvPr id="5" name="!!Progress"/>
          <p:cNvSpPr/>
          <p:nvPr/>
        </p:nvSpPr>
        <p:spPr>
          <a:xfrm>
            <a:off x="0" y="6821424"/>
            <a:ext cx="11350888"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27080" cy="1280160"/>
          </a:xfrm>
          <a:prstGeom prst="rect">
            <a:avLst/>
          </a:prstGeom>
          <a:noFill/>
        </p:spPr>
        <p:txBody>
          <a:bodyPr wrap="square" lIns="0" rIns="0" tIns="0" bIns="0">
            <a:spAutoFit/>
          </a:bodyPr>
          <a:lstStyle/>
          <a:p>
            <a:pPr>
              <a:spcAft>
                <a:spcPts val="300"/>
              </a:spcAft>
              <a:defRPr sz="3900" b="1">
                <a:solidFill>
                  <a:srgbClr val="F6F7FB"/>
                </a:solidFill>
                <a:latin typeface="Arial"/>
              </a:defRPr>
            </a:pPr>
            <a:r>
              <a:t>Резерв · Реестр</a:t>
            </a:r>
          </a:p>
          <a:p>
            <a:pPr>
              <a:spcAft>
                <a:spcPts val="300"/>
              </a:spcAft>
              <a:defRPr sz="3900" b="1">
                <a:solidFill>
                  <a:srgbClr val="F6F7FB"/>
                </a:solidFill>
                <a:latin typeface="Arial"/>
              </a:defRPr>
            </a:pPr>
            <a:r>
              <a:t>источников.</a:t>
            </a:r>
          </a:p>
        </p:txBody>
      </p:sp>
      <p:sp>
        <p:nvSpPr>
          <p:cNvPr id="7" name="TextBox 6"/>
          <p:cNvSpPr txBox="1"/>
          <p:nvPr/>
        </p:nvSpPr>
        <p:spPr>
          <a:xfrm>
            <a:off x="676656" y="2331720"/>
            <a:ext cx="10881360" cy="685800"/>
          </a:xfrm>
          <a:prstGeom prst="rect">
            <a:avLst/>
          </a:prstGeom>
          <a:noFill/>
        </p:spPr>
        <p:txBody>
          <a:bodyPr wrap="square" lIns="0" rIns="0" tIns="0" bIns="0">
            <a:spAutoFit/>
          </a:bodyPr>
          <a:lstStyle/>
          <a:p>
            <a:pPr>
              <a:spcAft>
                <a:spcPts val="300"/>
              </a:spcAft>
              <a:defRPr sz="2000" b="0">
                <a:solidFill>
                  <a:srgbClr val="A1AFC2"/>
                </a:solidFill>
                <a:latin typeface="Arial"/>
              </a:defRPr>
            </a:pPr>
            <a:r>
              <a:t>Два документальных направления имеют разные статусы подтверждения.</a:t>
            </a:r>
          </a:p>
        </p:txBody>
      </p:sp>
      <p:sp>
        <p:nvSpPr>
          <p:cNvPr id="8" name="TextBox 7"/>
          <p:cNvSpPr txBox="1"/>
          <p:nvPr/>
        </p:nvSpPr>
        <p:spPr>
          <a:xfrm>
            <a:off x="731520" y="3200400"/>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01</a:t>
            </a:r>
          </a:p>
        </p:txBody>
      </p:sp>
      <p:sp>
        <p:nvSpPr>
          <p:cNvPr id="9" name="TextBox 8"/>
          <p:cNvSpPr txBox="1"/>
          <p:nvPr/>
        </p:nvSpPr>
        <p:spPr>
          <a:xfrm>
            <a:off x="1325880" y="3200400"/>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ВНР: № П1-01.05 ТИ-0009 ЮЛ-099, версия 7; распоряжение 16.10.2025 № 2345</a:t>
            </a:r>
          </a:p>
        </p:txBody>
      </p:sp>
      <p:sp>
        <p:nvSpPr>
          <p:cNvPr id="10" name="TextBox 9"/>
          <p:cNvSpPr txBox="1"/>
          <p:nvPr/>
        </p:nvSpPr>
        <p:spPr>
          <a:xfrm>
            <a:off x="731520" y="3822191"/>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02</a:t>
            </a:r>
          </a:p>
        </p:txBody>
      </p:sp>
      <p:sp>
        <p:nvSpPr>
          <p:cNvPr id="11" name="TextBox 10"/>
          <p:cNvSpPr txBox="1"/>
          <p:nvPr/>
        </p:nvSpPr>
        <p:spPr>
          <a:xfrm>
            <a:off x="1325880" y="3822191"/>
            <a:ext cx="9921240" cy="594360"/>
          </a:xfrm>
          <a:prstGeom prst="rect">
            <a:avLst/>
          </a:prstGeom>
          <a:noFill/>
        </p:spPr>
        <p:txBody>
          <a:bodyPr wrap="square" lIns="0" rIns="0" tIns="0" bIns="0">
            <a:spAutoFit/>
          </a:bodyPr>
          <a:lstStyle/>
          <a:p>
            <a:pPr>
              <a:spcAft>
                <a:spcPts val="300"/>
              </a:spcAft>
              <a:defRPr sz="1800" b="0">
                <a:solidFill>
                  <a:srgbClr val="F6F7FB"/>
                </a:solidFill>
                <a:latin typeface="Arial"/>
              </a:defRPr>
            </a:pPr>
            <a:r>
              <a:t>«Инструкции по промышленной безопасности и охране труда для работников структурных подразделений ООО „РН-Юганскнефтегаз“»</a:t>
            </a:r>
          </a:p>
        </p:txBody>
      </p:sp>
      <p:sp>
        <p:nvSpPr>
          <p:cNvPr id="12" name="TextBox 11"/>
          <p:cNvSpPr txBox="1"/>
          <p:nvPr/>
        </p:nvSpPr>
        <p:spPr>
          <a:xfrm>
            <a:off x="731520" y="4443984"/>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03</a:t>
            </a:r>
          </a:p>
        </p:txBody>
      </p:sp>
      <p:sp>
        <p:nvSpPr>
          <p:cNvPr id="13" name="TextBox 12"/>
          <p:cNvSpPr txBox="1"/>
          <p:nvPr/>
        </p:nvSpPr>
        <p:spPr>
          <a:xfrm>
            <a:off x="1325880" y="4443984"/>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Пять томов — со слов автора; номера, даты редакций и привязку к функциям нужно сверить</a:t>
            </a:r>
          </a:p>
        </p:txBody>
      </p:sp>
      <p:sp>
        <p:nvSpPr>
          <p:cNvPr id="14" name="TextBox 13"/>
          <p:cNvSpPr txBox="1"/>
          <p:nvPr/>
        </p:nvSpPr>
        <p:spPr>
          <a:xfrm>
            <a:off x="731520" y="5065776"/>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04</a:t>
            </a:r>
          </a:p>
        </p:txBody>
      </p:sp>
      <p:sp>
        <p:nvSpPr>
          <p:cNvPr id="15" name="TextBox 14"/>
          <p:cNvSpPr txBox="1"/>
          <p:nvPr/>
        </p:nvSpPr>
        <p:spPr>
          <a:xfrm>
            <a:off x="1325880" y="5065776"/>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Android: исходные формулы, база ПЭД, таблицы и фотографии станций</a:t>
            </a:r>
          </a:p>
        </p:txBody>
      </p:sp>
    </p:spTree>
  </p:cSld>
  <p:clrMapOvr>
    <a:masterClrMapping/>
  </p:clrMapOvr>
  <p:transition spd="slow"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МАТЕРИАЛЫ ДЛЯ ВОПРОСОВ</a:t>
            </a:r>
          </a:p>
        </p:txBody>
      </p:sp>
      <p:sp>
        <p:nvSpPr>
          <p:cNvPr id="3"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4" name="TextBox 3"/>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28 / 29</a:t>
            </a:r>
          </a:p>
        </p:txBody>
      </p:sp>
      <p:sp>
        <p:nvSpPr>
          <p:cNvPr id="5" name="!!Progress"/>
          <p:cNvSpPr/>
          <p:nvPr/>
        </p:nvSpPr>
        <p:spPr>
          <a:xfrm>
            <a:off x="0" y="6821424"/>
            <a:ext cx="11771291"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27080" cy="1280160"/>
          </a:xfrm>
          <a:prstGeom prst="rect">
            <a:avLst/>
          </a:prstGeom>
          <a:noFill/>
        </p:spPr>
        <p:txBody>
          <a:bodyPr wrap="square" lIns="0" rIns="0" tIns="0" bIns="0">
            <a:spAutoFit/>
          </a:bodyPr>
          <a:lstStyle/>
          <a:p>
            <a:pPr>
              <a:spcAft>
                <a:spcPts val="300"/>
              </a:spcAft>
              <a:defRPr sz="3900" b="1">
                <a:solidFill>
                  <a:srgbClr val="F6F7FB"/>
                </a:solidFill>
                <a:latin typeface="Arial"/>
              </a:defRPr>
            </a:pPr>
            <a:r>
              <a:t>Резерв · Дополнительные</a:t>
            </a:r>
          </a:p>
          <a:p>
            <a:pPr>
              <a:spcAft>
                <a:spcPts val="300"/>
              </a:spcAft>
              <a:defRPr sz="3900" b="1">
                <a:solidFill>
                  <a:srgbClr val="F6F7FB"/>
                </a:solidFill>
                <a:latin typeface="Arial"/>
              </a:defRPr>
            </a:pPr>
            <a:r>
              <a:t>учебные материалы.</a:t>
            </a:r>
          </a:p>
        </p:txBody>
      </p:sp>
      <p:sp>
        <p:nvSpPr>
          <p:cNvPr id="7" name="TextBox 6"/>
          <p:cNvSpPr txBox="1"/>
          <p:nvPr/>
        </p:nvSpPr>
        <p:spPr>
          <a:xfrm>
            <a:off x="676656" y="2331720"/>
            <a:ext cx="10881360" cy="685800"/>
          </a:xfrm>
          <a:prstGeom prst="rect">
            <a:avLst/>
          </a:prstGeom>
          <a:noFill/>
        </p:spPr>
        <p:txBody>
          <a:bodyPr wrap="square" lIns="0" rIns="0" tIns="0" bIns="0">
            <a:spAutoFit/>
          </a:bodyPr>
          <a:lstStyle/>
          <a:p>
            <a:pPr>
              <a:spcAft>
                <a:spcPts val="300"/>
              </a:spcAft>
              <a:defRPr sz="2000" b="0">
                <a:solidFill>
                  <a:srgbClr val="A1AFC2"/>
                </a:solidFill>
                <a:latin typeface="Arial"/>
              </a:defRPr>
            </a:pPr>
            <a:r>
              <a:t>Использованы для обоснования контекста, а не для заявления новых функций приложения.</a:t>
            </a:r>
          </a:p>
        </p:txBody>
      </p:sp>
      <p:sp>
        <p:nvSpPr>
          <p:cNvPr id="8" name="TextBox 7"/>
          <p:cNvSpPr txBox="1"/>
          <p:nvPr/>
        </p:nvSpPr>
        <p:spPr>
          <a:xfrm>
            <a:off x="731520" y="3200400"/>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01</a:t>
            </a:r>
          </a:p>
        </p:txBody>
      </p:sp>
      <p:sp>
        <p:nvSpPr>
          <p:cNvPr id="9" name="TextBox 8"/>
          <p:cNvSpPr txBox="1"/>
          <p:nvPr/>
        </p:nvSpPr>
        <p:spPr>
          <a:xfrm>
            <a:off x="1325880" y="3200400"/>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«Подбор УЭЦН к скважине»: 44 страницы; сбор данных, фактический режим, охлаждение и износ</a:t>
            </a:r>
          </a:p>
        </p:txBody>
      </p:sp>
      <p:sp>
        <p:nvSpPr>
          <p:cNvPr id="10" name="TextBox 9"/>
          <p:cNvSpPr txBox="1"/>
          <p:nvPr/>
        </p:nvSpPr>
        <p:spPr>
          <a:xfrm>
            <a:off x="731520" y="3822191"/>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02</a:t>
            </a:r>
          </a:p>
        </p:txBody>
      </p:sp>
      <p:sp>
        <p:nvSpPr>
          <p:cNvPr id="11" name="TextBox 10"/>
          <p:cNvSpPr txBox="1"/>
          <p:nvPr/>
        </p:nvSpPr>
        <p:spPr>
          <a:xfrm>
            <a:off x="1325880" y="3822191"/>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«Алгоритм подбора УЭЦН в ПО RosPump»: 23 страницы; пример подбора в специализированной системе, 2021 г.</a:t>
            </a:r>
          </a:p>
        </p:txBody>
      </p:sp>
      <p:sp>
        <p:nvSpPr>
          <p:cNvPr id="12" name="TextBox 11"/>
          <p:cNvSpPr txBox="1"/>
          <p:nvPr/>
        </p:nvSpPr>
        <p:spPr>
          <a:xfrm>
            <a:off x="731520" y="4443984"/>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03</a:t>
            </a:r>
          </a:p>
        </p:txBody>
      </p:sp>
      <p:sp>
        <p:nvSpPr>
          <p:cNvPr id="13" name="TextBox 12"/>
          <p:cNvSpPr txBox="1"/>
          <p:nvPr/>
        </p:nvSpPr>
        <p:spPr>
          <a:xfrm>
            <a:off x="1325880" y="4443984"/>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«Модуль Качество данных»: 50 страниц; влияние ошибок параметров и сопоставления, май 2022 г.</a:t>
            </a:r>
          </a:p>
        </p:txBody>
      </p:sp>
      <p:sp>
        <p:nvSpPr>
          <p:cNvPr id="14" name="TextBox 13"/>
          <p:cNvSpPr txBox="1"/>
          <p:nvPr/>
        </p:nvSpPr>
        <p:spPr>
          <a:xfrm>
            <a:off x="731520" y="5065776"/>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04</a:t>
            </a:r>
          </a:p>
        </p:txBody>
      </p:sp>
      <p:sp>
        <p:nvSpPr>
          <p:cNvPr id="15" name="TextBox 14"/>
          <p:cNvSpPr txBox="1"/>
          <p:nvPr/>
        </p:nvSpPr>
        <p:spPr>
          <a:xfrm>
            <a:off x="1325880" y="5065776"/>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Видео «Смена УЭЦН» и «Регламентные отчёты»: не изучены — превышен лимит передачи 32 МиБ</a:t>
            </a:r>
          </a:p>
        </p:txBody>
      </p:sp>
      <p:sp>
        <p:nvSpPr>
          <p:cNvPr id="16" name="TextBox 15"/>
          <p:cNvSpPr txBox="1"/>
          <p:nvPr/>
        </p:nvSpPr>
        <p:spPr>
          <a:xfrm>
            <a:off x="658368" y="6062472"/>
            <a:ext cx="10835640" cy="246888"/>
          </a:xfrm>
          <a:prstGeom prst="rect">
            <a:avLst/>
          </a:prstGeom>
          <a:noFill/>
        </p:spPr>
        <p:txBody>
          <a:bodyPr wrap="square" lIns="0" rIns="0" tIns="0" bIns="0">
            <a:spAutoFit/>
          </a:bodyPr>
          <a:lstStyle/>
          <a:p>
            <a:pPr>
              <a:spcAft>
                <a:spcPts val="300"/>
              </a:spcAft>
              <a:defRPr sz="900" b="0">
                <a:solidFill>
                  <a:srgbClr val="A1AFC2"/>
                </a:solidFill>
                <a:latin typeface="Arial"/>
              </a:defRPr>
            </a:pPr>
            <a:r>
              <a:t>Предоставленные пользователем материалы; номера страниц — по порядку PDF</a:t>
            </a:r>
          </a:p>
        </p:txBody>
      </p:sp>
    </p:spTree>
  </p:cSld>
  <p:clrMapOvr>
    <a:masterClrMapping/>
  </p:clrMapOvr>
  <p:transition spd="slow"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0C13"/>
        </a:solidFill>
        <a:effectLst/>
      </p:bgPr>
    </p:bg>
    <p:spTree>
      <p:nvGrpSpPr>
        <p:cNvPr id="1" name=""/>
        <p:cNvGrpSpPr/>
        <p:nvPr/>
      </p:nvGrpSpPr>
      <p:grpSpPr/>
      <p:sp>
        <p:nvSpPr>
          <p:cNvPr id="2" name="!!Eyebrow"/>
          <p:cNvSpPr txBox="1"/>
          <p:nvPr/>
        </p:nvSpPr>
        <p:spPr>
          <a:xfrm>
            <a:off x="548640" y="256032"/>
            <a:ext cx="10881360" cy="219456"/>
          </a:xfrm>
          <a:prstGeom prst="rect">
            <a:avLst/>
          </a:prstGeom>
          <a:noFill/>
        </p:spPr>
        <p:txBody>
          <a:bodyPr wrap="square" lIns="0" rIns="0" tIns="0" bIns="0">
            <a:spAutoFit/>
          </a:bodyPr>
          <a:lstStyle/>
          <a:p>
            <a:pPr>
              <a:spcAft>
                <a:spcPts val="300"/>
              </a:spcAft>
              <a:defRPr sz="1000" b="1">
                <a:solidFill>
                  <a:srgbClr val="FFCC38"/>
                </a:solidFill>
                <a:latin typeface="Arial"/>
              </a:defRPr>
            </a:pPr>
            <a:r>
              <a:t>САНЫЧ-6  /  МАТЕРИАЛЫ ДЛЯ ВОПРОСОВ</a:t>
            </a:r>
          </a:p>
        </p:txBody>
      </p:sp>
      <p:sp>
        <p:nvSpPr>
          <p:cNvPr id="3" name="!!Footer"/>
          <p:cNvSpPr txBox="1"/>
          <p:nvPr/>
        </p:nvSpPr>
        <p:spPr>
          <a:xfrm>
            <a:off x="548640" y="6437376"/>
            <a:ext cx="10607040" cy="219456"/>
          </a:xfrm>
          <a:prstGeom prst="rect">
            <a:avLst/>
          </a:prstGeom>
          <a:noFill/>
        </p:spPr>
        <p:txBody>
          <a:bodyPr wrap="square" lIns="0" rIns="0" tIns="0" bIns="0">
            <a:spAutoFit/>
          </a:bodyPr>
          <a:lstStyle/>
          <a:p>
            <a:pPr>
              <a:spcAft>
                <a:spcPts val="300"/>
              </a:spcAft>
              <a:defRPr sz="900" b="0">
                <a:solidFill>
                  <a:srgbClr val="A1AFC2"/>
                </a:solidFill>
                <a:latin typeface="Arial"/>
              </a:defRPr>
            </a:pPr>
            <a:r>
              <a:t>ООО «РН-Юганскнефтегаз» · проект для обсуждения</a:t>
            </a:r>
          </a:p>
        </p:txBody>
      </p:sp>
      <p:sp>
        <p:nvSpPr>
          <p:cNvPr id="4" name="TextBox 3"/>
          <p:cNvSpPr txBox="1"/>
          <p:nvPr/>
        </p:nvSpPr>
        <p:spPr>
          <a:xfrm>
            <a:off x="10972800" y="6437376"/>
            <a:ext cx="731520" cy="219456"/>
          </a:xfrm>
          <a:prstGeom prst="rect">
            <a:avLst/>
          </a:prstGeom>
          <a:noFill/>
        </p:spPr>
        <p:txBody>
          <a:bodyPr wrap="square" lIns="0" rIns="0" tIns="0" bIns="0">
            <a:spAutoFit/>
          </a:bodyPr>
          <a:lstStyle/>
          <a:p>
            <a:pPr>
              <a:spcAft>
                <a:spcPts val="300"/>
              </a:spcAft>
              <a:defRPr sz="900" b="0">
                <a:solidFill>
                  <a:srgbClr val="FFCC38"/>
                </a:solidFill>
                <a:latin typeface="Arial"/>
              </a:defRPr>
            </a:pPr>
            <a:r>
              <a:t>29 / 29</a:t>
            </a:r>
          </a:p>
        </p:txBody>
      </p:sp>
      <p:sp>
        <p:nvSpPr>
          <p:cNvPr id="5" name="!!Progress"/>
          <p:cNvSpPr/>
          <p:nvPr/>
        </p:nvSpPr>
        <p:spPr>
          <a:xfrm>
            <a:off x="0" y="6821424"/>
            <a:ext cx="12191695" cy="36576"/>
          </a:xfrm>
          <a:prstGeom prst="rect">
            <a:avLst/>
          </a:prstGeom>
          <a:solidFill>
            <a:srgbClr val="FFCC38">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27080" cy="1280160"/>
          </a:xfrm>
          <a:prstGeom prst="rect">
            <a:avLst/>
          </a:prstGeom>
          <a:noFill/>
        </p:spPr>
        <p:txBody>
          <a:bodyPr wrap="square" lIns="0" rIns="0" tIns="0" bIns="0">
            <a:spAutoFit/>
          </a:bodyPr>
          <a:lstStyle/>
          <a:p>
            <a:pPr>
              <a:spcAft>
                <a:spcPts val="300"/>
              </a:spcAft>
              <a:defRPr sz="3900" b="1">
                <a:solidFill>
                  <a:srgbClr val="F6F7FB"/>
                </a:solidFill>
                <a:latin typeface="Arial"/>
              </a:defRPr>
            </a:pPr>
            <a:r>
              <a:t>Резерв · Границы</a:t>
            </a:r>
          </a:p>
          <a:p>
            <a:pPr>
              <a:spcAft>
                <a:spcPts val="300"/>
              </a:spcAft>
              <a:defRPr sz="3900" b="1">
                <a:solidFill>
                  <a:srgbClr val="F6F7FB"/>
                </a:solidFill>
                <a:latin typeface="Arial"/>
              </a:defRPr>
            </a:pPr>
            <a:r>
              <a:t>текущей версии.</a:t>
            </a:r>
          </a:p>
        </p:txBody>
      </p:sp>
      <p:sp>
        <p:nvSpPr>
          <p:cNvPr id="7" name="TextBox 6"/>
          <p:cNvSpPr txBox="1"/>
          <p:nvPr/>
        </p:nvSpPr>
        <p:spPr>
          <a:xfrm>
            <a:off x="676656" y="2331720"/>
            <a:ext cx="10881360" cy="685800"/>
          </a:xfrm>
          <a:prstGeom prst="rect">
            <a:avLst/>
          </a:prstGeom>
          <a:noFill/>
        </p:spPr>
        <p:txBody>
          <a:bodyPr wrap="square" lIns="0" rIns="0" tIns="0" bIns="0">
            <a:spAutoFit/>
          </a:bodyPr>
          <a:lstStyle/>
          <a:p>
            <a:pPr>
              <a:spcAft>
                <a:spcPts val="300"/>
              </a:spcAft>
              <a:defRPr sz="2000" b="0">
                <a:solidFill>
                  <a:srgbClr val="A1AFC2"/>
                </a:solidFill>
                <a:latin typeface="Arial"/>
              </a:defRPr>
            </a:pPr>
            <a:r>
              <a:t>Открытые вопросы включаются в план пилота и сопровождения.</a:t>
            </a:r>
          </a:p>
        </p:txBody>
      </p:sp>
      <p:sp>
        <p:nvSpPr>
          <p:cNvPr id="8" name="TextBox 7"/>
          <p:cNvSpPr txBox="1"/>
          <p:nvPr/>
        </p:nvSpPr>
        <p:spPr>
          <a:xfrm>
            <a:off x="731520" y="3200400"/>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01</a:t>
            </a:r>
          </a:p>
        </p:txBody>
      </p:sp>
      <p:sp>
        <p:nvSpPr>
          <p:cNvPr id="9" name="TextBox 8"/>
          <p:cNvSpPr txBox="1"/>
          <p:nvPr/>
        </p:nvSpPr>
        <p:spPr>
          <a:xfrm>
            <a:off x="1325880" y="3200400"/>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Нет управления станцией и автоматической блокировки ошибочных уставок</a:t>
            </a:r>
          </a:p>
        </p:txBody>
      </p:sp>
      <p:sp>
        <p:nvSpPr>
          <p:cNvPr id="10" name="TextBox 9"/>
          <p:cNvSpPr txBox="1"/>
          <p:nvPr/>
        </p:nvSpPr>
        <p:spPr>
          <a:xfrm>
            <a:off x="731520" y="3822191"/>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02</a:t>
            </a:r>
          </a:p>
        </p:txBody>
      </p:sp>
      <p:sp>
        <p:nvSpPr>
          <p:cNvPr id="11" name="TextBox 10"/>
          <p:cNvSpPr txBox="1"/>
          <p:nvPr/>
        </p:nvSpPr>
        <p:spPr>
          <a:xfrm>
            <a:off x="1325880" y="3822191"/>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История и закладки локальные; общего корпоративного журнала нет</a:t>
            </a:r>
          </a:p>
        </p:txBody>
      </p:sp>
      <p:sp>
        <p:nvSpPr>
          <p:cNvPr id="12" name="TextBox 11"/>
          <p:cNvSpPr txBox="1"/>
          <p:nvPr/>
        </p:nvSpPr>
        <p:spPr>
          <a:xfrm>
            <a:off x="731520" y="4443984"/>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03</a:t>
            </a:r>
          </a:p>
        </p:txBody>
      </p:sp>
      <p:sp>
        <p:nvSpPr>
          <p:cNvPr id="13" name="TextBox 12"/>
          <p:cNvSpPr txBox="1"/>
          <p:nvPr/>
        </p:nvSpPr>
        <p:spPr>
          <a:xfrm>
            <a:off x="1325880" y="4443984"/>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Реальный iPhone/Safari требуют проверки; Android APK с закладками не собран</a:t>
            </a:r>
          </a:p>
        </p:txBody>
      </p:sp>
      <p:sp>
        <p:nvSpPr>
          <p:cNvPr id="14" name="TextBox 13"/>
          <p:cNvSpPr txBox="1"/>
          <p:nvPr/>
        </p:nvSpPr>
        <p:spPr>
          <a:xfrm>
            <a:off x="731520" y="5065776"/>
            <a:ext cx="457200" cy="365760"/>
          </a:xfrm>
          <a:prstGeom prst="rect">
            <a:avLst/>
          </a:prstGeom>
          <a:noFill/>
        </p:spPr>
        <p:txBody>
          <a:bodyPr wrap="square" lIns="0" rIns="0" tIns="0" bIns="0">
            <a:spAutoFit/>
          </a:bodyPr>
          <a:lstStyle/>
          <a:p>
            <a:pPr>
              <a:spcAft>
                <a:spcPts val="300"/>
              </a:spcAft>
              <a:defRPr sz="1500" b="1">
                <a:solidFill>
                  <a:srgbClr val="FFCC38"/>
                </a:solidFill>
                <a:latin typeface="Arial"/>
              </a:defRPr>
            </a:pPr>
            <a:r>
              <a:t>04</a:t>
            </a:r>
          </a:p>
        </p:txBody>
      </p:sp>
      <p:sp>
        <p:nvSpPr>
          <p:cNvPr id="15" name="TextBox 14"/>
          <p:cNvSpPr txBox="1"/>
          <p:nvPr/>
        </p:nvSpPr>
        <p:spPr>
          <a:xfrm>
            <a:off x="1325880" y="5065776"/>
            <a:ext cx="9921240" cy="594360"/>
          </a:xfrm>
          <a:prstGeom prst="rect">
            <a:avLst/>
          </a:prstGeom>
          <a:noFill/>
        </p:spPr>
        <p:txBody>
          <a:bodyPr wrap="square" lIns="0" rIns="0" tIns="0" bIns="0">
            <a:spAutoFit/>
          </a:bodyPr>
          <a:lstStyle/>
          <a:p>
            <a:pPr>
              <a:spcAft>
                <a:spcPts val="300"/>
              </a:spcAft>
              <a:defRPr sz="2000" b="0">
                <a:solidFill>
                  <a:srgbClr val="F6F7FB"/>
                </a:solidFill>
                <a:latin typeface="Arial"/>
              </a:defRPr>
            </a:pPr>
            <a:r>
              <a:t>Нужны проверка материалов, редакций документов и корпоративного размещения</a:t>
            </a:r>
          </a:p>
        </p:txBody>
      </p:sp>
    </p:spTree>
  </p:cSld>
  <p:clrMapOvr>
    <a:masterClrMapping/>
  </p:clrMapOvr>
  <p:transition spd="slow"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