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6" r:id="rId2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3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начале — только название «ОПЕРАТОР ДНГ», затем пролёт сквозь букву. Пояснение о кроссплатформенном приложении для Android и iOS, работников Общества и подрядных организаций появляется после раскрытия промысла. Ролик встроен в PPTX. Реальное воспроизведение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повторяет финальный кадр встроенного вступления. Переход отключён, повторного появления названия нет. Далее — представление автора. Внешний вид стыка в Microsoft PowerPoint требует проверки на компьютере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сформулированы автором проекта. Минимизация риска — цель, а не доказанная гарантия предотвращения отказов оборудования. Тёплое цветное изображение промысла создано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Обзор рабочих примеров. Карточки служат только иллюстрациями и не содержат гиперссылок. Продолжайте показ последовательно.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Кроме секундомера, время замера можно задать интервалом: указать даты и время начала и окончания. Программа вычисляет длительность. На экране показан учебный пример 1000 л за 12 часов, результат 2 м³/сут. Сохраняется история на устройстве.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Разгон: расчёт темпа и шагов для конкретной станции управления. РИЧ: последовательность действий и фотографии. Приток: оценка требуемого охлаждения. Примеры показывают возможные риски; приложение не управляет станцией и не гарантирует отсутствие отказов. Иллюстрация промысла создана ИИ.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Документальная основа, по сведениям автора: регламент ВНР и «Инструкции по промышленной безопасности и охране труда для работников структурных подразделений ООО „РН-Юганскнефтегаз“». Документы использованы при подготовке формул, примеров и справочных материалов. Полнота интеграции всех пяти томов, актуальность редакций и право корпоративного распространения здесь не подтверждаются. Android как технический источник миграции больше не вынесен на слайд.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автора: три календарных месяца; прямые денежные расходы минимальны; основной ресурс — время. Десятки часов с документальной базой, сотни часов архитектуры, недели тестирования — сведения автора, не независимый хронометраж. Изображение рабочего места создано ИИ, это не фотография фактического рабочего места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проекта, не подтверждённое число действующих пользователей. В аудиторию входят не только операторы ДНГ, но и технологи, электромонтёры и другие специалисты. Условная композиция из 250 силуэтов сохранена без поясняющей подписи. Фон — созданная ИИ цветная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автора: официально связать проект с Обществом и выпустить следующее обновление от имени ООО «РН-Юганскнефтегаз». Для этого запрашивается официальный документ с подписью уполномоченного лица и печатью, если предусмотрена порядком компании. Полномочия на логотип и материалы должны быть согласованы отдельно; разрешение ещё не получено. На слайде не заявлено уже существующее корпоративное одобрение.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Готов ответить на вопросы о проекте «Оператор ДНГ».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  <a:p>
            <a:r>
              <a:t>Фоновая фотографическая иллюстрация создана ИИ; это оформление, не техническая схема и не документальная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4.jpg"/><Relationship Id="rId5" Type="http://schemas.openxmlformats.org/officeDocument/2006/relationships/video" Target="../media/media1.mp4"/><Relationship Id="rId6" Type="http://schemas.microsoft.com/office/2007/relationships/media" Target="../media/media1.mp4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Relationship Id="rId6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Relationship Id="rId6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Relationship Id="rId7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Relationship Id="rId7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Relationship Id="rId5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Relationship Id="rId10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Relationship Id="rId5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mbeddedTitleOnlyIntro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ro_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PageIndex_3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AuthorHeading"/>
          <p:cNvSpPr txBox="1"/>
          <p:nvPr/>
        </p:nvSpPr>
        <p:spPr>
          <a:xfrm>
            <a:off x="723900" y="1619250"/>
            <a:ext cx="6286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АВТОР ПРОЕКТА</a:t>
            </a:r>
          </a:p>
        </p:txBody>
      </p:sp>
      <p:sp>
        <p:nvSpPr>
          <p:cNvPr id="12" name="AuthorName"/>
          <p:cNvSpPr txBox="1"/>
          <p:nvPr/>
        </p:nvSpPr>
        <p:spPr>
          <a:xfrm>
            <a:off x="762000" y="2886075"/>
            <a:ext cx="5810250" cy="10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13" name="AuthorRole"/>
          <p:cNvSpPr txBox="1"/>
          <p:nvPr/>
        </p:nvSpPr>
        <p:spPr>
          <a:xfrm>
            <a:off x="762000" y="4352925"/>
            <a:ext cx="58102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14" name="AuthorOrganization"/>
          <p:cNvSpPr txBox="1"/>
          <p:nvPr/>
        </p:nvSpPr>
        <p:spPr>
          <a:xfrm>
            <a:off x="762000" y="5429250"/>
            <a:ext cx="581025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WarmOilfieldIllustration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ЦЕЛИ ПРОЕКТА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PageIndex_4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685800" y="1476375"/>
            <a:ext cx="952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Цели проекта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42950" y="271462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1381125" y="271462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Упростить доступ работников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к расчётам и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материалам.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42950" y="395287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1381125" y="395287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Минимизировать риск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поломки УЭЦН.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742950" y="4953000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1381125" y="4953000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Способствовать развитию интереса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работников к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аспектам деятельности.</a:t>
            </a:r>
          </a:p>
        </p:txBody>
      </p:sp>
    </p:spTree>
  </p:cSld>
  <p:clrMapOvr>
    <a:masterClrMapping/>
  </p:clrMapOvr>
  <p:transition xmlns:ns1="http://schemas.microsoft.com/office/powerpoint/2010/main" advClick="1" ns1:dur="45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FullSlidePhoto_pad" descr="exec-98d24464-9737-4f17-871e-09abca4b79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PageIndex_5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FullSlidePhoto_cabine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0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/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/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/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/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/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/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/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/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/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/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/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/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PageIndex_6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FullSlidePhoto_pad" descr="exec-98d24464-9737-4f17-871e-09abca4b79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PageIndex_7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FullSlidePhoto_pad" descr="exec-98d24464-9737-4f17-871e-09abca4b79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0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PageIndex_8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  <p:sp>
        <p:nvSpPr>
          <p:cNvPr id="21" name="!!Headline"/>
          <p:cNvSpPr txBox="1"/>
          <p:nvPr/>
        </p:nvSpPr>
        <p:spPr>
          <a:xfrm>
            <a:off x="685800" y="1476375"/>
            <a:ext cx="6191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Время замера можно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задать интервалом.</a:t>
            </a:r>
          </a:p>
        </p:txBody>
      </p:sp>
      <p:sp>
        <p:nvSpPr>
          <p:cNvPr id="22" name="!!Subtitle"/>
          <p:cNvSpPr txBox="1"/>
          <p:nvPr/>
        </p:nvSpPr>
        <p:spPr>
          <a:xfrm>
            <a:off x="723900" y="3381375"/>
            <a:ext cx="6096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B7B7B7"/>
                </a:solidFill>
                <a:latin typeface="Arial"/>
              </a:defRPr>
            </a:pPr>
            <a:r>
              <a:t>Укажите начало и окончание.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B7B7B7"/>
                </a:solidFill>
                <a:latin typeface="Arial"/>
              </a:defRPr>
            </a:pPr>
            <a:r>
              <a:t>Приложение рассчитает длительность.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FullSlidePhoto_cabin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3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PageIndex_9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FullSlidePhoto_cabine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6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PageIndex_10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FullSlidePhoto_pad" descr="exec-98d24464-9737-4f17-871e-09abca4b79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6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PageIndex_11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FullSlidePhoto_documents" descr="exec-fa0e0697-f95c-4500-afb5-e2f2b5dab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8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PageIndex_12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FullSlidePhoto_pad" descr="exec-98d24464-9737-4f17-871e-09abca4b7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8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PageIndex_13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FullSlidePhoto_documents" descr="exec-fa0e0697-f95c-4500-afb5-e2f2b5dab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55000">
                <a:srgbClr val="000000">
                  <a:alpha val="62000"/>
                </a:srgbClr>
              </a:gs>
              <a:gs pos="100000">
                <a:srgbClr val="000000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PageIndex_14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FullSlidePhoto_pad" descr="exec-98d24464-9737-4f17-871e-09abca4b79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шагов</a:t>
            </a:r>
            <a:br/>
            <a:r>
              <a:t>для конкретной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PageIndex_15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FullSlidePhoto_documents" descr="exec-fa0e0697-f95c-4500-afb5-e2f2b5dab8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ДОКУМЕНТАЛЬНАЯ ОСНОВА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PageIndex_16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</a:t>
            </a:r>
          </a:p>
        </p:txBody>
      </p:sp>
      <p:sp>
        <p:nvSpPr>
          <p:cNvPr id="7" name="Block_6"/>
          <p:cNvSpPr/>
          <p:nvPr/>
        </p:nvSpPr>
        <p:spPr>
          <a:xfrm>
            <a:off x="74295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74295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Регламент ВНР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4295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Формулы и примеры расчётов.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Последовательность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при выводе скважины на режим.</a:t>
            </a:r>
          </a:p>
        </p:txBody>
      </p:sp>
      <p:sp>
        <p:nvSpPr>
          <p:cNvPr id="10" name="Block_9"/>
          <p:cNvSpPr/>
          <p:nvPr/>
        </p:nvSpPr>
        <p:spPr>
          <a:xfrm>
            <a:off x="636270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_10"/>
          <p:cNvSpPr txBox="1"/>
          <p:nvPr/>
        </p:nvSpPr>
        <p:spPr>
          <a:xfrm>
            <a:off x="636270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Инструкции по ПБ и ОТ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36270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Требования промышленной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безопасности и охраны труда.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Теоретические и справочные материалы.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WarmDevelopmentIllustration" descr="exec-9aa9ecd3-ed6c-43a8-a82d-e8e2f9a7734a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 ПРОГРАММЫ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PageIndex_17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723900" y="1476375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9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81050" y="2762250"/>
            <a:ext cx="6477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800100" y="3638550"/>
            <a:ext cx="576262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Основной ресурс — время.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45720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Десятки часов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3028950" y="46101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с документальной базой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51054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Сотни часов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3028950" y="51435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над архитектурой проекта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00100" y="56388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Недели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3028950" y="56769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тестирования продукта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63" name="WarmOilfieldIllustration" descr="exec-54ad350e-4ce2-4e75-a59e-d924ea106a67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1" name="PeopleContrast"/>
          <p:cNvSpPr/>
          <p:nvPr/>
        </p:nvSpPr>
        <p:spPr>
          <a:xfrm>
            <a:off x="6667500" y="1619250"/>
            <a:ext cx="4857750" cy="4333875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PageIndex_18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62" name="Text_259"/>
          <p:cNvSpPr txBox="1"/>
          <p:nvPr/>
        </p:nvSpPr>
        <p:spPr>
          <a:xfrm>
            <a:off x="800100" y="5219700"/>
            <a:ext cx="5810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 только операторы ДНГ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также технологи, электромонтёры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другие специалисты.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FullSlidePhoto_peop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PageIndex_19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Предложение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2000" y="2667000"/>
            <a:ext cx="1066800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Выпустить следующее обновление приложения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от имени ООО «РН-Юганскнефтегаз».</a:t>
            </a:r>
          </a:p>
        </p:txBody>
      </p:sp>
      <p:sp>
        <p:nvSpPr>
          <p:cNvPr id="8" name="Block_7"/>
          <p:cNvSpPr/>
          <p:nvPr/>
        </p:nvSpPr>
        <p:spPr>
          <a:xfrm>
            <a:off x="790575" y="4086225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781050" y="4448175"/>
            <a:ext cx="106203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CD00"/>
                </a:solidFill>
                <a:latin typeface="Arial"/>
              </a:defRPr>
            </a:pPr>
            <a:r>
              <a:t>Получить письменное разрешение уполномоченного руководства: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519112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выпуск от имени Общества и использование наименования.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00100" y="559117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использование логотипа «Роснефть» и согласованных материалов.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60483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Официальный документ: подпись уполномоченного лица, печать — по порядку компании.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PageIndex_20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0" name="ClosingThanks"/>
          <p:cNvSpPr txBox="1"/>
          <p:nvPr/>
        </p:nvSpPr>
        <p:spPr>
          <a:xfrm>
            <a:off x="723900" y="1952624"/>
            <a:ext cx="8953500" cy="2000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850" b="1">
                <a:solidFill>
                  <a:srgbClr val="FFFFFF"/>
                </a:solidFill>
                <a:latin typeface="Arial"/>
              </a:defRPr>
            </a:pPr>
            <a:r>
              <a:t>СПАСИБО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5850" b="1">
                <a:solidFill>
                  <a:srgbClr val="FFFFFF"/>
                </a:solidFill>
                <a:latin typeface="Arial"/>
              </a:defRPr>
            </a:pPr>
            <a:r>
              <a:t>ЗА ВНИМАНИЕ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FullSlidePhoto_pad" descr="exec-98d24464-9737-4f17-871e-09abca4b79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PhotoReadabilityGradient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65000"/>
                </a:srgbClr>
              </a:gs>
              <a:gs pos="100000">
                <a:srgbClr val="000000">
                  <a:alpha val="52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PageIndex_21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уточнение вступления и финала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