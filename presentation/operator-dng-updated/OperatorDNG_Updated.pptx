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76" r:id="rId2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4" r:id="rId26"/>
    <p:sldId id="275" r:id="rId27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3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начале — только название «ОПЕРАТОР ДНГ», затем пролёт сквозь букву. Пояснение о кроссплатформенном приложении для Android и iOS, работников Общества и подрядных организаций появляется после раскрытия промысла. Ролик встроен в PPTX. Реальное воспроизведение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повторяет финальный кадр встроенного вступления. Переход отключён, повторного появления названия нет. Далее — представление автора. Внешний вид стыка в Microsoft PowerPoint требует проверки на компьютере выступления.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 сформулированы автором проекта. Минимизация риска — цель, а не доказанная гарантия предотвращения отказов оборудования. Тёплое цветное изображение промысла создано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рабочих примеров. Карточки служат только иллюстрациями и не содержат гиперссылок. Продолжайте показ последовательно.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Кроме секундомера, время замера можно задать интервалом: указать даты и время начала и окончания. Программа вычисляет длительность. На экране показан учебный пример 1000 л за 12 часов, результат 2 м³/сут. Сохраняется история на устройстве.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Разгон: расчёт темпа и шагов для конкретной станции управления. РИЧ: последовательность действий и фотографии. Приток: оценка требуемого охлаждения. Примеры показывают возможные риски; приложение не управляет станцией и не гарантирует отсутствие отказов. Иллюстрация промысла создана ИИ.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Документальная основа, по сведениям автора: регламент ВНР и «Инструкции по промышленной безопасности и охране труда для работников структурных подразделений ООО „РН-Юганскнефтегаз“». Документы использованы при подготовке формул, примеров и справочных материалов. Полнота интеграции всех пяти томов, актуальность редакций и право корпоративного распространения здесь не подтверждаются. Android как технический источник миграции больше не вынесен на слайд.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Оценка автора: три календарных месяца; прямые денежные расходы минимальны; основной ресурс — время. Десятки часов с документальной базой, сотни часов архитектуры, дни тестирования — сведения автора, не независимый хронометраж. Изображение рабочего места создано ИИ, это не фотография фактического рабочего места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проекта, не подтверждённое число действующих пользователей. В аудиторию входят не только операторы ДНГ, но и технологи, электромонтёры и другие специалисты. Условная композиция из 250 силуэтов сохранена без поясняющей подписи. Фон — созданная ИИ цветная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Предложение автора: официально связать проект с Обществом и выпустить следующее обновление от имени ООО «РН-Юганскнефтегаз». Для этого запрашивается официальный документ с подписью уполномоченного лица и печатью, если предусмотрена порядком компании. Полномочия на логотип и материалы должны быть согласованы отдельно; разрешение ещё не получено. На слайде не заявлено уже существующее корпоративное одобрение.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 о проекте «Оператор ДНГ».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Якупов Муса Ильдарович. Оператор добычи нефти и газа. ООО «РН-Юганскнефтегаз», ЦДНГ-12. Портрет обработан ИИ по фотографиям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Проверены примеры новой редакции: 1000 л за 60 минут → 24 м³/сут; 1000 л за 12 часов → 2 м³/сут; 50×(16,2/20)²=32,805, отображается 32.8 м³/сут. Численные функции PWA не менялись ради презентации. Реальный iPhone и воспроизведение в Microsoft PowerPoint здесь не проверены.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34.jpg"/><Relationship Id="rId5" Type="http://schemas.openxmlformats.org/officeDocument/2006/relationships/video" Target="../media/media1.mp4"/><Relationship Id="rId6" Type="http://schemas.microsoft.com/office/2007/relationships/media" Target="../media/media1.mp4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5.png"/><Relationship Id="rId5" Type="http://schemas.openxmlformats.org/officeDocument/2006/relationships/image" Target="../media/image24.png"/><Relationship Id="rId6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slide" Target="slide6.xml"/><Relationship Id="rId5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Relationship Id="rId5" Type="http://schemas.openxmlformats.org/officeDocument/2006/relationships/slide" Target="slide6.xml"/><Relationship Id="rId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Relationship Id="rId5" Type="http://schemas.openxmlformats.org/officeDocument/2006/relationships/slide" Target="slide6.xml"/><Relationship Id="rId6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6.xml"/><Relationship Id="rId7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6.xml"/><Relationship Id="rId7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6.xml"/><Relationship Id="rId10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mbeddedTitleOnlyIntro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ro_Fin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AuthorPortrait" descr="author-portrait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!!Rule"/>
          <p:cNvSpPr/>
          <p:nvPr/>
        </p:nvSpPr>
        <p:spPr>
          <a:xfrm>
            <a:off x="666750" y="590550"/>
            <a:ext cx="5143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ПРОЕКТА</a:t>
            </a:r>
          </a:p>
        </p:txBody>
      </p:sp>
      <p:sp>
        <p:nvSpPr>
          <p:cNvPr id="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0" name="PageIndex_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AuthorHeading"/>
          <p:cNvSpPr txBox="1"/>
          <p:nvPr/>
        </p:nvSpPr>
        <p:spPr>
          <a:xfrm>
            <a:off x="723900" y="1619250"/>
            <a:ext cx="628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12" name="AuthorName"/>
          <p:cNvSpPr txBox="1"/>
          <p:nvPr/>
        </p:nvSpPr>
        <p:spPr>
          <a:xfrm>
            <a:off x="762000" y="2886075"/>
            <a:ext cx="5810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Якупов Муса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Ильдарович</a:t>
            </a:r>
          </a:p>
        </p:txBody>
      </p:sp>
      <p:sp>
        <p:nvSpPr>
          <p:cNvPr id="13" name="AuthorRole"/>
          <p:cNvSpPr txBox="1"/>
          <p:nvPr/>
        </p:nvSpPr>
        <p:spPr>
          <a:xfrm>
            <a:off x="762000" y="4352925"/>
            <a:ext cx="58102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Оператор добычи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нефти и газа</a:t>
            </a:r>
          </a:p>
        </p:txBody>
      </p:sp>
      <p:sp>
        <p:nvSpPr>
          <p:cNvPr id="14" name="AuthorOrganization"/>
          <p:cNvSpPr txBox="1"/>
          <p:nvPr/>
        </p:nvSpPr>
        <p:spPr>
          <a:xfrm>
            <a:off x="762000" y="5429250"/>
            <a:ext cx="5810250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ООО «РН-Юганскнефтегаз»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ЦДНГ-12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4" name="WarmOilfieldIllustration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ЦЕЛИ ПРОЕКТА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685800" y="1476375"/>
            <a:ext cx="952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Цели проекта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42950" y="271462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1381125" y="271462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Упростить доступ работников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к расчётам и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материалам.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42950" y="395287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1381125" y="395287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Минимизировать риск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поломки УЭЦН.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742950" y="4953000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1381125" y="4953000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Способствовать развитию интереса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работников к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аспектам деятельности.</a:t>
            </a:r>
          </a:p>
        </p:txBody>
      </p:sp>
    </p:spTree>
  </p:cSld>
  <p:clrMapOvr>
    <a:masterClrMapping/>
  </p:clrMapOvr>
  <p:transition xmlns:ns1="http://schemas.microsoft.com/office/powerpoint/2010/main" advClick="1" ns1:dur="4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3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75" b="1">
                <a:solidFill>
                  <a:srgbClr val="FFFFFF"/>
                </a:solidFill>
                <a:latin typeface="Arial"/>
              </a:defRPr>
            </a:pPr>
            <a:r>
              <a:t>Задачи проекта</a:t>
            </a:r>
          </a:p>
        </p:txBody>
      </p:sp>
      <p:sp>
        <p:nvSpPr>
          <p:cNvPr id="3" name="!!TaskNumber0"/>
          <p:cNvSpPr txBox="1"/>
          <p:nvPr/>
        </p:nvSpPr>
        <p:spPr>
          <a:xfrm>
            <a:off x="72390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askRule0"/>
          <p:cNvSpPr/>
          <p:nvPr/>
        </p:nvSpPr>
        <p:spPr>
          <a:xfrm>
            <a:off x="161925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TaskTitle0"/>
          <p:cNvSpPr txBox="1"/>
          <p:nvPr/>
        </p:nvSpPr>
        <p:spPr>
          <a:xfrm>
            <a:off x="1866899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6" name="TaskDescription0"/>
          <p:cNvSpPr txBox="1"/>
          <p:nvPr/>
        </p:nvSpPr>
        <p:spPr>
          <a:xfrm>
            <a:off x="1866899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собрать расчёты, инструкции и справочные материалы в одном приложении.</a:t>
            </a:r>
          </a:p>
        </p:txBody>
      </p:sp>
      <p:sp>
        <p:nvSpPr>
          <p:cNvPr id="7" name="!!TaskNumber1"/>
          <p:cNvSpPr txBox="1"/>
          <p:nvPr/>
        </p:nvSpPr>
        <p:spPr>
          <a:xfrm>
            <a:off x="634365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askRule1"/>
          <p:cNvSpPr/>
          <p:nvPr/>
        </p:nvSpPr>
        <p:spPr>
          <a:xfrm>
            <a:off x="723900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TaskTitle1"/>
          <p:cNvSpPr txBox="1"/>
          <p:nvPr/>
        </p:nvSpPr>
        <p:spPr>
          <a:xfrm>
            <a:off x="7486650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0" name="TaskDescription1"/>
          <p:cNvSpPr txBox="1"/>
          <p:nvPr/>
        </p:nvSpPr>
        <p:spPr>
          <a:xfrm>
            <a:off x="7486650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автоматизировать вычисления, отсчёт времени и сохранение результатов.</a:t>
            </a:r>
          </a:p>
        </p:txBody>
      </p:sp>
      <p:sp>
        <p:nvSpPr>
          <p:cNvPr id="11" name="!!TaskNumber2"/>
          <p:cNvSpPr txBox="1"/>
          <p:nvPr/>
        </p:nvSpPr>
        <p:spPr>
          <a:xfrm>
            <a:off x="72390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2" name="TaskRule2"/>
          <p:cNvSpPr/>
          <p:nvPr/>
        </p:nvSpPr>
        <p:spPr>
          <a:xfrm>
            <a:off x="161925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TaskTitle2"/>
          <p:cNvSpPr txBox="1"/>
          <p:nvPr/>
        </p:nvSpPr>
        <p:spPr>
          <a:xfrm>
            <a:off x="1866899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4" name="TaskDescription2"/>
          <p:cNvSpPr txBox="1"/>
          <p:nvPr/>
        </p:nvSpPr>
        <p:spPr>
          <a:xfrm>
            <a:off x="1866899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предоставить инструкции и фотографии для конкретных моделей станций управления.</a:t>
            </a:r>
          </a:p>
        </p:txBody>
      </p:sp>
      <p:sp>
        <p:nvSpPr>
          <p:cNvPr id="15" name="!!TaskNumber3"/>
          <p:cNvSpPr txBox="1"/>
          <p:nvPr/>
        </p:nvSpPr>
        <p:spPr>
          <a:xfrm>
            <a:off x="634365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askRule3"/>
          <p:cNvSpPr/>
          <p:nvPr/>
        </p:nvSpPr>
        <p:spPr>
          <a:xfrm>
            <a:off x="723900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TaskTitle3"/>
          <p:cNvSpPr txBox="1"/>
          <p:nvPr/>
        </p:nvSpPr>
        <p:spPr>
          <a:xfrm>
            <a:off x="7486650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18" name="TaskDescription3"/>
          <p:cNvSpPr txBox="1"/>
          <p:nvPr/>
        </p:nvSpPr>
        <p:spPr>
          <a:xfrm>
            <a:off x="7486650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реализовать поиск, закладки и работу предварительно загруженных материалов без интернета.</a:t>
            </a:r>
          </a:p>
        </p:txBody>
      </p:sp>
      <p:sp>
        <p:nvSpPr>
          <p:cNvPr id="19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1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2" name="PageIndex_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cabine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/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/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/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/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/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/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/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/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/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/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/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/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PageIndex_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1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2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pad" descr="exec-98d24464-9737-4f17-871e-09abca4b798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PageIndex_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  <p:sp>
        <p:nvSpPr>
          <p:cNvPr id="21" name="!!Headline"/>
          <p:cNvSpPr txBox="1"/>
          <p:nvPr/>
        </p:nvSpPr>
        <p:spPr>
          <a:xfrm>
            <a:off x="685800" y="1476375"/>
            <a:ext cx="6191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Время замера можно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задать интервалом.</a:t>
            </a:r>
          </a:p>
        </p:txBody>
      </p:sp>
      <p:sp>
        <p:nvSpPr>
          <p:cNvPr id="22" name="!!Subtitle"/>
          <p:cNvSpPr txBox="1"/>
          <p:nvPr/>
        </p:nvSpPr>
        <p:spPr>
          <a:xfrm>
            <a:off x="723900" y="3381375"/>
            <a:ext cx="6096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Укажите начало и окончание.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Приложение рассчитает длительность.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FullSlidePhoto_cabin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3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571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Задаём диаметр, мощность,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колонну и толщину стенки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2195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152900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Выбираем доступный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86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1967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Вводим токи — получаем приток</a:t>
            </a:r>
          </a:p>
        </p:txBody>
      </p:sp>
      <p:sp>
        <p:nvSpPr>
          <p:cNvPr id="9" name="ParameterFrame"/>
          <p:cNvSpPr/>
          <p:nvPr/>
        </p:nvSpPr>
        <p:spPr>
          <a:xfrm>
            <a:off x="6581775" y="1390650"/>
            <a:ext cx="233362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6715125" y="1533525"/>
            <a:ext cx="207645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01 · Параметры</a:t>
            </a:r>
          </a:p>
        </p:txBody>
      </p:sp>
      <p:pic>
        <p:nvPicPr>
          <p:cNvPr id="11" name="CoolingParameters" descr="ped-parameter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90321" y="2047875"/>
            <a:ext cx="1716531" cy="3714750"/>
          </a:xfrm>
          <a:prstGeom prst="rect">
            <a:avLst/>
          </a:prstGeom>
        </p:spPr>
      </p:pic>
      <p:sp>
        <p:nvSpPr>
          <p:cNvPr id="12" name="!!DemoWindow"/>
          <p:cNvSpPr/>
          <p:nvPr/>
        </p:nvSpPr>
        <p:spPr>
          <a:xfrm>
            <a:off x="9096375" y="1390650"/>
            <a:ext cx="242887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emoCaption"/>
          <p:cNvSpPr txBox="1"/>
          <p:nvPr/>
        </p:nvSpPr>
        <p:spPr>
          <a:xfrm>
            <a:off x="9239250" y="1533525"/>
            <a:ext cx="2143125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02 · Токи и результат</a:t>
            </a:r>
          </a:p>
        </p:txBody>
      </p:sp>
      <p:pic>
        <p:nvPicPr>
          <p:cNvPr id="14" name="!!DemoContent" descr="ped-exampl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229725" y="2657054"/>
            <a:ext cx="2162175" cy="1696291"/>
          </a:xfrm>
          <a:prstGeom prst="rect">
            <a:avLst/>
          </a:prstGeom>
        </p:spPr>
      </p:pic>
      <p:sp>
        <p:nvSpPr>
          <p:cNvPr id="15" name="CoolingResult"/>
          <p:cNvSpPr txBox="1"/>
          <p:nvPr/>
        </p:nvSpPr>
        <p:spPr>
          <a:xfrm>
            <a:off x="9267825" y="5048250"/>
            <a:ext cx="210502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781050" y="6048375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Параметры и токи в работе — по данным конкретного оборудования.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PageIndex_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1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cabine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pad" descr="exec-98d24464-9737-4f17-871e-09abca4b7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7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12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FullSlidePhoto_pad" descr="exec-98d24464-9737-4f17-871e-09abca4b7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PageIndex_1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PageIndex_1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1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шагов</a:t>
            </a:r>
            <a:br/>
            <a:r>
              <a:t>для конкретной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1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documents" descr="exec-fa0e0697-f95c-4500-afb5-e2f2b5dab8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ДОКУМЕНТАЛЬНАЯ ОСНОВА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</a:t>
            </a:r>
          </a:p>
        </p:txBody>
      </p:sp>
      <p:sp>
        <p:nvSpPr>
          <p:cNvPr id="7" name="Block_6"/>
          <p:cNvSpPr/>
          <p:nvPr/>
        </p:nvSpPr>
        <p:spPr>
          <a:xfrm>
            <a:off x="74295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74295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Регламент ВНР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4295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Формулы и примеры расчётов.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Последовательность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при выводе скважины на режим.</a:t>
            </a:r>
          </a:p>
        </p:txBody>
      </p:sp>
      <p:sp>
        <p:nvSpPr>
          <p:cNvPr id="10" name="Block_9"/>
          <p:cNvSpPr/>
          <p:nvPr/>
        </p:nvSpPr>
        <p:spPr>
          <a:xfrm>
            <a:off x="636270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_10"/>
          <p:cNvSpPr txBox="1"/>
          <p:nvPr/>
        </p:nvSpPr>
        <p:spPr>
          <a:xfrm>
            <a:off x="636270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Инструкции по ПБ и ОТ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636270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Требования промышленной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безопасности и охраны труда.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Теоретические и справочные материалы.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WarmDevelopmentIllustration" descr="exec-9aa9ecd3-ed6c-43a8-a82d-e8e2f9a7734a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 ПРОГРАММЫ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1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723900" y="1476375"/>
            <a:ext cx="6477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79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81050" y="2762250"/>
            <a:ext cx="6477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800100" y="3638550"/>
            <a:ext cx="576262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Прямые денежные расходы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Основной ресурс — время.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45720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Десятки часов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3028950" y="46101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с документальной базой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51054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Сотни часов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3028950" y="51435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над архитектурой проекта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00100" y="56388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Дни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3028950" y="56769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тестирования продукта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63" name="WarmOilfieldIllustration" descr="exec-54ad350e-4ce2-4e75-a59e-d924ea106a67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61" name="PeopleContrast"/>
          <p:cNvSpPr/>
          <p:nvPr/>
        </p:nvSpPr>
        <p:spPr>
          <a:xfrm>
            <a:off x="6667500" y="1619250"/>
            <a:ext cx="4857750" cy="4333875"/>
          </a:xfrm>
          <a:prstGeom prst="rect">
            <a:avLst/>
          </a:prstGeom>
          <a:solidFill>
            <a:srgbClr val="000000">
              <a:alpha val="6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PageIndex_1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1262" name="Text_259"/>
          <p:cNvSpPr txBox="1"/>
          <p:nvPr/>
        </p:nvSpPr>
        <p:spPr>
          <a:xfrm>
            <a:off x="800100" y="5219700"/>
            <a:ext cx="581025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 только операторы ДНГ —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также технологи, электромонтёры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другие специалисты.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Предложение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762000" y="2667000"/>
            <a:ext cx="1066800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Выпустить следующее обновление приложения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от имени ООО «РН-Юганскнефтегаз».</a:t>
            </a:r>
          </a:p>
        </p:txBody>
      </p:sp>
      <p:sp>
        <p:nvSpPr>
          <p:cNvPr id="8" name="Block_7"/>
          <p:cNvSpPr/>
          <p:nvPr/>
        </p:nvSpPr>
        <p:spPr>
          <a:xfrm>
            <a:off x="790575" y="4086225"/>
            <a:ext cx="1047749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781050" y="4448175"/>
            <a:ext cx="106203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CD00"/>
                </a:solidFill>
                <a:latin typeface="Arial"/>
              </a:defRPr>
            </a:pPr>
            <a:r>
              <a:t>Получить письменное разрешение уполномоченного руководства: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519112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выпуск от имени Общества и использование наименования.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00100" y="559117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использование логотипа «Роснефть» и согласованных материалов.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6048375"/>
            <a:ext cx="106680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Официальный документ: подпись уполномоченного лица, печать — по порядку компании.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PageIndex_2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0" name="ClosingThanks"/>
          <p:cNvSpPr txBox="1"/>
          <p:nvPr/>
        </p:nvSpPr>
        <p:spPr>
          <a:xfrm>
            <a:off x="723900" y="1952624"/>
            <a:ext cx="895350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СПАСИБО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ЗА ВНИМАНИЕ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76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Примеры расчётов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051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3850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60 мин → 24 м³/сут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3943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876674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12 часов → 2 м³/сут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5815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51485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Токи примера: номинальный 20 А; рабочий 16,2 А</a:t>
            </a:r>
          </a:p>
        </p:txBody>
      </p:sp>
      <p:sp>
        <p:nvSpPr>
          <p:cNvPr id="9" name="Block_8"/>
          <p:cNvSpPr/>
          <p:nvPr/>
        </p:nvSpPr>
        <p:spPr>
          <a:xfrm>
            <a:off x="723900" y="5219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w3"/>
          <p:cNvSpPr txBox="1"/>
          <p:nvPr/>
        </p:nvSpPr>
        <p:spPr>
          <a:xfrm>
            <a:off x="933449" y="5153025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50 × (16,2 / 20)² = 32,805 → 32,8 м³/сут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781050" y="60483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Демонстрационные примеры, не рекомендации уставок оборудования.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ПРИМЕРЫ / ЗАПАСНОЙ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2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  <p:transition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уточнение вступления и финала</dc:title>
  <dc:subject>Согласованные задачи, реальные расчёты, пошаговые инструкции и практическая польза</dc:subject>
  <dc:creator>Якупов Муса Ильдарович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